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4"/>
  </p:sldMasterIdLst>
  <p:notesMasterIdLst>
    <p:notesMasterId r:id="rId33"/>
  </p:notesMasterIdLst>
  <p:sldIdLst>
    <p:sldId id="256" r:id="rId5"/>
    <p:sldId id="259" r:id="rId6"/>
    <p:sldId id="305" r:id="rId7"/>
    <p:sldId id="353" r:id="rId8"/>
    <p:sldId id="354" r:id="rId9"/>
    <p:sldId id="296" r:id="rId10"/>
    <p:sldId id="333" r:id="rId11"/>
    <p:sldId id="346" r:id="rId12"/>
    <p:sldId id="297" r:id="rId13"/>
    <p:sldId id="332" r:id="rId14"/>
    <p:sldId id="334" r:id="rId15"/>
    <p:sldId id="335" r:id="rId16"/>
    <p:sldId id="336" r:id="rId17"/>
    <p:sldId id="351" r:id="rId18"/>
    <p:sldId id="338" r:id="rId19"/>
    <p:sldId id="340" r:id="rId20"/>
    <p:sldId id="299" r:id="rId21"/>
    <p:sldId id="341" r:id="rId22"/>
    <p:sldId id="301" r:id="rId23"/>
    <p:sldId id="352" r:id="rId24"/>
    <p:sldId id="342" r:id="rId25"/>
    <p:sldId id="345" r:id="rId26"/>
    <p:sldId id="348" r:id="rId27"/>
    <p:sldId id="347" r:id="rId28"/>
    <p:sldId id="349" r:id="rId29"/>
    <p:sldId id="343" r:id="rId30"/>
    <p:sldId id="344" r:id="rId31"/>
    <p:sldId id="324" r:id="rId32"/>
  </p:sldIdLst>
  <p:sldSz cx="9144000" cy="5143500" type="screen16x9"/>
  <p:notesSz cx="6858000" cy="9144000"/>
  <p:embeddedFontLst>
    <p:embeddedFont>
      <p:font typeface="Lexend" panose="020B0604020202020204" charset="0"/>
      <p:regular r:id="rId34"/>
      <p:bold r:id="rId35"/>
    </p:embeddedFont>
    <p:embeddedFont>
      <p:font typeface="Nunito Light" pitchFamily="2" charset="0"/>
      <p:regular r:id="rId36"/>
      <p:italic r:id="rId37"/>
    </p:embeddedFont>
    <p:embeddedFont>
      <p:font typeface="Reem Kufi" pitchFamily="2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668E"/>
    <a:srgbClr val="DACAE0"/>
    <a:srgbClr val="E7C7F2"/>
    <a:srgbClr val="D574F2"/>
    <a:srgbClr val="E9DCEE"/>
    <a:srgbClr val="2C1F2C"/>
    <a:srgbClr val="C787BD"/>
    <a:srgbClr val="EBEBEB"/>
    <a:srgbClr val="AFE378"/>
    <a:srgbClr val="B57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16D5A-3F94-8A72-7505-7356FA505A84}" v="1" dt="2026-05-24T21:18:16.451"/>
    <p1510:client id="{14C0FF60-FA9C-433B-BA74-55BCA980FF1C}" v="521" dt="2026-05-24T21:46:45.651"/>
    <p1510:client id="{9B57A0B0-242C-48A9-868A-155566468FFF}" v="338" dt="2026-05-24T21:33:44.094"/>
  </p1510:revLst>
</p1510:revInfo>
</file>

<file path=ppt/tableStyles.xml><?xml version="1.0" encoding="utf-8"?>
<a:tblStyleLst xmlns:a="http://schemas.openxmlformats.org/drawingml/2006/main" def="{ED84D20B-AA03-4709-A091-AB90CEFF31D8}">
  <a:tblStyle styleId="{ED84D20B-AA03-4709-A091-AB90CEFF31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F0CA2FC-3F3C-4399-82FA-3BC8579F5A1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5033" autoAdjust="0"/>
  </p:normalViewPr>
  <p:slideViewPr>
    <p:cSldViewPr snapToGrid="0">
      <p:cViewPr>
        <p:scale>
          <a:sx n="100" d="100"/>
          <a:sy n="100" d="100"/>
        </p:scale>
        <p:origin x="898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600"/>
              <a:t>Avaliação Protótipo</a:t>
            </a:r>
            <a:r>
              <a:rPr lang="pt-PT" sz="1600" baseline="0"/>
              <a:t> Alta Fidelidade - Utilizadores</a:t>
            </a:r>
            <a:endParaRPr lang="pt-PT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5 (Muito Fácil)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C1-41A6-8A3E-5BEA66D00605}"/>
            </c:ext>
          </c:extLst>
        </c:ser>
        <c:ser>
          <c:idx val="1"/>
          <c:order val="1"/>
          <c:tx>
            <c:strRef>
              <c:f>Folha1!$C$1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Folha1!$C$2:$C$6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C1-41A6-8A3E-5BEA66D00605}"/>
            </c:ext>
          </c:extLst>
        </c:ser>
        <c:ser>
          <c:idx val="2"/>
          <c:order val="2"/>
          <c:tx>
            <c:strRef>
              <c:f>Folha1!$D$1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Folha1!$D$2:$D$6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C1-41A6-8A3E-5BEA66D00605}"/>
            </c:ext>
          </c:extLst>
        </c:ser>
        <c:ser>
          <c:idx val="3"/>
          <c:order val="3"/>
          <c:tx>
            <c:strRef>
              <c:f>Folha1!$E$1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Folha1!$E$2:$E$6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C1-41A6-8A3E-5BEA66D00605}"/>
            </c:ext>
          </c:extLst>
        </c:ser>
        <c:ser>
          <c:idx val="4"/>
          <c:order val="4"/>
          <c:tx>
            <c:strRef>
              <c:f>Folha1!$F$1</c:f>
              <c:strCache>
                <c:ptCount val="1"/>
                <c:pt idx="0">
                  <c:v>1 (Nada Fácil)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C1-41A6-8A3E-5BEA66D00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0286255"/>
        <c:axId val="1230292975"/>
      </c:barChart>
      <c:catAx>
        <c:axId val="1230286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30292975"/>
        <c:crosses val="autoZero"/>
        <c:auto val="1"/>
        <c:lblAlgn val="ctr"/>
        <c:lblOffset val="100"/>
        <c:noMultiLvlLbl val="0"/>
      </c:catAx>
      <c:valAx>
        <c:axId val="123029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30286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600"/>
              <a:t>Avaliação Protótipo</a:t>
            </a:r>
            <a:r>
              <a:rPr lang="pt-PT" sz="1600" baseline="0"/>
              <a:t> Alta Fidelidade - Observador</a:t>
            </a:r>
            <a:endParaRPr lang="pt-PT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5 (Muito Fácil)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4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C1-41A6-8A3E-5BEA66D00605}"/>
            </c:ext>
          </c:extLst>
        </c:ser>
        <c:ser>
          <c:idx val="1"/>
          <c:order val="1"/>
          <c:tx>
            <c:strRef>
              <c:f>Folha1!$C$1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C1-41A6-8A3E-5BEA66D00605}"/>
            </c:ext>
          </c:extLst>
        </c:ser>
        <c:ser>
          <c:idx val="2"/>
          <c:order val="2"/>
          <c:tx>
            <c:strRef>
              <c:f>Folha1!$D$1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Folha1!$D$2:$D$6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C1-41A6-8A3E-5BEA66D00605}"/>
            </c:ext>
          </c:extLst>
        </c:ser>
        <c:ser>
          <c:idx val="3"/>
          <c:order val="3"/>
          <c:tx>
            <c:strRef>
              <c:f>Folha1!$E$1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Folha1!$E$2:$E$6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C1-41A6-8A3E-5BEA66D00605}"/>
            </c:ext>
          </c:extLst>
        </c:ser>
        <c:ser>
          <c:idx val="4"/>
          <c:order val="4"/>
          <c:tx>
            <c:strRef>
              <c:f>Folha1!$F$1</c:f>
              <c:strCache>
                <c:ptCount val="1"/>
                <c:pt idx="0">
                  <c:v>1 (Nada Fácil)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C1-41A6-8A3E-5BEA66D00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0286255"/>
        <c:axId val="1230292975"/>
      </c:barChart>
      <c:catAx>
        <c:axId val="1230286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30292975"/>
        <c:crosses val="autoZero"/>
        <c:auto val="1"/>
        <c:lblAlgn val="ctr"/>
        <c:lblOffset val="100"/>
        <c:noMultiLvlLbl val="0"/>
      </c:catAx>
      <c:valAx>
        <c:axId val="123029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30286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600"/>
              <a:t>Avaliação Protótipo</a:t>
            </a:r>
            <a:r>
              <a:rPr lang="pt-PT" sz="1600" baseline="0"/>
              <a:t> Alta Fidelidade - Erros</a:t>
            </a:r>
            <a:endParaRPr lang="pt-PT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Sem erros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4</c:v>
                </c:pt>
                <c:pt idx="1">
                  <c:v>1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C1-41A6-8A3E-5BEA66D00605}"/>
            </c:ext>
          </c:extLst>
        </c:ser>
        <c:ser>
          <c:idx val="1"/>
          <c:order val="1"/>
          <c:tx>
            <c:strRef>
              <c:f>Folha1!$C$1</c:f>
              <c:strCache>
                <c:ptCount val="1"/>
                <c:pt idx="0">
                  <c:v>Poucos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Folha1!$C$2:$C$6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C1-41A6-8A3E-5BEA66D00605}"/>
            </c:ext>
          </c:extLst>
        </c:ser>
        <c:ser>
          <c:idx val="2"/>
          <c:order val="2"/>
          <c:tx>
            <c:strRef>
              <c:f>Folha1!$D$1</c:f>
              <c:strCache>
                <c:ptCount val="1"/>
                <c:pt idx="0">
                  <c:v>Muitos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Folha1!$D$2:$D$6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C1-41A6-8A3E-5BEA66D00605}"/>
            </c:ext>
          </c:extLst>
        </c:ser>
        <c:ser>
          <c:idx val="3"/>
          <c:order val="3"/>
          <c:tx>
            <c:strRef>
              <c:f>Folha1!$E$1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Folha1!$E$2:$E$6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3-C0C1-41A6-8A3E-5BEA66D00605}"/>
            </c:ext>
          </c:extLst>
        </c:ser>
        <c:ser>
          <c:idx val="4"/>
          <c:order val="4"/>
          <c:tx>
            <c:strRef>
              <c:f>Folha1!$F$1</c:f>
              <c:strCache>
                <c:ptCount val="1"/>
                <c:pt idx="0">
                  <c:v>Coluna2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Folha1!$F$2:$F$6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4-C0C1-41A6-8A3E-5BEA66D00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0286255"/>
        <c:axId val="1230292975"/>
      </c:barChart>
      <c:catAx>
        <c:axId val="1230286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30292975"/>
        <c:crosses val="autoZero"/>
        <c:auto val="1"/>
        <c:lblAlgn val="ctr"/>
        <c:lblOffset val="100"/>
        <c:noMultiLvlLbl val="0"/>
      </c:catAx>
      <c:valAx>
        <c:axId val="123029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30286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egendEntry>
        <c:idx val="4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600"/>
              <a:t>Avaliação Protótipo</a:t>
            </a:r>
            <a:r>
              <a:rPr lang="pt-PT" sz="1600" baseline="0"/>
              <a:t> Alta Fidelidade - Ajudas</a:t>
            </a:r>
            <a:endParaRPr lang="pt-PT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Com Ajuda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C1-41A6-8A3E-5BEA66D00605}"/>
            </c:ext>
          </c:extLst>
        </c:ser>
        <c:ser>
          <c:idx val="1"/>
          <c:order val="1"/>
          <c:tx>
            <c:strRef>
              <c:f>Folha1!$C$1</c:f>
              <c:strCache>
                <c:ptCount val="1"/>
                <c:pt idx="0">
                  <c:v>Sem Ajuda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Folha1!$C$2:$C$6</c:f>
              <c:numCache>
                <c:formatCode>General</c:formatCode>
                <c:ptCount val="5"/>
                <c:pt idx="0">
                  <c:v>5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C1-41A6-8A3E-5BEA66D00605}"/>
            </c:ext>
          </c:extLst>
        </c:ser>
        <c:ser>
          <c:idx val="2"/>
          <c:order val="2"/>
          <c:tx>
            <c:strRef>
              <c:f>Folha1!$D$1</c:f>
              <c:strCache>
                <c:ptCount val="1"/>
                <c:pt idx="0">
                  <c:v>Nada Perdido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Folha1!$D$2:$D$6</c:f>
              <c:numCache>
                <c:formatCode>General</c:formatCode>
                <c:ptCount val="5"/>
                <c:pt idx="0">
                  <c:v>5</c:v>
                </c:pt>
                <c:pt idx="1">
                  <c:v>1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C1-41A6-8A3E-5BEA66D00605}"/>
            </c:ext>
          </c:extLst>
        </c:ser>
        <c:ser>
          <c:idx val="3"/>
          <c:order val="3"/>
          <c:tx>
            <c:strRef>
              <c:f>Folha1!$E$1</c:f>
              <c:strCache>
                <c:ptCount val="1"/>
                <c:pt idx="0">
                  <c:v>Pouco Perdido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Folha1!$E$2:$E$6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C1-41A6-8A3E-5BEA66D00605}"/>
            </c:ext>
          </c:extLst>
        </c:ser>
        <c:ser>
          <c:idx val="4"/>
          <c:order val="4"/>
          <c:tx>
            <c:strRef>
              <c:f>Folha1!$F$1</c:f>
              <c:strCache>
                <c:ptCount val="1"/>
                <c:pt idx="0">
                  <c:v>Muito Perdido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Tarefa 1</c:v>
                </c:pt>
                <c:pt idx="1">
                  <c:v>Tarefa 2</c:v>
                </c:pt>
                <c:pt idx="2">
                  <c:v>Tarefa 3</c:v>
                </c:pt>
                <c:pt idx="3">
                  <c:v>Tarefa 4</c:v>
                </c:pt>
                <c:pt idx="4">
                  <c:v>Tarefa 5</c:v>
                </c:pt>
              </c:strCache>
            </c:strRef>
          </c:cat>
          <c:val>
            <c:numRef>
              <c:f>Folha1!$F$2:$F$6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C1-41A6-8A3E-5BEA66D00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0286255"/>
        <c:axId val="1230292975"/>
      </c:barChart>
      <c:catAx>
        <c:axId val="1230286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30292975"/>
        <c:crosses val="autoZero"/>
        <c:auto val="1"/>
        <c:lblAlgn val="ctr"/>
        <c:lblOffset val="100"/>
        <c:noMultiLvlLbl val="0"/>
      </c:catAx>
      <c:valAx>
        <c:axId val="123029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30286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5226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9305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err="1"/>
              <a:t>Big</a:t>
            </a:r>
            <a:r>
              <a:rPr lang="pt-PT"/>
              <a:t> Jota</a:t>
            </a:r>
          </a:p>
        </p:txBody>
      </p:sp>
    </p:spTree>
    <p:extLst>
      <p:ext uri="{BB962C8B-B14F-4D97-AF65-F5344CB8AC3E}">
        <p14:creationId xmlns:p14="http://schemas.microsoft.com/office/powerpoint/2010/main" val="1013419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5585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err="1"/>
              <a:t>Big</a:t>
            </a:r>
            <a:r>
              <a:rPr lang="pt-PT"/>
              <a:t> Jota</a:t>
            </a:r>
          </a:p>
        </p:txBody>
      </p:sp>
    </p:spTree>
    <p:extLst>
      <p:ext uri="{BB962C8B-B14F-4D97-AF65-F5344CB8AC3E}">
        <p14:creationId xmlns:p14="http://schemas.microsoft.com/office/powerpoint/2010/main" val="2545009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01300" y="1106650"/>
            <a:ext cx="6350100" cy="20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45950" y="3347650"/>
            <a:ext cx="4668600" cy="475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479" y="-146400"/>
            <a:ext cx="9273129" cy="5289900"/>
            <a:chOff x="-70479" y="-146400"/>
            <a:chExt cx="9273129" cy="52899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88278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3" name="Google Shape;13;p2"/>
            <p:cNvCxnSpPr/>
            <p:nvPr/>
          </p:nvCxnSpPr>
          <p:spPr>
            <a:xfrm>
              <a:off x="-58650" y="316200"/>
              <a:ext cx="926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4" name="Google Shape;14;p2"/>
            <p:cNvCxnSpPr/>
            <p:nvPr/>
          </p:nvCxnSpPr>
          <p:spPr>
            <a:xfrm>
              <a:off x="85116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5" name="Google Shape;15;p2"/>
            <p:cNvCxnSpPr/>
            <p:nvPr/>
          </p:nvCxnSpPr>
          <p:spPr>
            <a:xfrm flipH="1">
              <a:off x="-70479" y="0"/>
              <a:ext cx="1457700" cy="145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6" name="Google Shape;16;p2"/>
            <p:cNvCxnSpPr/>
            <p:nvPr/>
          </p:nvCxnSpPr>
          <p:spPr>
            <a:xfrm flipH="1">
              <a:off x="7742125" y="3703150"/>
              <a:ext cx="1437900" cy="1440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380200" y="2772400"/>
            <a:ext cx="4383600" cy="7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2526500" y="1794900"/>
            <a:ext cx="1332600" cy="83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0" name="Google Shape;20;p3"/>
          <p:cNvGrpSpPr/>
          <p:nvPr/>
        </p:nvGrpSpPr>
        <p:grpSpPr>
          <a:xfrm>
            <a:off x="-58650" y="-146400"/>
            <a:ext cx="9261300" cy="5289900"/>
            <a:chOff x="-58650" y="-146400"/>
            <a:chExt cx="9261300" cy="5289900"/>
          </a:xfrm>
        </p:grpSpPr>
        <p:cxnSp>
          <p:nvCxnSpPr>
            <p:cNvPr id="21" name="Google Shape;21;p3"/>
            <p:cNvCxnSpPr/>
            <p:nvPr/>
          </p:nvCxnSpPr>
          <p:spPr>
            <a:xfrm>
              <a:off x="88278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22" name="Google Shape;22;p3"/>
            <p:cNvCxnSpPr/>
            <p:nvPr/>
          </p:nvCxnSpPr>
          <p:spPr>
            <a:xfrm>
              <a:off x="85116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23" name="Google Shape;23;p3"/>
            <p:cNvCxnSpPr/>
            <p:nvPr/>
          </p:nvCxnSpPr>
          <p:spPr>
            <a:xfrm>
              <a:off x="81954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24" name="Google Shape;24;p3"/>
            <p:cNvCxnSpPr/>
            <p:nvPr/>
          </p:nvCxnSpPr>
          <p:spPr>
            <a:xfrm>
              <a:off x="6324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25" name="Google Shape;25;p3"/>
            <p:cNvCxnSpPr/>
            <p:nvPr/>
          </p:nvCxnSpPr>
          <p:spPr>
            <a:xfrm>
              <a:off x="3162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26" name="Google Shape;26;p3"/>
            <p:cNvCxnSpPr/>
            <p:nvPr/>
          </p:nvCxnSpPr>
          <p:spPr>
            <a:xfrm>
              <a:off x="-12029" y="3765900"/>
              <a:ext cx="1377300" cy="137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27" name="Google Shape;27;p3"/>
            <p:cNvCxnSpPr/>
            <p:nvPr/>
          </p:nvCxnSpPr>
          <p:spPr>
            <a:xfrm>
              <a:off x="-58650" y="316200"/>
              <a:ext cx="926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13225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1" name="Google Shape;31;p4"/>
          <p:cNvGrpSpPr/>
          <p:nvPr/>
        </p:nvGrpSpPr>
        <p:grpSpPr>
          <a:xfrm>
            <a:off x="-58650" y="-146400"/>
            <a:ext cx="9261300" cy="5289900"/>
            <a:chOff x="-58650" y="-146400"/>
            <a:chExt cx="9261300" cy="5289900"/>
          </a:xfrm>
        </p:grpSpPr>
        <p:cxnSp>
          <p:nvCxnSpPr>
            <p:cNvPr id="32" name="Google Shape;32;p4"/>
            <p:cNvCxnSpPr/>
            <p:nvPr/>
          </p:nvCxnSpPr>
          <p:spPr>
            <a:xfrm>
              <a:off x="3162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33" name="Google Shape;33;p4"/>
            <p:cNvCxnSpPr/>
            <p:nvPr/>
          </p:nvCxnSpPr>
          <p:spPr>
            <a:xfrm>
              <a:off x="-58650" y="4827300"/>
              <a:ext cx="926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4572000" y="2806275"/>
            <a:ext cx="3208200" cy="10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713225" y="2806276"/>
            <a:ext cx="3208200" cy="10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713225" y="2414225"/>
            <a:ext cx="3208200" cy="4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4572001" y="2414225"/>
            <a:ext cx="3208200" cy="4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5"/>
          <p:cNvGrpSpPr/>
          <p:nvPr/>
        </p:nvGrpSpPr>
        <p:grpSpPr>
          <a:xfrm>
            <a:off x="-58650" y="-146400"/>
            <a:ext cx="9261300" cy="5289900"/>
            <a:chOff x="-58650" y="-146400"/>
            <a:chExt cx="9261300" cy="5289900"/>
          </a:xfrm>
        </p:grpSpPr>
        <p:cxnSp>
          <p:nvCxnSpPr>
            <p:cNvPr id="41" name="Google Shape;41;p5"/>
            <p:cNvCxnSpPr/>
            <p:nvPr/>
          </p:nvCxnSpPr>
          <p:spPr>
            <a:xfrm flipH="1">
              <a:off x="7742121" y="3765900"/>
              <a:ext cx="1377300" cy="137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42" name="Google Shape;42;p5"/>
            <p:cNvCxnSpPr/>
            <p:nvPr/>
          </p:nvCxnSpPr>
          <p:spPr>
            <a:xfrm>
              <a:off x="-58650" y="4827300"/>
              <a:ext cx="926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43" name="Google Shape;43;p5"/>
            <p:cNvCxnSpPr/>
            <p:nvPr/>
          </p:nvCxnSpPr>
          <p:spPr>
            <a:xfrm>
              <a:off x="88278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9"/>
          <p:cNvGrpSpPr/>
          <p:nvPr/>
        </p:nvGrpSpPr>
        <p:grpSpPr>
          <a:xfrm>
            <a:off x="-58650" y="-146400"/>
            <a:ext cx="9261300" cy="5289900"/>
            <a:chOff x="-58650" y="-146400"/>
            <a:chExt cx="9261300" cy="5289900"/>
          </a:xfrm>
        </p:grpSpPr>
        <p:cxnSp>
          <p:nvCxnSpPr>
            <p:cNvPr id="73" name="Google Shape;73;p9"/>
            <p:cNvCxnSpPr/>
            <p:nvPr/>
          </p:nvCxnSpPr>
          <p:spPr>
            <a:xfrm>
              <a:off x="3162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74" name="Google Shape;74;p9"/>
            <p:cNvCxnSpPr/>
            <p:nvPr/>
          </p:nvCxnSpPr>
          <p:spPr>
            <a:xfrm>
              <a:off x="-58650" y="4827300"/>
              <a:ext cx="926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>
            <a:spLocks noGrp="1"/>
          </p:cNvSpPr>
          <p:nvPr>
            <p:ph type="subTitle" idx="1"/>
          </p:nvPr>
        </p:nvSpPr>
        <p:spPr>
          <a:xfrm>
            <a:off x="717975" y="1863343"/>
            <a:ext cx="24645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subTitle" idx="2"/>
          </p:nvPr>
        </p:nvSpPr>
        <p:spPr>
          <a:xfrm>
            <a:off x="3338739" y="1863325"/>
            <a:ext cx="24645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subTitle" idx="3"/>
          </p:nvPr>
        </p:nvSpPr>
        <p:spPr>
          <a:xfrm>
            <a:off x="717975" y="3601178"/>
            <a:ext cx="24645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4"/>
          </p:nvPr>
        </p:nvSpPr>
        <p:spPr>
          <a:xfrm>
            <a:off x="3338739" y="3601174"/>
            <a:ext cx="24645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5"/>
          </p:nvPr>
        </p:nvSpPr>
        <p:spPr>
          <a:xfrm>
            <a:off x="5959504" y="1863325"/>
            <a:ext cx="24645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6"/>
          </p:nvPr>
        </p:nvSpPr>
        <p:spPr>
          <a:xfrm>
            <a:off x="5959504" y="3601174"/>
            <a:ext cx="24645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7"/>
          </p:nvPr>
        </p:nvSpPr>
        <p:spPr>
          <a:xfrm>
            <a:off x="717975" y="1437225"/>
            <a:ext cx="2464500" cy="4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8"/>
          </p:nvPr>
        </p:nvSpPr>
        <p:spPr>
          <a:xfrm>
            <a:off x="3338739" y="1437225"/>
            <a:ext cx="2464500" cy="4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9"/>
          </p:nvPr>
        </p:nvSpPr>
        <p:spPr>
          <a:xfrm>
            <a:off x="5959504" y="1437225"/>
            <a:ext cx="2464500" cy="4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ubTitle" idx="13"/>
          </p:nvPr>
        </p:nvSpPr>
        <p:spPr>
          <a:xfrm>
            <a:off x="717975" y="3171774"/>
            <a:ext cx="2464500" cy="4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14"/>
          </p:nvPr>
        </p:nvSpPr>
        <p:spPr>
          <a:xfrm>
            <a:off x="3338739" y="3171774"/>
            <a:ext cx="2464500" cy="4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15"/>
          </p:nvPr>
        </p:nvSpPr>
        <p:spPr>
          <a:xfrm>
            <a:off x="5959504" y="3171774"/>
            <a:ext cx="2464500" cy="4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em Kufi"/>
              <a:buNone/>
              <a:defRPr sz="1800" b="1"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19"/>
          <p:cNvGrpSpPr/>
          <p:nvPr/>
        </p:nvGrpSpPr>
        <p:grpSpPr>
          <a:xfrm>
            <a:off x="-58650" y="-146400"/>
            <a:ext cx="9261300" cy="5289900"/>
            <a:chOff x="-58650" y="-146400"/>
            <a:chExt cx="9261300" cy="5289900"/>
          </a:xfrm>
        </p:grpSpPr>
        <p:cxnSp>
          <p:nvCxnSpPr>
            <p:cNvPr id="171" name="Google Shape;171;p19"/>
            <p:cNvCxnSpPr/>
            <p:nvPr/>
          </p:nvCxnSpPr>
          <p:spPr>
            <a:xfrm>
              <a:off x="3162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72" name="Google Shape;172;p19"/>
            <p:cNvCxnSpPr/>
            <p:nvPr/>
          </p:nvCxnSpPr>
          <p:spPr>
            <a:xfrm>
              <a:off x="-58650" y="316200"/>
              <a:ext cx="9261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1"/>
          <p:cNvGrpSpPr/>
          <p:nvPr/>
        </p:nvGrpSpPr>
        <p:grpSpPr>
          <a:xfrm>
            <a:off x="7670500" y="-146400"/>
            <a:ext cx="1572300" cy="5289900"/>
            <a:chOff x="7670500" y="-146400"/>
            <a:chExt cx="1572300" cy="5289900"/>
          </a:xfrm>
        </p:grpSpPr>
        <p:cxnSp>
          <p:nvCxnSpPr>
            <p:cNvPr id="185" name="Google Shape;185;p21"/>
            <p:cNvCxnSpPr/>
            <p:nvPr/>
          </p:nvCxnSpPr>
          <p:spPr>
            <a:xfrm>
              <a:off x="88278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86" name="Google Shape;186;p21"/>
            <p:cNvCxnSpPr/>
            <p:nvPr/>
          </p:nvCxnSpPr>
          <p:spPr>
            <a:xfrm>
              <a:off x="8511600" y="-146400"/>
              <a:ext cx="0" cy="528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87" name="Google Shape;187;p21"/>
            <p:cNvCxnSpPr/>
            <p:nvPr/>
          </p:nvCxnSpPr>
          <p:spPr>
            <a:xfrm>
              <a:off x="7670500" y="-68325"/>
              <a:ext cx="1572300" cy="1572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5" r:id="rId5"/>
    <p:sldLayoutId id="2147483656" r:id="rId6"/>
    <p:sldLayoutId id="2147483665" r:id="rId7"/>
    <p:sldLayoutId id="2147483667" r:id="rId8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mailto:paulolacerda@ua.pt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faf2@ua.pt&#8203;" TargetMode="External"/><Relationship Id="rId5" Type="http://schemas.openxmlformats.org/officeDocument/2006/relationships/hyperlink" Target="mailto:martimperalta7@ua.pt" TargetMode="External"/><Relationship Id="rId4" Type="http://schemas.openxmlformats.org/officeDocument/2006/relationships/hyperlink" Target="mailto:joao.antonio.hv@ua.p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o-lacerda1.github.io/2026_HCI_LogBook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ctrTitle"/>
          </p:nvPr>
        </p:nvSpPr>
        <p:spPr>
          <a:xfrm>
            <a:off x="1117684" y="371708"/>
            <a:ext cx="6908632" cy="20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PT" sz="4800"/>
              <a:t>HCI – </a:t>
            </a:r>
            <a:r>
              <a:rPr lang="pt-PT" sz="4800" err="1"/>
              <a:t>Assignment</a:t>
            </a:r>
            <a:r>
              <a:rPr lang="pt-PT" sz="4800"/>
              <a:t> 2 2025/2026</a:t>
            </a:r>
            <a:endParaRPr sz="4800"/>
          </a:p>
        </p:txBody>
      </p:sp>
      <p:sp>
        <p:nvSpPr>
          <p:cNvPr id="208" name="Google Shape;208;p26"/>
          <p:cNvSpPr txBox="1">
            <a:spLocks noGrp="1"/>
          </p:cNvSpPr>
          <p:nvPr>
            <p:ph type="subTitle" idx="1"/>
          </p:nvPr>
        </p:nvSpPr>
        <p:spPr>
          <a:xfrm>
            <a:off x="1117684" y="2467658"/>
            <a:ext cx="4668600" cy="47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SwipeTravel</a:t>
            </a:r>
            <a:endParaRPr sz="3200"/>
          </a:p>
        </p:txBody>
      </p:sp>
      <p:sp>
        <p:nvSpPr>
          <p:cNvPr id="2" name="Google Shape;208;p26">
            <a:extLst>
              <a:ext uri="{FF2B5EF4-FFF2-40B4-BE49-F238E27FC236}">
                <a16:creationId xmlns:a16="http://schemas.microsoft.com/office/drawing/2014/main" id="{7C154714-D10B-5562-A846-FE08CAD0ADD1}"/>
              </a:ext>
            </a:extLst>
          </p:cNvPr>
          <p:cNvSpPr txBox="1">
            <a:spLocks/>
          </p:cNvSpPr>
          <p:nvPr/>
        </p:nvSpPr>
        <p:spPr>
          <a:xfrm>
            <a:off x="1117684" y="3207355"/>
            <a:ext cx="6857534" cy="89284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None/>
              <a:defRPr sz="16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indent="0"/>
            <a:r>
              <a:rPr lang="pt-PT" sz="1400"/>
              <a:t>Paulo Lacerda 	| 120202 	| </a:t>
            </a:r>
            <a:r>
              <a:rPr lang="pt-PT" sz="1400">
                <a:hlinkClick r:id="rId3"/>
              </a:rPr>
              <a:t>paulolacerda@ua.pt</a:t>
            </a:r>
            <a:endParaRPr lang="pt-PT" sz="1400">
              <a:solidFill>
                <a:srgbClr val="000000"/>
              </a:solidFill>
            </a:endParaRPr>
          </a:p>
          <a:p>
            <a:pPr marL="0" indent="0"/>
            <a:r>
              <a:rPr lang="pt-PT" sz="1400"/>
              <a:t>João António   	| 118643 	| </a:t>
            </a:r>
            <a:r>
              <a:rPr lang="pt-PT" sz="1400">
                <a:hlinkClick r:id="rId4"/>
              </a:rPr>
              <a:t>joao.antonio.hv@ua.pt</a:t>
            </a:r>
            <a:endParaRPr lang="pt-PT" sz="1400"/>
          </a:p>
          <a:p>
            <a:pPr marL="0" indent="0"/>
            <a:r>
              <a:rPr lang="pt-PT" sz="1400">
                <a:solidFill>
                  <a:srgbClr val="191919"/>
                </a:solidFill>
              </a:rPr>
              <a:t>Martim Gomes 	| 119488 	| </a:t>
            </a:r>
            <a:r>
              <a:rPr lang="pt-PT" sz="1400">
                <a:solidFill>
                  <a:srgbClr val="191919"/>
                </a:solidFill>
                <a:hlinkClick r:id="rId5"/>
              </a:rPr>
              <a:t>martimperalta7@ua.pt</a:t>
            </a:r>
            <a:endParaRPr lang="pt-PT" sz="1400">
              <a:solidFill>
                <a:srgbClr val="191919"/>
              </a:solidFill>
            </a:endParaRPr>
          </a:p>
          <a:p>
            <a:pPr marL="0" indent="0"/>
            <a:r>
              <a:rPr lang="pt-PT" sz="1400">
                <a:solidFill>
                  <a:srgbClr val="191919"/>
                </a:solidFill>
              </a:rPr>
              <a:t>Fernando Ferreira 	| 119758	| </a:t>
            </a:r>
            <a:r>
              <a:rPr lang="pt-PT" sz="1400" u="sng">
                <a:solidFill>
                  <a:srgbClr val="191919"/>
                </a:solidFill>
                <a:hlinkClick r:id="rId6"/>
              </a:rPr>
              <a:t>faf2@ua.pt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17BD46-B068-D050-C3B5-C1DA936D6E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138" y="61250"/>
            <a:ext cx="1246618" cy="225403"/>
          </a:xfrm>
          <a:prstGeom prst="rect">
            <a:avLst/>
          </a:prstGeom>
        </p:spPr>
      </p:pic>
      <p:pic>
        <p:nvPicPr>
          <p:cNvPr id="1028" name="Picture 4" descr="1ª Conferência Nacional em Justiça Ambiental | 19-20 ...">
            <a:extLst>
              <a:ext uri="{FF2B5EF4-FFF2-40B4-BE49-F238E27FC236}">
                <a16:creationId xmlns:a16="http://schemas.microsoft.com/office/drawing/2014/main" id="{4924500F-543C-07E2-32BD-5BF8C1519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436" y="-23807"/>
            <a:ext cx="813050" cy="39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1B73E04-7462-1063-515B-5D9F37AC1741}"/>
              </a:ext>
            </a:extLst>
          </p:cNvPr>
          <p:cNvSpPr txBox="1"/>
          <p:nvPr/>
        </p:nvSpPr>
        <p:spPr>
          <a:xfrm>
            <a:off x="8911526" y="4866720"/>
            <a:ext cx="2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>
                <a:latin typeface="Lexend" panose="020B0604020202020204" charset="0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>
            <a:spLocks noGrp="1"/>
          </p:cNvSpPr>
          <p:nvPr>
            <p:ph type="title"/>
          </p:nvPr>
        </p:nvSpPr>
        <p:spPr>
          <a:xfrm>
            <a:off x="1747740" y="2571750"/>
            <a:ext cx="3795809" cy="7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err="1"/>
              <a:t>Overview</a:t>
            </a:r>
            <a:r>
              <a:rPr lang="pt-PT"/>
              <a:t> do </a:t>
            </a:r>
            <a:r>
              <a:rPr lang="pt-PT" err="1"/>
              <a:t>Assignment</a:t>
            </a:r>
            <a:r>
              <a:rPr lang="pt-PT"/>
              <a:t> 1</a:t>
            </a:r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title" idx="2"/>
          </p:nvPr>
        </p:nvSpPr>
        <p:spPr>
          <a:xfrm>
            <a:off x="1894040" y="1594250"/>
            <a:ext cx="1332600" cy="8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C041994-0BB8-319D-EFA2-B06982E15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49" y="0"/>
            <a:ext cx="3600451" cy="51435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46CA010-7307-8312-24A4-F94B3D0A53D9}"/>
              </a:ext>
            </a:extLst>
          </p:cNvPr>
          <p:cNvSpPr txBox="1"/>
          <p:nvPr/>
        </p:nvSpPr>
        <p:spPr>
          <a:xfrm>
            <a:off x="8911526" y="4866720"/>
            <a:ext cx="2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>
                <a:latin typeface="Lexend" panose="020B0604020202020204" charset="0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">
            <a:extLst>
              <a:ext uri="{FF2B5EF4-FFF2-40B4-BE49-F238E27FC236}">
                <a16:creationId xmlns:a16="http://schemas.microsoft.com/office/drawing/2014/main" id="{4F90F42B-DB0A-2CE6-2550-3269005D2151}"/>
              </a:ext>
            </a:extLst>
          </p:cNvPr>
          <p:cNvSpPr/>
          <p:nvPr/>
        </p:nvSpPr>
        <p:spPr>
          <a:xfrm>
            <a:off x="788579" y="3297934"/>
            <a:ext cx="7145656" cy="1398768"/>
          </a:xfrm>
          <a:prstGeom prst="roundRect">
            <a:avLst>
              <a:gd name="adj" fmla="val 1674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F1946583-02B5-0BFC-5178-D199449458B4}"/>
              </a:ext>
            </a:extLst>
          </p:cNvPr>
          <p:cNvSpPr/>
          <p:nvPr/>
        </p:nvSpPr>
        <p:spPr>
          <a:xfrm>
            <a:off x="4692523" y="1097280"/>
            <a:ext cx="3465529" cy="1702756"/>
          </a:xfrm>
          <a:prstGeom prst="roundRect">
            <a:avLst>
              <a:gd name="adj" fmla="val 1674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C473875-2A91-B754-E7C3-0117BFCC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97766"/>
            <a:ext cx="7704000" cy="572700"/>
          </a:xfrm>
        </p:spPr>
        <p:txBody>
          <a:bodyPr/>
          <a:lstStyle/>
          <a:p>
            <a:r>
              <a:rPr lang="pt-PT" sz="3200"/>
              <a:t>O </a:t>
            </a:r>
            <a:r>
              <a:rPr lang="pt-PT" sz="3200">
                <a:latin typeface="Reem Kufi" pitchFamily="2"/>
              </a:rPr>
              <a:t>Problema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DB806F4-9D50-C088-03CB-974E3FE2C4C1}"/>
              </a:ext>
            </a:extLst>
          </p:cNvPr>
          <p:cNvSpPr/>
          <p:nvPr/>
        </p:nvSpPr>
        <p:spPr>
          <a:xfrm>
            <a:off x="788580" y="1097280"/>
            <a:ext cx="3465529" cy="1702756"/>
          </a:xfrm>
          <a:prstGeom prst="roundRect">
            <a:avLst>
              <a:gd name="adj" fmla="val 1674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FBA9CF9-679E-DE86-988A-4347CD7B7C67}"/>
              </a:ext>
            </a:extLst>
          </p:cNvPr>
          <p:cNvSpPr/>
          <p:nvPr/>
        </p:nvSpPr>
        <p:spPr>
          <a:xfrm>
            <a:off x="1015395" y="1333604"/>
            <a:ext cx="2681112" cy="29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err="1">
                <a:solidFill>
                  <a:schemeClr val="tx1"/>
                </a:solidFill>
                <a:latin typeface="Reem Kufi" pitchFamily="2"/>
              </a:rPr>
              <a:t>Informação</a:t>
            </a:r>
            <a:r>
              <a:rPr lang="en-US" sz="2000" b="1">
                <a:solidFill>
                  <a:schemeClr val="tx1"/>
                </a:solidFill>
                <a:latin typeface="Reem Kufi" pitchFamily="2"/>
              </a:rPr>
              <a:t> </a:t>
            </a:r>
            <a:r>
              <a:rPr lang="en-US" sz="2000" b="1" err="1">
                <a:solidFill>
                  <a:schemeClr val="tx1"/>
                </a:solidFill>
                <a:latin typeface="Reem Kufi" pitchFamily="2"/>
              </a:rPr>
              <a:t>Dispersa</a:t>
            </a:r>
            <a:endParaRPr lang="en-US" sz="2000" b="1">
              <a:solidFill>
                <a:schemeClr val="tx1"/>
              </a:solidFill>
              <a:latin typeface="Reem Kufi" pitchFamily="2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EA25548-91E1-ED5B-74E1-2514860ED43A}"/>
              </a:ext>
            </a:extLst>
          </p:cNvPr>
          <p:cNvSpPr/>
          <p:nvPr/>
        </p:nvSpPr>
        <p:spPr>
          <a:xfrm>
            <a:off x="1015394" y="1759240"/>
            <a:ext cx="3036561" cy="91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Lexend" panose="020B0604020202020204" charset="0"/>
              </a:rPr>
              <a:t>WhatsApp, Excel, Booking — tudo separado, nada </a:t>
            </a:r>
            <a:r>
              <a:rPr lang="en-US" err="1">
                <a:latin typeface="Lexend" panose="020B0604020202020204" charset="0"/>
              </a:rPr>
              <a:t>centralizado</a:t>
            </a:r>
            <a:r>
              <a:rPr lang="en-US">
                <a:latin typeface="Lexend" panose="020B0604020202020204" charset="0"/>
              </a:rPr>
              <a:t>.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7C2A65A-CD0C-F695-0B18-016839DEB37F}"/>
              </a:ext>
            </a:extLst>
          </p:cNvPr>
          <p:cNvSpPr/>
          <p:nvPr/>
        </p:nvSpPr>
        <p:spPr>
          <a:xfrm>
            <a:off x="4906952" y="1286035"/>
            <a:ext cx="2681112" cy="29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 err="1">
                <a:latin typeface="Reem Kufi" pitchFamily="2"/>
              </a:rPr>
              <a:t>Decisão</a:t>
            </a:r>
            <a:r>
              <a:rPr lang="en-US" sz="2000" b="1" dirty="0">
                <a:latin typeface="Reem Kufi" pitchFamily="2"/>
              </a:rPr>
              <a:t> Lenta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45BE7C7-0231-2F49-8AFA-2AC71D6DFEDB}"/>
              </a:ext>
            </a:extLst>
          </p:cNvPr>
          <p:cNvSpPr/>
          <p:nvPr/>
        </p:nvSpPr>
        <p:spPr>
          <a:xfrm>
            <a:off x="4906952" y="1624757"/>
            <a:ext cx="3036673" cy="91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Lexend" panose="020B0604020202020204" charset="0"/>
              </a:rPr>
              <a:t>Tomada de </a:t>
            </a:r>
            <a:r>
              <a:rPr lang="en-US" dirty="0" err="1">
                <a:latin typeface="Lexend" panose="020B0604020202020204" charset="0"/>
              </a:rPr>
              <a:t>decisão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coletiva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gera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conflitos</a:t>
            </a:r>
            <a:r>
              <a:rPr lang="en-US" dirty="0">
                <a:latin typeface="Lexend" panose="020B0604020202020204" charset="0"/>
              </a:rPr>
              <a:t> e </a:t>
            </a:r>
            <a:r>
              <a:rPr lang="en-US" dirty="0" err="1">
                <a:latin typeface="Lexend" panose="020B0604020202020204" charset="0"/>
              </a:rPr>
              <a:t>não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existe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sistema</a:t>
            </a:r>
            <a:r>
              <a:rPr lang="en-US" dirty="0">
                <a:latin typeface="Lexend" panose="020B0604020202020204" charset="0"/>
              </a:rPr>
              <a:t> de </a:t>
            </a:r>
            <a:r>
              <a:rPr lang="en-US" dirty="0" err="1">
                <a:latin typeface="Lexend" panose="020B0604020202020204" charset="0"/>
              </a:rPr>
              <a:t>votação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integrado</a:t>
            </a:r>
            <a:r>
              <a:rPr lang="en-US" dirty="0">
                <a:latin typeface="Lexend" panose="020B0604020202020204" charset="0"/>
              </a:rPr>
              <a:t>.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024CDC5-3CC8-FC5A-6BB9-B24C1AB384C1}"/>
              </a:ext>
            </a:extLst>
          </p:cNvPr>
          <p:cNvSpPr/>
          <p:nvPr/>
        </p:nvSpPr>
        <p:spPr>
          <a:xfrm>
            <a:off x="1015395" y="3486692"/>
            <a:ext cx="2681112" cy="29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>
                <a:latin typeface="Reem Kufi" pitchFamily="2"/>
              </a:rPr>
              <a:t>Lacuna de Mercado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CCC5712-E503-99BA-F673-09D0B355BA44}"/>
              </a:ext>
            </a:extLst>
          </p:cNvPr>
          <p:cNvSpPr/>
          <p:nvPr/>
        </p:nvSpPr>
        <p:spPr>
          <a:xfrm>
            <a:off x="1015394" y="3861910"/>
            <a:ext cx="6716687" cy="60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latin typeface="Lexend" panose="020B0604020202020204" charset="0"/>
              </a:rPr>
              <a:t>As ferramentas atuais focam o </a:t>
            </a:r>
            <a:r>
              <a:rPr lang="en-US" err="1">
                <a:latin typeface="Lexend" panose="020B0604020202020204" charset="0"/>
              </a:rPr>
              <a:t>planeamento</a:t>
            </a:r>
            <a:r>
              <a:rPr lang="en-US">
                <a:latin typeface="Lexend" panose="020B0604020202020204" charset="0"/>
              </a:rPr>
              <a:t> individual, ignorando o consenso em </a:t>
            </a:r>
            <a:r>
              <a:rPr lang="en-US" err="1">
                <a:latin typeface="Lexend" panose="020B0604020202020204" charset="0"/>
              </a:rPr>
              <a:t>grupo</a:t>
            </a:r>
            <a:r>
              <a:rPr lang="en-US">
                <a:latin typeface="Lexend" panose="020B0604020202020204" charset="0"/>
              </a:rPr>
              <a:t>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EF6117C-A342-006D-D4B8-BF68ED913A6F}"/>
              </a:ext>
            </a:extLst>
          </p:cNvPr>
          <p:cNvSpPr txBox="1"/>
          <p:nvPr/>
        </p:nvSpPr>
        <p:spPr>
          <a:xfrm>
            <a:off x="8911526" y="4866720"/>
            <a:ext cx="2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>
                <a:latin typeface="Lexend" panose="020B060402020202020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87103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1229-AD53-99D7-CD45-0CD0F48F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A5E803DB-6769-8271-3DED-1C6583916DA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76897" y="3630624"/>
            <a:ext cx="3208200" cy="412200"/>
          </a:xfrm>
        </p:spPr>
        <p:txBody>
          <a:bodyPr/>
          <a:lstStyle/>
          <a:p>
            <a:pPr algn="ctr"/>
            <a:r>
              <a:rPr lang="pt-PT" sz="2000"/>
              <a:t>Carolina Pereira, 23 anos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7DE2AAF-ADF6-1975-C945-821AC3D293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74" r="13460"/>
          <a:stretch>
            <a:fillRect/>
          </a:stretch>
        </p:blipFill>
        <p:spPr>
          <a:xfrm>
            <a:off x="731079" y="891376"/>
            <a:ext cx="2499836" cy="2499836"/>
          </a:xfrm>
          <a:prstGeom prst="flowChartConnector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FA3A4503-71F8-6EFB-8E16-E14B36C173D4}"/>
              </a:ext>
            </a:extLst>
          </p:cNvPr>
          <p:cNvSpPr txBox="1"/>
          <p:nvPr/>
        </p:nvSpPr>
        <p:spPr>
          <a:xfrm>
            <a:off x="449952" y="4042824"/>
            <a:ext cx="32081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pt-PT" dirty="0">
                <a:latin typeface="Lexend" panose="020B0604020202020204" charset="0"/>
              </a:rPr>
              <a:t>Quer centralizar decisões e divisão automática de despesas. Exausta de ser a "agente de viagens não remunerada" do grupo</a:t>
            </a:r>
          </a:p>
        </p:txBody>
      </p: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65CF69B9-6C1E-0A90-EB83-AEAE73F3CDF2}"/>
              </a:ext>
            </a:extLst>
          </p:cNvPr>
          <p:cNvCxnSpPr/>
          <p:nvPr/>
        </p:nvCxnSpPr>
        <p:spPr>
          <a:xfrm>
            <a:off x="3865756" y="768178"/>
            <a:ext cx="0" cy="4375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44502C-112D-4698-4912-C1E0F1FB2F8E}"/>
              </a:ext>
            </a:extLst>
          </p:cNvPr>
          <p:cNvSpPr txBox="1"/>
          <p:nvPr/>
        </p:nvSpPr>
        <p:spPr>
          <a:xfrm>
            <a:off x="8787538" y="4866721"/>
            <a:ext cx="387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703929-BA82-B304-7D15-F1BB686F75F1}"/>
              </a:ext>
            </a:extLst>
          </p:cNvPr>
          <p:cNvSpPr txBox="1"/>
          <p:nvPr/>
        </p:nvSpPr>
        <p:spPr>
          <a:xfrm>
            <a:off x="3961966" y="1679869"/>
            <a:ext cx="4879817" cy="2501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1800" b="1" dirty="0">
                <a:latin typeface="Lexend" panose="020B0604020202020204" charset="0"/>
              </a:rPr>
              <a:t>Cenário 1 – Criação de uma </a:t>
            </a:r>
          </a:p>
          <a:p>
            <a:pPr algn="ctr">
              <a:lnSpc>
                <a:spcPct val="150000"/>
              </a:lnSpc>
            </a:pPr>
            <a:r>
              <a:rPr lang="pt-PT" sz="1800" b="1" dirty="0">
                <a:latin typeface="Lexend" panose="020B0604020202020204" charset="0"/>
              </a:rPr>
              <a:t>nova viagem</a:t>
            </a:r>
            <a:endParaRPr lang="pt-PT" dirty="0">
              <a:latin typeface="Lexend" panose="020B060402020202020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PT" dirty="0">
                <a:latin typeface="Lexend" panose="020B0604020202020204" charset="0"/>
              </a:rPr>
              <a:t>   A Carolina pretende organizar uma viagem de verão à Holanda. Cria uma nova viagem com destino a Amesterdão, define as datas e o orçamento previsto. Por fim, convida os restantes membros para participarem no planeamento da viagem.</a:t>
            </a:r>
          </a:p>
        </p:txBody>
      </p:sp>
      <p:sp>
        <p:nvSpPr>
          <p:cNvPr id="14" name="Título 5">
            <a:extLst>
              <a:ext uri="{FF2B5EF4-FFF2-40B4-BE49-F238E27FC236}">
                <a16:creationId xmlns:a16="http://schemas.microsoft.com/office/drawing/2014/main" id="{B973B364-ECDA-FF76-B608-F129F55F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28" y="170474"/>
            <a:ext cx="1890791" cy="572700"/>
          </a:xfrm>
        </p:spPr>
        <p:txBody>
          <a:bodyPr/>
          <a:lstStyle/>
          <a:p>
            <a:r>
              <a:rPr lang="pt-PT" sz="3600" dirty="0"/>
              <a:t>Personas                                          </a:t>
            </a:r>
          </a:p>
        </p:txBody>
      </p:sp>
      <p:sp>
        <p:nvSpPr>
          <p:cNvPr id="15" name="Título 5">
            <a:extLst>
              <a:ext uri="{FF2B5EF4-FFF2-40B4-BE49-F238E27FC236}">
                <a16:creationId xmlns:a16="http://schemas.microsoft.com/office/drawing/2014/main" id="{C6646AA7-2A97-3EDD-DBF2-2EF6C3554BF3}"/>
              </a:ext>
            </a:extLst>
          </p:cNvPr>
          <p:cNvSpPr txBox="1">
            <a:spLocks/>
          </p:cNvSpPr>
          <p:nvPr/>
        </p:nvSpPr>
        <p:spPr>
          <a:xfrm>
            <a:off x="5452823" y="956127"/>
            <a:ext cx="193393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r>
              <a:rPr lang="pt-PT" sz="3600" dirty="0"/>
              <a:t>Cenários</a:t>
            </a:r>
          </a:p>
        </p:txBody>
      </p:sp>
    </p:spTree>
    <p:extLst>
      <p:ext uri="{BB962C8B-B14F-4D97-AF65-F5344CB8AC3E}">
        <p14:creationId xmlns:p14="http://schemas.microsoft.com/office/powerpoint/2010/main" val="2414062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69AA-2B7C-35D3-1217-C5912F87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A34FAB9D-E29B-EABC-9EAE-F098243F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28" y="170474"/>
            <a:ext cx="1890791" cy="572700"/>
          </a:xfrm>
        </p:spPr>
        <p:txBody>
          <a:bodyPr/>
          <a:lstStyle/>
          <a:p>
            <a:r>
              <a:rPr lang="pt-PT" sz="3600" dirty="0"/>
              <a:t>Personas                                          </a:t>
            </a:r>
          </a:p>
        </p:txBody>
      </p: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AC73416D-DC5F-7C46-F818-334C52DE100E}"/>
              </a:ext>
            </a:extLst>
          </p:cNvPr>
          <p:cNvCxnSpPr/>
          <p:nvPr/>
        </p:nvCxnSpPr>
        <p:spPr>
          <a:xfrm>
            <a:off x="3865756" y="768178"/>
            <a:ext cx="0" cy="4375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C8B72F2F-6DFE-72DB-DA27-8FA30552E0B3}"/>
              </a:ext>
            </a:extLst>
          </p:cNvPr>
          <p:cNvSpPr txBox="1"/>
          <p:nvPr/>
        </p:nvSpPr>
        <p:spPr>
          <a:xfrm>
            <a:off x="8787538" y="4866721"/>
            <a:ext cx="387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5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AD5EDA-8ECD-5A32-8478-772A6E003B32}"/>
              </a:ext>
            </a:extLst>
          </p:cNvPr>
          <p:cNvSpPr txBox="1"/>
          <p:nvPr/>
        </p:nvSpPr>
        <p:spPr>
          <a:xfrm>
            <a:off x="3970160" y="1609798"/>
            <a:ext cx="4915649" cy="2178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pt-PT" sz="1800" b="1" dirty="0">
                <a:latin typeface="Lexend" panose="020B0604020202020204" charset="0"/>
              </a:rPr>
              <a:t>Cenário 2 – Adicionar uma nova sugestão de destino</a:t>
            </a:r>
            <a:endParaRPr lang="pt-PT" sz="1800" dirty="0">
              <a:latin typeface="Lexend" panose="020B060402020202020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t-PT" dirty="0">
                <a:latin typeface="Lexend" panose="020B0604020202020204" charset="0"/>
              </a:rPr>
              <a:t>   O João entra no grupo de viagens e analisa as sugestões disponíveis. Como não gosta de nenhuma opção, adiciona </a:t>
            </a:r>
            <a:r>
              <a:rPr lang="pt-PT" b="1" dirty="0" err="1">
                <a:latin typeface="Lexend" panose="020B0604020202020204" charset="0"/>
              </a:rPr>
              <a:t>Giethoorn</a:t>
            </a:r>
            <a:r>
              <a:rPr lang="pt-PT" dirty="0">
                <a:latin typeface="Lexend" panose="020B0604020202020204" charset="0"/>
              </a:rPr>
              <a:t> como novo destino. Inclui descrição, preço e imagem.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14D8AB-B863-0681-8834-0D47DD543D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01" r="12233"/>
          <a:stretch>
            <a:fillRect/>
          </a:stretch>
        </p:blipFill>
        <p:spPr>
          <a:xfrm>
            <a:off x="718207" y="867471"/>
            <a:ext cx="2499835" cy="2499835"/>
          </a:xfrm>
          <a:prstGeom prst="flowChartConnector">
            <a:avLst/>
          </a:prstGeom>
        </p:spPr>
      </p:pic>
      <p:sp>
        <p:nvSpPr>
          <p:cNvPr id="9" name="Subtítulo 3">
            <a:extLst>
              <a:ext uri="{FF2B5EF4-FFF2-40B4-BE49-F238E27FC236}">
                <a16:creationId xmlns:a16="http://schemas.microsoft.com/office/drawing/2014/main" id="{4E1E9FE2-1EDF-BF55-E12F-FDFC77CF0638}"/>
              </a:ext>
            </a:extLst>
          </p:cNvPr>
          <p:cNvSpPr txBox="1">
            <a:spLocks/>
          </p:cNvSpPr>
          <p:nvPr/>
        </p:nvSpPr>
        <p:spPr>
          <a:xfrm>
            <a:off x="467357" y="3606719"/>
            <a:ext cx="2646281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em Kufi"/>
              <a:buNone/>
              <a:defRPr sz="18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pPr algn="ctr"/>
            <a:r>
              <a:rPr lang="pt-PT" sz="2000"/>
              <a:t>João Silva, 20 anos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61D5F4-0772-B3B7-2341-2550E30398F0}"/>
              </a:ext>
            </a:extLst>
          </p:cNvPr>
          <p:cNvSpPr txBox="1"/>
          <p:nvPr/>
        </p:nvSpPr>
        <p:spPr>
          <a:xfrm>
            <a:off x="0" y="4018919"/>
            <a:ext cx="36594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Lexend" panose="020B0604020202020204" charset="0"/>
              </a:rPr>
              <a:t>Fica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paralisado</a:t>
            </a:r>
            <a:r>
              <a:rPr lang="en-US" dirty="0">
                <a:latin typeface="Lexend" panose="020B0604020202020204" charset="0"/>
              </a:rPr>
              <a:t> com </a:t>
            </a:r>
            <a:r>
              <a:rPr lang="en-US" dirty="0" err="1">
                <a:latin typeface="Lexend" panose="020B0604020202020204" charset="0"/>
              </a:rPr>
              <a:t>excesso</a:t>
            </a:r>
            <a:r>
              <a:rPr lang="en-US" dirty="0">
                <a:latin typeface="Lexend" panose="020B0604020202020204" charset="0"/>
              </a:rPr>
              <a:t> de </a:t>
            </a:r>
            <a:r>
              <a:rPr lang="en-US" dirty="0" err="1">
                <a:latin typeface="Lexend" panose="020B0604020202020204" charset="0"/>
              </a:rPr>
              <a:t>informação</a:t>
            </a:r>
            <a:r>
              <a:rPr lang="en-US" dirty="0">
                <a:latin typeface="Lexend" panose="020B0604020202020204" charset="0"/>
              </a:rPr>
              <a:t>. </a:t>
            </a:r>
            <a:r>
              <a:rPr lang="en-US" dirty="0" err="1">
                <a:latin typeface="Lexend" panose="020B0604020202020204" charset="0"/>
              </a:rPr>
              <a:t>Quer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fazer</a:t>
            </a:r>
            <a:r>
              <a:rPr lang="en-US" dirty="0">
                <a:latin typeface="Lexend" panose="020B0604020202020204" charset="0"/>
              </a:rPr>
              <a:t> swipe </a:t>
            </a:r>
            <a:r>
              <a:rPr lang="en-US" dirty="0" err="1">
                <a:latin typeface="Lexend" panose="020B0604020202020204" charset="0"/>
              </a:rPr>
              <a:t>em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fotos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rapidamente</a:t>
            </a:r>
            <a:r>
              <a:rPr lang="en-US" dirty="0">
                <a:latin typeface="Lexend" panose="020B0604020202020204" charset="0"/>
              </a:rPr>
              <a:t> e saber no </a:t>
            </a:r>
            <a:r>
              <a:rPr lang="en-US" dirty="0" err="1">
                <a:latin typeface="Lexend" panose="020B0604020202020204" charset="0"/>
              </a:rPr>
              <a:t>fim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quanto</a:t>
            </a:r>
            <a:r>
              <a:rPr lang="en-US" dirty="0">
                <a:latin typeface="Lexend" panose="020B0604020202020204" charset="0"/>
              </a:rPr>
              <a:t> </a:t>
            </a:r>
            <a:r>
              <a:rPr lang="en-US" dirty="0" err="1">
                <a:latin typeface="Lexend" panose="020B0604020202020204" charset="0"/>
              </a:rPr>
              <a:t>deve</a:t>
            </a:r>
            <a:r>
              <a:rPr lang="en-US" dirty="0">
                <a:latin typeface="Lexend" panose="020B0604020202020204" charset="0"/>
              </a:rPr>
              <a:t> e a quem.</a:t>
            </a: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797746B9-5BE9-DD1A-50B6-2F794B8D48B8}"/>
              </a:ext>
            </a:extLst>
          </p:cNvPr>
          <p:cNvSpPr txBox="1">
            <a:spLocks/>
          </p:cNvSpPr>
          <p:nvPr/>
        </p:nvSpPr>
        <p:spPr>
          <a:xfrm>
            <a:off x="5452823" y="956127"/>
            <a:ext cx="193393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em Kufi"/>
              <a:buNone/>
              <a:defRPr sz="3000" b="1" i="0" u="none" strike="noStrike" cap="none">
                <a:solidFill>
                  <a:schemeClr val="dk1"/>
                </a:solidFill>
                <a:latin typeface="Reem Kufi"/>
                <a:ea typeface="Reem Kufi"/>
                <a:cs typeface="Reem Kufi"/>
                <a:sym typeface="Reem Kufi"/>
              </a:defRPr>
            </a:lvl9pPr>
          </a:lstStyle>
          <a:p>
            <a:r>
              <a:rPr lang="pt-PT" sz="3600" dirty="0"/>
              <a:t>Cenários</a:t>
            </a:r>
          </a:p>
        </p:txBody>
      </p:sp>
    </p:spTree>
    <p:extLst>
      <p:ext uri="{BB962C8B-B14F-4D97-AF65-F5344CB8AC3E}">
        <p14:creationId xmlns:p14="http://schemas.microsoft.com/office/powerpoint/2010/main" val="1842495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A08BE-D4F7-0C9A-CA0C-B90C9BDA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Requisitos Principais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17C135-4346-A64D-51E4-F8DFCF32BAA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PT"/>
              <a:t>02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55F5FE2-8FE6-D32F-CEE7-51CEA20841A3}"/>
              </a:ext>
            </a:extLst>
          </p:cNvPr>
          <p:cNvSpPr txBox="1"/>
          <p:nvPr/>
        </p:nvSpPr>
        <p:spPr>
          <a:xfrm>
            <a:off x="8911526" y="4866720"/>
            <a:ext cx="2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009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0A27104-55F7-6030-D166-F01B62B06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42635"/>
            <a:ext cx="7704000" cy="572700"/>
          </a:xfrm>
        </p:spPr>
        <p:txBody>
          <a:bodyPr/>
          <a:lstStyle/>
          <a:p>
            <a:r>
              <a:rPr lang="pt-PT" sz="3200" dirty="0"/>
              <a:t>Requisitos Principais;</a:t>
            </a:r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A3C82B59-9EB6-9EFE-5B3A-AD0D967B98CE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660205" y="1479410"/>
            <a:ext cx="3208200" cy="412200"/>
          </a:xfrm>
        </p:spPr>
        <p:txBody>
          <a:bodyPr/>
          <a:lstStyle/>
          <a:p>
            <a:pPr marL="152400" indent="0" algn="ctr"/>
            <a:r>
              <a:rPr lang="pt-PT" sz="2400" dirty="0"/>
              <a:t>Não funcionais</a:t>
            </a:r>
          </a:p>
        </p:txBody>
      </p:sp>
      <p:grpSp>
        <p:nvGrpSpPr>
          <p:cNvPr id="10" name="Google Shape;399;p41">
            <a:extLst>
              <a:ext uri="{FF2B5EF4-FFF2-40B4-BE49-F238E27FC236}">
                <a16:creationId xmlns:a16="http://schemas.microsoft.com/office/drawing/2014/main" id="{15687EE1-FA2E-77FC-F142-E685A89344D5}"/>
              </a:ext>
            </a:extLst>
          </p:cNvPr>
          <p:cNvGrpSpPr/>
          <p:nvPr/>
        </p:nvGrpSpPr>
        <p:grpSpPr>
          <a:xfrm>
            <a:off x="1403900" y="1891610"/>
            <a:ext cx="5720600" cy="2643600"/>
            <a:chOff x="1092425" y="1602050"/>
            <a:chExt cx="5720600" cy="2643600"/>
          </a:xfrm>
        </p:grpSpPr>
        <p:cxnSp>
          <p:nvCxnSpPr>
            <p:cNvPr id="11" name="Google Shape;400;p41">
              <a:extLst>
                <a:ext uri="{FF2B5EF4-FFF2-40B4-BE49-F238E27FC236}">
                  <a16:creationId xmlns:a16="http://schemas.microsoft.com/office/drawing/2014/main" id="{EF19A978-FE8B-79B4-A940-6B405BEEFB8C}"/>
                </a:ext>
              </a:extLst>
            </p:cNvPr>
            <p:cNvCxnSpPr>
              <a:cxnSpLocks/>
            </p:cNvCxnSpPr>
            <p:nvPr/>
          </p:nvCxnSpPr>
          <p:spPr>
            <a:xfrm>
              <a:off x="3952830" y="1602050"/>
              <a:ext cx="0" cy="264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2" name="Google Shape;401;p41">
              <a:extLst>
                <a:ext uri="{FF2B5EF4-FFF2-40B4-BE49-F238E27FC236}">
                  <a16:creationId xmlns:a16="http://schemas.microsoft.com/office/drawing/2014/main" id="{927E3085-7DED-6310-7C26-50E0762F3B20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25" y="2902900"/>
              <a:ext cx="5720600" cy="2078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  <p:sp>
        <p:nvSpPr>
          <p:cNvPr id="13" name="Google Shape;395;p41">
            <a:extLst>
              <a:ext uri="{FF2B5EF4-FFF2-40B4-BE49-F238E27FC236}">
                <a16:creationId xmlns:a16="http://schemas.microsoft.com/office/drawing/2014/main" id="{4D99B978-751D-8143-A66A-FC3A8C3E0BF2}"/>
              </a:ext>
            </a:extLst>
          </p:cNvPr>
          <p:cNvSpPr/>
          <p:nvPr/>
        </p:nvSpPr>
        <p:spPr>
          <a:xfrm>
            <a:off x="2265000" y="2221010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b="1">
                <a:solidFill>
                  <a:schemeClr val="dk1"/>
                </a:solidFill>
                <a:latin typeface="Reem Kufi"/>
                <a:sym typeface="Reem Kufi"/>
              </a:rPr>
              <a:t>Ease of Learn vs Ease of Use</a:t>
            </a:r>
            <a:endParaRPr lang="pt-PT"/>
          </a:p>
        </p:txBody>
      </p:sp>
      <p:sp>
        <p:nvSpPr>
          <p:cNvPr id="14" name="Google Shape;398;p41">
            <a:extLst>
              <a:ext uri="{FF2B5EF4-FFF2-40B4-BE49-F238E27FC236}">
                <a16:creationId xmlns:a16="http://schemas.microsoft.com/office/drawing/2014/main" id="{4B32AF64-D869-E4C6-5630-C40920C3B41A}"/>
              </a:ext>
            </a:extLst>
          </p:cNvPr>
          <p:cNvSpPr/>
          <p:nvPr/>
        </p:nvSpPr>
        <p:spPr>
          <a:xfrm>
            <a:off x="4645200" y="2221010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b="1">
                <a:solidFill>
                  <a:schemeClr val="dk1"/>
                </a:solidFill>
                <a:latin typeface="Reem Kufi"/>
              </a:rPr>
              <a:t>Privacidade e Segurança</a:t>
            </a:r>
          </a:p>
        </p:txBody>
      </p:sp>
      <p:sp>
        <p:nvSpPr>
          <p:cNvPr id="15" name="Google Shape;396;p41">
            <a:extLst>
              <a:ext uri="{FF2B5EF4-FFF2-40B4-BE49-F238E27FC236}">
                <a16:creationId xmlns:a16="http://schemas.microsoft.com/office/drawing/2014/main" id="{6524158E-AC6F-A821-2983-F6AC0CE9E8BA}"/>
              </a:ext>
            </a:extLst>
          </p:cNvPr>
          <p:cNvSpPr/>
          <p:nvPr/>
        </p:nvSpPr>
        <p:spPr>
          <a:xfrm>
            <a:off x="2265000" y="3495810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eem Kufi"/>
                <a:sym typeface="Reem Kufi"/>
              </a:rPr>
              <a:t>Performance</a:t>
            </a:r>
            <a:endParaRPr lang="pt-PT"/>
          </a:p>
        </p:txBody>
      </p:sp>
      <p:sp>
        <p:nvSpPr>
          <p:cNvPr id="16" name="Google Shape;397;p41">
            <a:extLst>
              <a:ext uri="{FF2B5EF4-FFF2-40B4-BE49-F238E27FC236}">
                <a16:creationId xmlns:a16="http://schemas.microsoft.com/office/drawing/2014/main" id="{403AA24E-3488-3FED-3E5C-A96C0181209A}"/>
              </a:ext>
            </a:extLst>
          </p:cNvPr>
          <p:cNvSpPr/>
          <p:nvPr/>
        </p:nvSpPr>
        <p:spPr>
          <a:xfrm>
            <a:off x="4645200" y="3495810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eem Kufi"/>
                <a:sym typeface="Reem Kufi"/>
              </a:rPr>
              <a:t>Plataforma</a:t>
            </a:r>
            <a:endParaRPr lang="pt-PT">
              <a:solidFill>
                <a:schemeClr val="dk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202B93F-B566-4C6A-D0FE-3B05957DFBBE}"/>
              </a:ext>
            </a:extLst>
          </p:cNvPr>
          <p:cNvSpPr txBox="1"/>
          <p:nvPr/>
        </p:nvSpPr>
        <p:spPr>
          <a:xfrm>
            <a:off x="8911526" y="4866720"/>
            <a:ext cx="2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56831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9371E-E4A6-40E2-9E8C-6B8E04DF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ítulo 8">
            <a:extLst>
              <a:ext uri="{FF2B5EF4-FFF2-40B4-BE49-F238E27FC236}">
                <a16:creationId xmlns:a16="http://schemas.microsoft.com/office/drawing/2014/main" id="{01368D47-54D7-EDBF-68E1-C5F6DE1391CD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660100" y="1151025"/>
            <a:ext cx="3208200" cy="412200"/>
          </a:xfrm>
        </p:spPr>
        <p:txBody>
          <a:bodyPr/>
          <a:lstStyle/>
          <a:p>
            <a:pPr marL="152400" indent="0" algn="ctr"/>
            <a:r>
              <a:rPr lang="pt-PT" sz="2400" dirty="0"/>
              <a:t>Funcionais</a:t>
            </a:r>
            <a:endParaRPr lang="pt-PT" sz="2000" dirty="0"/>
          </a:p>
        </p:txBody>
      </p:sp>
      <p:grpSp>
        <p:nvGrpSpPr>
          <p:cNvPr id="10" name="Google Shape;399;p41">
            <a:extLst>
              <a:ext uri="{FF2B5EF4-FFF2-40B4-BE49-F238E27FC236}">
                <a16:creationId xmlns:a16="http://schemas.microsoft.com/office/drawing/2014/main" id="{00AFF957-4629-3AAB-FF81-CC2D64DA249A}"/>
              </a:ext>
            </a:extLst>
          </p:cNvPr>
          <p:cNvGrpSpPr/>
          <p:nvPr/>
        </p:nvGrpSpPr>
        <p:grpSpPr>
          <a:xfrm>
            <a:off x="147700" y="1602050"/>
            <a:ext cx="5720600" cy="2643600"/>
            <a:chOff x="1092425" y="1602050"/>
            <a:chExt cx="5720600" cy="2643600"/>
          </a:xfrm>
        </p:grpSpPr>
        <p:cxnSp>
          <p:nvCxnSpPr>
            <p:cNvPr id="11" name="Google Shape;400;p41">
              <a:extLst>
                <a:ext uri="{FF2B5EF4-FFF2-40B4-BE49-F238E27FC236}">
                  <a16:creationId xmlns:a16="http://schemas.microsoft.com/office/drawing/2014/main" id="{7964B6A6-5550-3BFA-83BC-4F3AD6B6D24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830" y="1602050"/>
              <a:ext cx="0" cy="264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12" name="Google Shape;401;p41">
              <a:extLst>
                <a:ext uri="{FF2B5EF4-FFF2-40B4-BE49-F238E27FC236}">
                  <a16:creationId xmlns:a16="http://schemas.microsoft.com/office/drawing/2014/main" id="{0BD8E0AD-C9D9-A1A7-4F8D-FB46D3A2EEA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25" y="2902900"/>
              <a:ext cx="5720600" cy="2078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  <p:sp>
        <p:nvSpPr>
          <p:cNvPr id="13" name="Google Shape;395;p41">
            <a:extLst>
              <a:ext uri="{FF2B5EF4-FFF2-40B4-BE49-F238E27FC236}">
                <a16:creationId xmlns:a16="http://schemas.microsoft.com/office/drawing/2014/main" id="{27ED3297-887D-9BEC-EB7D-1FBF01726907}"/>
              </a:ext>
            </a:extLst>
          </p:cNvPr>
          <p:cNvSpPr/>
          <p:nvPr/>
        </p:nvSpPr>
        <p:spPr>
          <a:xfrm>
            <a:off x="768698" y="1918425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b="1">
                <a:solidFill>
                  <a:schemeClr val="dk1"/>
                </a:solidFill>
                <a:latin typeface="Reem Kufi"/>
                <a:sym typeface="Reem Kufi"/>
              </a:rPr>
              <a:t>Arranque da aplicação</a:t>
            </a:r>
            <a:endParaRPr lang="pt-PT"/>
          </a:p>
        </p:txBody>
      </p:sp>
      <p:sp>
        <p:nvSpPr>
          <p:cNvPr id="14" name="Google Shape;398;p41">
            <a:extLst>
              <a:ext uri="{FF2B5EF4-FFF2-40B4-BE49-F238E27FC236}">
                <a16:creationId xmlns:a16="http://schemas.microsoft.com/office/drawing/2014/main" id="{E0997EC8-EA7A-0537-DA35-ACF1D78D71B9}"/>
              </a:ext>
            </a:extLst>
          </p:cNvPr>
          <p:cNvSpPr/>
          <p:nvPr/>
        </p:nvSpPr>
        <p:spPr>
          <a:xfrm>
            <a:off x="3629103" y="1918425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b="1">
                <a:solidFill>
                  <a:schemeClr val="dk1"/>
                </a:solidFill>
                <a:latin typeface="Reem Kufi"/>
              </a:rPr>
              <a:t>Votação do destino</a:t>
            </a:r>
          </a:p>
        </p:txBody>
      </p:sp>
      <p:sp>
        <p:nvSpPr>
          <p:cNvPr id="15" name="Google Shape;396;p41">
            <a:extLst>
              <a:ext uri="{FF2B5EF4-FFF2-40B4-BE49-F238E27FC236}">
                <a16:creationId xmlns:a16="http://schemas.microsoft.com/office/drawing/2014/main" id="{6A0A1694-8A30-E6C3-FE6A-34F346FC5267}"/>
              </a:ext>
            </a:extLst>
          </p:cNvPr>
          <p:cNvSpPr/>
          <p:nvPr/>
        </p:nvSpPr>
        <p:spPr>
          <a:xfrm>
            <a:off x="768803" y="3402054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eem Kufi"/>
                <a:sym typeface="Reem Kufi"/>
              </a:rPr>
              <a:t>Sugestões na página principal</a:t>
            </a:r>
            <a:endParaRPr lang="pt-PT"/>
          </a:p>
        </p:txBody>
      </p:sp>
      <p:sp>
        <p:nvSpPr>
          <p:cNvPr id="16" name="Google Shape;397;p41">
            <a:extLst>
              <a:ext uri="{FF2B5EF4-FFF2-40B4-BE49-F238E27FC236}">
                <a16:creationId xmlns:a16="http://schemas.microsoft.com/office/drawing/2014/main" id="{664FF9F0-6973-9481-E50F-29DC014E3933}"/>
              </a:ext>
            </a:extLst>
          </p:cNvPr>
          <p:cNvSpPr/>
          <p:nvPr/>
        </p:nvSpPr>
        <p:spPr>
          <a:xfrm>
            <a:off x="3629103" y="3402054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eem Kufi"/>
                <a:sym typeface="Reem Kufi"/>
              </a:rPr>
              <a:t>Consenso no destino mais votado</a:t>
            </a:r>
            <a:endParaRPr lang="pt-PT">
              <a:solidFill>
                <a:schemeClr val="dk1"/>
              </a:solidFill>
            </a:endParaRPr>
          </a:p>
        </p:txBody>
      </p:sp>
      <p:grpSp>
        <p:nvGrpSpPr>
          <p:cNvPr id="2" name="Google Shape;399;p41">
            <a:extLst>
              <a:ext uri="{FF2B5EF4-FFF2-40B4-BE49-F238E27FC236}">
                <a16:creationId xmlns:a16="http://schemas.microsoft.com/office/drawing/2014/main" id="{5536733C-D9A9-EFD7-87B2-BC646FA22187}"/>
              </a:ext>
            </a:extLst>
          </p:cNvPr>
          <p:cNvGrpSpPr/>
          <p:nvPr/>
        </p:nvGrpSpPr>
        <p:grpSpPr>
          <a:xfrm>
            <a:off x="3008105" y="1607136"/>
            <a:ext cx="5720600" cy="2643600"/>
            <a:chOff x="1092425" y="1602050"/>
            <a:chExt cx="5720600" cy="2643600"/>
          </a:xfrm>
        </p:grpSpPr>
        <p:cxnSp>
          <p:nvCxnSpPr>
            <p:cNvPr id="3" name="Google Shape;400;p41">
              <a:extLst>
                <a:ext uri="{FF2B5EF4-FFF2-40B4-BE49-F238E27FC236}">
                  <a16:creationId xmlns:a16="http://schemas.microsoft.com/office/drawing/2014/main" id="{438A1C5B-36E0-1E10-53E9-C9139AD713E7}"/>
                </a:ext>
              </a:extLst>
            </p:cNvPr>
            <p:cNvCxnSpPr>
              <a:cxnSpLocks/>
            </p:cNvCxnSpPr>
            <p:nvPr/>
          </p:nvCxnSpPr>
          <p:spPr>
            <a:xfrm>
              <a:off x="3952830" y="1602050"/>
              <a:ext cx="0" cy="264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  <p:cxnSp>
          <p:nvCxnSpPr>
            <p:cNvPr id="4" name="Google Shape;401;p41">
              <a:extLst>
                <a:ext uri="{FF2B5EF4-FFF2-40B4-BE49-F238E27FC236}">
                  <a16:creationId xmlns:a16="http://schemas.microsoft.com/office/drawing/2014/main" id="{01D557AA-5D45-2033-5AF6-9FAE37C6BDF4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25" y="2902900"/>
              <a:ext cx="5720600" cy="2078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28575" dist="19050" dir="3060000" algn="bl" rotWithShape="0">
                <a:srgbClr val="434343">
                  <a:alpha val="50000"/>
                </a:srgbClr>
              </a:outerShdw>
            </a:effectLst>
          </p:spPr>
        </p:cxnSp>
      </p:grpSp>
      <p:sp>
        <p:nvSpPr>
          <p:cNvPr id="5" name="Google Shape;398;p41">
            <a:extLst>
              <a:ext uri="{FF2B5EF4-FFF2-40B4-BE49-F238E27FC236}">
                <a16:creationId xmlns:a16="http://schemas.microsoft.com/office/drawing/2014/main" id="{86DEA147-F2A5-DCDC-F269-7DEA3BCF0EF6}"/>
              </a:ext>
            </a:extLst>
          </p:cNvPr>
          <p:cNvSpPr/>
          <p:nvPr/>
        </p:nvSpPr>
        <p:spPr>
          <a:xfrm>
            <a:off x="6489508" y="1918425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b="1">
                <a:solidFill>
                  <a:schemeClr val="dk1"/>
                </a:solidFill>
                <a:latin typeface="Reem Kufi"/>
              </a:rPr>
              <a:t>Adição de custos ao longo da viagem</a:t>
            </a:r>
          </a:p>
        </p:txBody>
      </p:sp>
      <p:sp>
        <p:nvSpPr>
          <p:cNvPr id="6" name="Google Shape;398;p41">
            <a:extLst>
              <a:ext uri="{FF2B5EF4-FFF2-40B4-BE49-F238E27FC236}">
                <a16:creationId xmlns:a16="http://schemas.microsoft.com/office/drawing/2014/main" id="{7AA1534F-6AC2-EB9F-B4CA-360DD7E3C3FB}"/>
              </a:ext>
            </a:extLst>
          </p:cNvPr>
          <p:cNvSpPr/>
          <p:nvPr/>
        </p:nvSpPr>
        <p:spPr>
          <a:xfrm>
            <a:off x="6489507" y="3402054"/>
            <a:ext cx="16182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b="1">
                <a:solidFill>
                  <a:schemeClr val="dk1"/>
                </a:solidFill>
                <a:latin typeface="Reem Kufi"/>
              </a:rPr>
              <a:t>Divisão de contas entre os envolvidos</a:t>
            </a:r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A647D960-2BAF-BCFF-64CC-773F78CC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17595"/>
            <a:ext cx="7704000" cy="572700"/>
          </a:xfrm>
        </p:spPr>
        <p:txBody>
          <a:bodyPr/>
          <a:lstStyle/>
          <a:p>
            <a:r>
              <a:rPr lang="pt-PT" sz="3200" dirty="0"/>
              <a:t>Requisitos Principais;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5AE8D7-A7C3-2A95-B65D-74D007E74B88}"/>
              </a:ext>
            </a:extLst>
          </p:cNvPr>
          <p:cNvSpPr txBox="1"/>
          <p:nvPr/>
        </p:nvSpPr>
        <p:spPr>
          <a:xfrm>
            <a:off x="8911526" y="4866720"/>
            <a:ext cx="2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921169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06F82-0722-D659-6DA7-46C61196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D9FB8-5B62-261E-E672-17039E06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200" y="2772400"/>
            <a:ext cx="3633142" cy="785400"/>
          </a:xfrm>
        </p:spPr>
        <p:txBody>
          <a:bodyPr/>
          <a:lstStyle/>
          <a:p>
            <a:r>
              <a:rPr lang="pt-PT"/>
              <a:t>Protótipo de baixa fidelidade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83716FB-36E9-2AEA-F928-9616B5C33FA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PT"/>
              <a:t>03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363D61-816E-C1FD-B4B4-9E7E8695C1A4}"/>
              </a:ext>
            </a:extLst>
          </p:cNvPr>
          <p:cNvSpPr txBox="1"/>
          <p:nvPr/>
        </p:nvSpPr>
        <p:spPr>
          <a:xfrm>
            <a:off x="8911526" y="4866720"/>
            <a:ext cx="22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88303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177C8617-D73E-5EFB-EBBA-64ED39493F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2" t="2094" r="12224" b="4149"/>
          <a:stretch>
            <a:fillRect/>
          </a:stretch>
        </p:blipFill>
        <p:spPr>
          <a:xfrm>
            <a:off x="5137348" y="348712"/>
            <a:ext cx="3069345" cy="47947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7CB38476-2AD8-DBB0-2493-D3779DBE43EB}"/>
              </a:ext>
            </a:extLst>
          </p:cNvPr>
          <p:cNvSpPr txBox="1"/>
          <p:nvPr/>
        </p:nvSpPr>
        <p:spPr>
          <a:xfrm>
            <a:off x="867565" y="1898104"/>
            <a:ext cx="3936910" cy="1670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>
                <a:latin typeface="Lexend" panose="020B0604020202020204" charset="0"/>
              </a:rPr>
              <a:t>O protótipo de baixa fidelidade teve como foco validar o fluxo de navegação principal e as funcionalidades essenciais de planejamento de viagens antes da implementação.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37BBA73-A16B-EF02-2DB0-BC706D06CAA6}"/>
              </a:ext>
            </a:extLst>
          </p:cNvPr>
          <p:cNvSpPr txBox="1"/>
          <p:nvPr/>
        </p:nvSpPr>
        <p:spPr>
          <a:xfrm>
            <a:off x="1778750" y="1161922"/>
            <a:ext cx="2893988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>
                <a:latin typeface="Reem Kufi"/>
              </a:rPr>
              <a:t>Página Principal</a:t>
            </a:r>
            <a:endParaRPr lang="pt-PT" sz="2400" b="1">
              <a:latin typeface="Reem Kufi" pitchFamily="2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5077CCF-A097-5AF3-3632-1C1613EAC7D4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36751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E9C2DA9-EB4D-21BF-9F5D-34E5734919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43" t="17873" r="12234" b="4688"/>
          <a:stretch>
            <a:fillRect/>
          </a:stretch>
        </p:blipFill>
        <p:spPr>
          <a:xfrm>
            <a:off x="4572000" y="844658"/>
            <a:ext cx="3178799" cy="4212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C3CBA2B-A631-2B39-445B-39F4DE469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41" t="20842" r="8236"/>
          <a:stretch>
            <a:fillRect/>
          </a:stretch>
        </p:blipFill>
        <p:spPr>
          <a:xfrm>
            <a:off x="838277" y="844658"/>
            <a:ext cx="3262603" cy="4213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53FE62C-A398-0631-09E9-FC2ECC4BB2C1}"/>
              </a:ext>
            </a:extLst>
          </p:cNvPr>
          <p:cNvSpPr txBox="1"/>
          <p:nvPr/>
        </p:nvSpPr>
        <p:spPr>
          <a:xfrm>
            <a:off x="1393201" y="253758"/>
            <a:ext cx="2537836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>
                <a:latin typeface="Reem Kufi"/>
              </a:rPr>
              <a:t>Lista das viagens</a:t>
            </a:r>
            <a:endParaRPr lang="pt-PT" sz="2400" b="1" dirty="0">
              <a:latin typeface="Reem Kufi" pitchFamily="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FE7C675-7568-5D00-26DF-7B2DB67BEB4D}"/>
              </a:ext>
            </a:extLst>
          </p:cNvPr>
          <p:cNvSpPr txBox="1"/>
          <p:nvPr/>
        </p:nvSpPr>
        <p:spPr>
          <a:xfrm>
            <a:off x="5043122" y="253758"/>
            <a:ext cx="2537836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>
                <a:latin typeface="Reem Kufi"/>
              </a:rPr>
              <a:t>Votação do destino</a:t>
            </a:r>
            <a:endParaRPr lang="pt-PT" sz="2400" b="1" dirty="0">
              <a:latin typeface="Reem Kufi" pitchFamily="2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460928-DCC1-89B9-CAD5-06CC9F0B2028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1292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744299E-2A62-CF0A-FA66-4D732E7F4E1C}"/>
              </a:ext>
            </a:extLst>
          </p:cNvPr>
          <p:cNvSpPr txBox="1"/>
          <p:nvPr/>
        </p:nvSpPr>
        <p:spPr>
          <a:xfrm>
            <a:off x="3522000" y="413324"/>
            <a:ext cx="375445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Reem Kufi" pitchFamily="2"/>
              </a:rPr>
              <a:t>Adicionar</a:t>
            </a:r>
            <a:r>
              <a:rPr lang="en-US" sz="2400" b="1" dirty="0">
                <a:latin typeface="Reem Kufi" pitchFamily="2"/>
              </a:rPr>
              <a:t> </a:t>
            </a:r>
            <a:r>
              <a:rPr lang="en-US" sz="2400" b="1" dirty="0" err="1">
                <a:latin typeface="Reem Kufi" pitchFamily="2"/>
              </a:rPr>
              <a:t>membro</a:t>
            </a:r>
            <a:r>
              <a:rPr lang="en-US" sz="2400" b="1" dirty="0">
                <a:latin typeface="Reem Kufi" pitchFamily="2"/>
              </a:rPr>
              <a:t> à </a:t>
            </a:r>
            <a:r>
              <a:rPr lang="en-US" sz="2400" b="1" dirty="0" err="1">
                <a:latin typeface="Reem Kufi" pitchFamily="2"/>
              </a:rPr>
              <a:t>viagem</a:t>
            </a:r>
            <a:endParaRPr lang="pt-PT" sz="2400" b="1" dirty="0">
              <a:latin typeface="Reem Kufi" pitchFamily="2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5B14C29-175F-6C2F-AAD4-E70A8A5EA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69" t="9529" r="10810" b="4483"/>
          <a:stretch>
            <a:fillRect/>
          </a:stretch>
        </p:blipFill>
        <p:spPr>
          <a:xfrm>
            <a:off x="0" y="321891"/>
            <a:ext cx="3091912" cy="482160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FC55175-8909-60DC-C629-63FFC28697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96" b="30207"/>
          <a:stretch>
            <a:fillRect/>
          </a:stretch>
        </p:blipFill>
        <p:spPr>
          <a:xfrm>
            <a:off x="3317838" y="1116846"/>
            <a:ext cx="4526732" cy="340996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4AFF3EF-21FA-7459-0766-64893DE720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627" b="25876"/>
          <a:stretch>
            <a:fillRect/>
          </a:stretch>
        </p:blipFill>
        <p:spPr>
          <a:xfrm>
            <a:off x="3317838" y="1116846"/>
            <a:ext cx="4526732" cy="340996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24410A2-5AA3-6324-7135-D742D4D801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63" t="6949" r="12791" b="2241"/>
          <a:stretch>
            <a:fillRect/>
          </a:stretch>
        </p:blipFill>
        <p:spPr>
          <a:xfrm>
            <a:off x="0" y="309966"/>
            <a:ext cx="3177154" cy="48481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56B3EFA-E873-19B5-0E48-6F3F1226CCAB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42160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93618-3527-197A-4274-C7A39CB16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200" y="2772400"/>
            <a:ext cx="4880756" cy="785400"/>
          </a:xfrm>
        </p:spPr>
        <p:txBody>
          <a:bodyPr/>
          <a:lstStyle/>
          <a:p>
            <a:r>
              <a:rPr lang="pt-PT"/>
              <a:t>Avaliação do Protótipo de Baixa Fidelidade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24E39AD-ECD8-FAAC-AF68-ED003A95D4E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pt-PT"/>
              <a:t>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066117-5278-9194-56B6-D707DFB46CC2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1303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3CE2185D-D260-4517-A969-7FAF97DE9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400" dirty="0"/>
              <a:t>Observações da avaliação:</a:t>
            </a:r>
          </a:p>
          <a:p>
            <a:pPr lvl="1"/>
            <a:endParaRPr lang="pt-PT" sz="1400" dirty="0"/>
          </a:p>
          <a:p>
            <a:pPr lvl="1">
              <a:lnSpc>
                <a:spcPct val="200000"/>
              </a:lnSpc>
            </a:pPr>
            <a:r>
              <a:rPr lang="pt-PT" sz="1400" dirty="0"/>
              <a:t>Tarefas concluídas de forma positiva;</a:t>
            </a:r>
          </a:p>
          <a:p>
            <a:pPr lvl="1">
              <a:lnSpc>
                <a:spcPct val="200000"/>
              </a:lnSpc>
            </a:pPr>
            <a:r>
              <a:rPr lang="pt-PT" sz="1400" dirty="0"/>
              <a:t>Opiniões dos utilizadores:</a:t>
            </a:r>
          </a:p>
          <a:p>
            <a:pPr lvl="2">
              <a:lnSpc>
                <a:spcPct val="150000"/>
              </a:lnSpc>
            </a:pPr>
            <a:r>
              <a:rPr lang="pt-PT" sz="1400" dirty="0"/>
              <a:t>Promoções de viagens nessa data na pagina principal da app;</a:t>
            </a:r>
          </a:p>
          <a:p>
            <a:pPr lvl="2">
              <a:lnSpc>
                <a:spcPct val="150000"/>
              </a:lnSpc>
            </a:pPr>
            <a:r>
              <a:rPr lang="pt-PT" sz="1400" dirty="0"/>
              <a:t>Histórico de viagens no perfil;</a:t>
            </a:r>
          </a:p>
          <a:p>
            <a:pPr lvl="2">
              <a:lnSpc>
                <a:spcPct val="150000"/>
              </a:lnSpc>
            </a:pPr>
            <a:r>
              <a:rPr lang="pt-PT" sz="1400" dirty="0"/>
              <a:t>Ações pendentes na principal;</a:t>
            </a:r>
          </a:p>
          <a:p>
            <a:pPr lvl="1">
              <a:lnSpc>
                <a:spcPct val="200000"/>
              </a:lnSpc>
            </a:pPr>
            <a:r>
              <a:rPr lang="pt-PT" sz="1400" dirty="0"/>
              <a:t>Identificação de melhorias para a Alta Fidelidade;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0D7C7A0-6466-ECB6-34D4-58F20022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Avaliação do Protótipo de Baixa Fidelidade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28195C6-831A-6E7E-C022-F4848760E2EA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24516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08565-7538-9A0B-CF01-36C746C2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551FF-4DA6-31E1-C9C8-9B26960A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199" y="2772400"/>
            <a:ext cx="5671169" cy="785400"/>
          </a:xfrm>
        </p:spPr>
        <p:txBody>
          <a:bodyPr/>
          <a:lstStyle/>
          <a:p>
            <a:r>
              <a:rPr lang="pt-PT"/>
              <a:t>Ferramentas e Tecnologias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64DDA42-1A04-C714-B78F-DE03E5B8C19C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pt-PT"/>
              <a:t>05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62BEFD-EEC6-3767-DED8-5E5AF2E1B83D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8325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C709F4-8D1E-5069-7AEA-9E94D377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248916"/>
            <a:ext cx="7704000" cy="572700"/>
          </a:xfrm>
        </p:spPr>
        <p:txBody>
          <a:bodyPr/>
          <a:lstStyle/>
          <a:p>
            <a:r>
              <a:rPr lang="pt-PT"/>
              <a:t>Ferramentas e Tecnologias</a:t>
            </a:r>
            <a:br>
              <a:rPr lang="pt-PT"/>
            </a:br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97B75E-1177-DE42-50BA-7A9905A43073}"/>
              </a:ext>
            </a:extLst>
          </p:cNvPr>
          <p:cNvSpPr txBox="1"/>
          <p:nvPr/>
        </p:nvSpPr>
        <p:spPr>
          <a:xfrm>
            <a:off x="595000" y="837041"/>
            <a:ext cx="8549000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PT" dirty="0">
                <a:latin typeface="Lexend" panose="020B0604020202020204" charset="0"/>
              </a:rPr>
              <a:t>    O protótipo foi implementado com tecnologias web padrão, usando armazenamento local para simular persistência de dados.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C3BB3A0-9005-4AA9-4413-210BDB6FAFB4}"/>
              </a:ext>
            </a:extLst>
          </p:cNvPr>
          <p:cNvSpPr txBox="1"/>
          <p:nvPr/>
        </p:nvSpPr>
        <p:spPr>
          <a:xfrm>
            <a:off x="1194280" y="1857220"/>
            <a:ext cx="326903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1800" b="1" dirty="0">
                <a:latin typeface="Reem Kufi" pitchFamily="2"/>
              </a:rPr>
              <a:t>HTML</a:t>
            </a:r>
          </a:p>
          <a:p>
            <a:pPr>
              <a:buNone/>
            </a:pPr>
            <a:r>
              <a:rPr lang="pt-PT" dirty="0">
                <a:latin typeface="Lexend" panose="020B0604020202020204" charset="0"/>
              </a:rPr>
              <a:t>Estrutura semântica de todos os ecrãs e modais da aplicação.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B4D798-262F-9858-F9FF-6FF1D507F574}"/>
              </a:ext>
            </a:extLst>
          </p:cNvPr>
          <p:cNvSpPr txBox="1"/>
          <p:nvPr/>
        </p:nvSpPr>
        <p:spPr>
          <a:xfrm>
            <a:off x="5077046" y="1857220"/>
            <a:ext cx="398592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1800" b="1" dirty="0">
                <a:latin typeface="Reem Kufi" pitchFamily="2"/>
              </a:rPr>
              <a:t>CSS</a:t>
            </a:r>
          </a:p>
          <a:p>
            <a:pPr>
              <a:buNone/>
            </a:pPr>
            <a:r>
              <a:rPr lang="pt-PT" dirty="0">
                <a:latin typeface="Lexend" panose="020B0604020202020204" charset="0"/>
              </a:rPr>
              <a:t>Design mobile-</a:t>
            </a:r>
            <a:r>
              <a:rPr lang="pt-PT" dirty="0" err="1">
                <a:latin typeface="Lexend" panose="020B0604020202020204" charset="0"/>
              </a:rPr>
              <a:t>first</a:t>
            </a:r>
            <a:r>
              <a:rPr lang="pt-PT" dirty="0">
                <a:latin typeface="Lexend" panose="020B0604020202020204" charset="0"/>
              </a:rPr>
              <a:t> com layout responsivo e estilos consistentes</a:t>
            </a:r>
            <a:r>
              <a:rPr lang="pt-PT" dirty="0">
                <a:latin typeface="Reem Kufi" pitchFamily="2"/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0BF1DDC-1B22-7B60-4F0D-6E94B6A1960C}"/>
              </a:ext>
            </a:extLst>
          </p:cNvPr>
          <p:cNvSpPr txBox="1"/>
          <p:nvPr/>
        </p:nvSpPr>
        <p:spPr>
          <a:xfrm>
            <a:off x="1194280" y="3544979"/>
            <a:ext cx="32690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1800" b="1">
                <a:latin typeface="Reem Kufi" pitchFamily="2"/>
              </a:rPr>
              <a:t>JavaScript</a:t>
            </a:r>
          </a:p>
          <a:p>
            <a:pPr>
              <a:buNone/>
            </a:pPr>
            <a:r>
              <a:rPr lang="pt-PT">
                <a:latin typeface="Lexend" panose="020B0604020202020204" charset="0"/>
              </a:rPr>
              <a:t>Lógica de autenticação, votação, sugestões, despesas e estado da app.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F6C2AEC-1B60-99AC-74C2-489C434EA4AC}"/>
              </a:ext>
            </a:extLst>
          </p:cNvPr>
          <p:cNvSpPr txBox="1"/>
          <p:nvPr/>
        </p:nvSpPr>
        <p:spPr>
          <a:xfrm>
            <a:off x="5167504" y="3544978"/>
            <a:ext cx="408498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1800" b="1" err="1">
                <a:latin typeface="Reem Kufi" pitchFamily="2"/>
              </a:rPr>
              <a:t>LocalStorage</a:t>
            </a:r>
            <a:r>
              <a:rPr lang="pt-PT" sz="1800" b="1">
                <a:latin typeface="Reem Kufi" pitchFamily="2"/>
              </a:rPr>
              <a:t> &amp; </a:t>
            </a:r>
            <a:r>
              <a:rPr lang="pt-PT" sz="1800" b="1" err="1">
                <a:latin typeface="Reem Kufi" pitchFamily="2"/>
              </a:rPr>
              <a:t>SessionStorage</a:t>
            </a:r>
            <a:endParaRPr lang="pt-PT" sz="1800" b="1">
              <a:latin typeface="Reem Kufi" pitchFamily="2"/>
            </a:endParaRPr>
          </a:p>
          <a:p>
            <a:pPr>
              <a:buNone/>
            </a:pPr>
            <a:r>
              <a:rPr lang="pt-PT">
                <a:latin typeface="Lexend" panose="020B0604020202020204" charset="0"/>
              </a:rPr>
              <a:t>Persistência de contas, viagens e sessões por aba sem </a:t>
            </a:r>
            <a:r>
              <a:rPr lang="pt-PT" err="1">
                <a:latin typeface="Lexend" panose="020B0604020202020204" charset="0"/>
              </a:rPr>
              <a:t>backend</a:t>
            </a:r>
            <a:r>
              <a:rPr lang="pt-PT">
                <a:latin typeface="Lexend" panose="020B0604020202020204" charset="0"/>
              </a:rPr>
              <a:t>.</a:t>
            </a:r>
          </a:p>
        </p:txBody>
      </p:sp>
      <p:pic>
        <p:nvPicPr>
          <p:cNvPr id="2050" name="Picture 2" descr="HTML – Wikipédia, a enciclopédia livre">
            <a:extLst>
              <a:ext uri="{FF2B5EF4-FFF2-40B4-BE49-F238E27FC236}">
                <a16:creationId xmlns:a16="http://schemas.microsoft.com/office/drawing/2014/main" id="{2A20A8BC-448A-CF87-4C43-5E0948066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9" b="98667" l="9778" r="89778">
                        <a14:foregroundMark x1="49778" y1="93778" x2="49778" y2="93778"/>
                        <a14:foregroundMark x1="49778" y1="99111" x2="49778" y2="99111"/>
                        <a14:foregroundMark x1="25333" y1="5778" x2="25333" y2="5778"/>
                        <a14:foregroundMark x1="42667" y1="6222" x2="42667" y2="6222"/>
                        <a14:foregroundMark x1="55111" y1="5778" x2="55111" y2="5778"/>
                        <a14:foregroundMark x1="70667" y1="5778" x2="70667" y2="5778"/>
                        <a14:foregroundMark x1="32444" y1="889" x2="32444" y2="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8" y="1857220"/>
            <a:ext cx="675322" cy="67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avaScript – Wikipédia, a enciclopédia livre">
            <a:extLst>
              <a:ext uri="{FF2B5EF4-FFF2-40B4-BE49-F238E27FC236}">
                <a16:creationId xmlns:a16="http://schemas.microsoft.com/office/drawing/2014/main" id="{77A4BD67-8B55-0D8C-6045-7E0C67480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7" y="3544979"/>
            <a:ext cx="675323" cy="67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E8D89D7-29FB-99FA-1827-21AB55707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32" y="1857220"/>
            <a:ext cx="478354" cy="67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ase de dados - ícones de tecnologia grátis">
            <a:extLst>
              <a:ext uri="{FF2B5EF4-FFF2-40B4-BE49-F238E27FC236}">
                <a16:creationId xmlns:a16="http://schemas.microsoft.com/office/drawing/2014/main" id="{ADBDA0F4-03D1-3FEB-F7F3-E3371748C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723" y="3544978"/>
            <a:ext cx="675323" cy="67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B1FFFAE-8C24-BD55-C42B-4120318318D3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67824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DFDD-E70A-F994-869A-CD7AEC4E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66C23-F39C-23E6-305C-75313F4B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Protótipo de alta Fidelidade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AE7E59F-17AD-27A3-6A5D-2936970F9AB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PT" dirty="0"/>
              <a:t>06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0FDCCD-E5A7-0B8B-A31D-006426C0FDEE}"/>
              </a:ext>
            </a:extLst>
          </p:cNvPr>
          <p:cNvSpPr txBox="1"/>
          <p:nvPr/>
        </p:nvSpPr>
        <p:spPr>
          <a:xfrm>
            <a:off x="8787538" y="4866721"/>
            <a:ext cx="387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909500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9F87CC0-8E7A-AB92-24F6-DACF3DCC3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18" y="0"/>
            <a:ext cx="2879178" cy="51435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475DA43-F5F6-6968-CFD8-BC1FF793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396" y="0"/>
            <a:ext cx="2902825" cy="51435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5AD76E5-9DDE-D79D-C660-FEF30DCA6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221" y="0"/>
            <a:ext cx="2921834" cy="5110251"/>
          </a:xfrm>
          <a:prstGeom prst="rect">
            <a:avLst/>
          </a:prstGeom>
        </p:spPr>
      </p:pic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12E78072-53D9-9F0D-C636-D8A05F6A8AA9}"/>
              </a:ext>
            </a:extLst>
          </p:cNvPr>
          <p:cNvCxnSpPr/>
          <p:nvPr/>
        </p:nvCxnSpPr>
        <p:spPr>
          <a:xfrm>
            <a:off x="3206396" y="0"/>
            <a:ext cx="0" cy="5143500"/>
          </a:xfrm>
          <a:prstGeom prst="line">
            <a:avLst/>
          </a:prstGeom>
          <a:ln w="28575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52D81280-7C3E-3AC3-0465-F8834ABCEB69}"/>
              </a:ext>
            </a:extLst>
          </p:cNvPr>
          <p:cNvCxnSpPr/>
          <p:nvPr/>
        </p:nvCxnSpPr>
        <p:spPr>
          <a:xfrm>
            <a:off x="6109221" y="4197"/>
            <a:ext cx="0" cy="5143500"/>
          </a:xfrm>
          <a:prstGeom prst="line">
            <a:avLst/>
          </a:prstGeom>
          <a:ln w="28575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220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3597-4761-4C26-8837-2FC9322E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A15AB-103C-366C-7A2E-3C915B1B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Demo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C250630-08E4-8C11-3C44-518F66E9EA8A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PT" dirty="0"/>
              <a:t>07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F33B6DA-AA1C-EE10-AA07-06A31E03CD26}"/>
              </a:ext>
            </a:extLst>
          </p:cNvPr>
          <p:cNvSpPr txBox="1"/>
          <p:nvPr/>
        </p:nvSpPr>
        <p:spPr>
          <a:xfrm>
            <a:off x="8787538" y="4866721"/>
            <a:ext cx="387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19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159F91C-59BC-909E-36BE-89D471382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272" y="689675"/>
            <a:ext cx="2868125" cy="28681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2DE4AE0-EDCD-D2BB-2E45-8D3EA60C6748}"/>
              </a:ext>
            </a:extLst>
          </p:cNvPr>
          <p:cNvSpPr txBox="1"/>
          <p:nvPr/>
        </p:nvSpPr>
        <p:spPr>
          <a:xfrm>
            <a:off x="2673458" y="3697700"/>
            <a:ext cx="5548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>
                <a:hlinkClick r:id="rId3"/>
              </a:rPr>
              <a:t>https://paulo-lacerda1.github.io/2026_HCI_LogBook/</a:t>
            </a:r>
            <a:endParaRPr lang="pt-PT" sz="1800"/>
          </a:p>
        </p:txBody>
      </p:sp>
    </p:spTree>
    <p:extLst>
      <p:ext uri="{BB962C8B-B14F-4D97-AF65-F5344CB8AC3E}">
        <p14:creationId xmlns:p14="http://schemas.microsoft.com/office/powerpoint/2010/main" val="2892656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esign sem nome">
            <a:hlinkClick r:id="" action="ppaction://media"/>
            <a:extLst>
              <a:ext uri="{FF2B5EF4-FFF2-40B4-BE49-F238E27FC236}">
                <a16:creationId xmlns:a16="http://schemas.microsoft.com/office/drawing/2014/main" id="{65D34C04-0F8E-76E3-5D22-B39CE13994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14300"/>
            <a:ext cx="9144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09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7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4E6EB-F992-8737-D5DB-B61BDA97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79B2A-67A1-073D-B9B5-8FD4BDFF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199" y="2772400"/>
            <a:ext cx="5074485" cy="785400"/>
          </a:xfrm>
        </p:spPr>
        <p:txBody>
          <a:bodyPr/>
          <a:lstStyle/>
          <a:p>
            <a:r>
              <a:rPr lang="pt-PT"/>
              <a:t>Avaliação do Protótipo de Alta Fidelidade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DA9BFBB-DF73-0FF4-B6F8-E6223AFDD87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PT" dirty="0"/>
              <a:t>08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192397-263B-570C-8F6F-595CD5F86416}"/>
              </a:ext>
            </a:extLst>
          </p:cNvPr>
          <p:cNvSpPr txBox="1"/>
          <p:nvPr/>
        </p:nvSpPr>
        <p:spPr>
          <a:xfrm>
            <a:off x="8787538" y="4866721"/>
            <a:ext cx="387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05417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206E-7302-4021-865B-BBD86C4D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EBCB3563-2EAD-0BF6-DB1D-9B819E83D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3818971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0418A640-3061-CF33-E108-2410D5319904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929442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46DE8-EBCE-CF44-2BDD-AD9F4FC1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6F3EC6D-0735-6E37-8108-18FC76EDF152}"/>
              </a:ext>
            </a:extLst>
          </p:cNvPr>
          <p:cNvGraphicFramePr/>
          <p:nvPr/>
        </p:nvGraphicFramePr>
        <p:xfrm>
          <a:off x="1524000" y="53975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03D1D06C-5343-058C-1F03-265A8A26BEBB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483641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66552-3B82-F1A5-2811-6ECAF007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16AA441D-D719-EF5F-7D82-B40EC685FB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8670669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96C75853-1E17-E547-39CC-12B29D5C8B9E}"/>
              </a:ext>
            </a:extLst>
          </p:cNvPr>
          <p:cNvSpPr txBox="1"/>
          <p:nvPr/>
        </p:nvSpPr>
        <p:spPr>
          <a:xfrm>
            <a:off x="8784336" y="4885008"/>
            <a:ext cx="406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23267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0310-C3C0-EA64-8822-010F02B6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E0AC84B-6D3A-D40E-3420-CBA2EB3849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729896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DAE5A005-44B3-A742-6F1C-89B02D30F60D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475002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D3C24-8347-FA2E-1FA7-445A9438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86D45-294C-B110-9C62-14D8DEA7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199" y="2772400"/>
            <a:ext cx="5074485" cy="785400"/>
          </a:xfrm>
        </p:spPr>
        <p:txBody>
          <a:bodyPr/>
          <a:lstStyle/>
          <a:p>
            <a:r>
              <a:rPr lang="pt-PT"/>
              <a:t>Trabalho Futuro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AD924FC-3D0A-E32D-1EF6-F34B217D9FFC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PT" dirty="0"/>
              <a:t>09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A32B7B-7717-0FF8-AE82-11B7C5F641D3}"/>
              </a:ext>
            </a:extLst>
          </p:cNvPr>
          <p:cNvSpPr txBox="1"/>
          <p:nvPr/>
        </p:nvSpPr>
        <p:spPr>
          <a:xfrm>
            <a:off x="8787538" y="4866721"/>
            <a:ext cx="387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337672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AADF253-AE0C-C502-D92F-C790C62A9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41" y="216070"/>
            <a:ext cx="7704000" cy="572700"/>
          </a:xfrm>
        </p:spPr>
        <p:txBody>
          <a:bodyPr/>
          <a:lstStyle/>
          <a:p>
            <a:r>
              <a:rPr lang="pt-PT"/>
              <a:t>Ideias para o </a:t>
            </a:r>
            <a:r>
              <a:rPr lang="pt-PT" u="sng"/>
              <a:t>futuro</a:t>
            </a:r>
            <a:r>
              <a:rPr lang="pt-PT"/>
              <a:t>: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CDC4B6B-2366-DF51-8431-C8132589B1F0}"/>
              </a:ext>
            </a:extLst>
          </p:cNvPr>
          <p:cNvSpPr txBox="1"/>
          <p:nvPr/>
        </p:nvSpPr>
        <p:spPr>
          <a:xfrm>
            <a:off x="905767" y="912061"/>
            <a:ext cx="54025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sz="1200" b="1" err="1">
                <a:latin typeface="Lexend" panose="020B0604020202020204" charset="0"/>
              </a:rPr>
              <a:t>Backend</a:t>
            </a:r>
            <a:r>
              <a:rPr lang="pt-PT" sz="1200" b="1">
                <a:latin typeface="Lexend" panose="020B0604020202020204" charset="0"/>
              </a:rPr>
              <a:t> e base de dados</a:t>
            </a:r>
            <a:br>
              <a:rPr lang="pt-PT" sz="1200">
                <a:latin typeface="Lexend" panose="020B0604020202020204" charset="0"/>
              </a:rPr>
            </a:br>
            <a:r>
              <a:rPr lang="pt-PT" sz="1200">
                <a:latin typeface="Lexend" panose="020B0604020202020204" charset="0"/>
              </a:rPr>
              <a:t>Implementar um </a:t>
            </a:r>
            <a:r>
              <a:rPr lang="pt-PT" sz="1200" err="1">
                <a:latin typeface="Lexend" panose="020B0604020202020204" charset="0"/>
              </a:rPr>
              <a:t>backend</a:t>
            </a:r>
            <a:r>
              <a:rPr lang="pt-PT" sz="1200">
                <a:latin typeface="Lexend" panose="020B0604020202020204" charset="0"/>
              </a:rPr>
              <a:t> real para guardar contas, viagens, votos, despesas e histórico de forma segura e permanente.</a:t>
            </a:r>
          </a:p>
          <a:p>
            <a:pPr>
              <a:buNone/>
            </a:pPr>
            <a:endParaRPr lang="pt-PT" sz="1200">
              <a:latin typeface="Lexend" panose="020B0604020202020204" charset="0"/>
            </a:endParaRPr>
          </a:p>
          <a:p>
            <a:pPr>
              <a:buNone/>
            </a:pPr>
            <a:r>
              <a:rPr lang="pt-PT" sz="1200" b="1">
                <a:latin typeface="Lexend" panose="020B0604020202020204" charset="0"/>
              </a:rPr>
              <a:t>Mapas e transportes</a:t>
            </a:r>
            <a:br>
              <a:rPr lang="pt-PT" sz="1200">
                <a:latin typeface="Lexend" panose="020B0604020202020204" charset="0"/>
              </a:rPr>
            </a:br>
            <a:r>
              <a:rPr lang="pt-PT" sz="1200">
                <a:latin typeface="Lexend" panose="020B0604020202020204" charset="0"/>
              </a:rPr>
              <a:t>Integrar mapas, rotas e sugestões de transportes para apoiar as deslocações durante a viagem.</a:t>
            </a:r>
          </a:p>
          <a:p>
            <a:pPr>
              <a:buNone/>
            </a:pPr>
            <a:endParaRPr lang="pt-PT" sz="1200">
              <a:latin typeface="Lexend" panose="020B0604020202020204" charset="0"/>
            </a:endParaRPr>
          </a:p>
          <a:p>
            <a:pPr>
              <a:buNone/>
            </a:pPr>
            <a:r>
              <a:rPr lang="pt-PT" sz="1200" b="1">
                <a:latin typeface="Lexend" panose="020B0604020202020204" charset="0"/>
              </a:rPr>
              <a:t>Gestão de despesas</a:t>
            </a:r>
            <a:br>
              <a:rPr lang="pt-PT" sz="1200">
                <a:latin typeface="Lexend" panose="020B0604020202020204" charset="0"/>
              </a:rPr>
            </a:br>
            <a:r>
              <a:rPr lang="pt-PT" sz="1200">
                <a:latin typeface="Lexend" panose="020B0604020202020204" charset="0"/>
              </a:rPr>
              <a:t>Melhorar o cálculo automático de saldos, pagamentos parciais e integração com métodos de pagamento.</a:t>
            </a:r>
          </a:p>
          <a:p>
            <a:pPr>
              <a:buNone/>
            </a:pPr>
            <a:endParaRPr lang="pt-PT" sz="1200">
              <a:latin typeface="Lexend" panose="020B0604020202020204" charset="0"/>
            </a:endParaRPr>
          </a:p>
          <a:p>
            <a:pPr>
              <a:buNone/>
            </a:pPr>
            <a:r>
              <a:rPr lang="pt-PT" sz="1200" b="1">
                <a:latin typeface="Lexend" panose="020B0604020202020204" charset="0"/>
              </a:rPr>
              <a:t>Convites e notificações</a:t>
            </a:r>
            <a:br>
              <a:rPr lang="pt-PT" sz="1200">
                <a:latin typeface="Lexend" panose="020B0604020202020204" charset="0"/>
              </a:rPr>
            </a:br>
            <a:r>
              <a:rPr lang="pt-PT" sz="1200">
                <a:latin typeface="Lexend" panose="020B0604020202020204" charset="0"/>
              </a:rPr>
              <a:t>Adicionar convites por email ou link e notificações para votações, confirmações de presença e despesas pendentes.</a:t>
            </a:r>
          </a:p>
          <a:p>
            <a:pPr>
              <a:buNone/>
            </a:pPr>
            <a:endParaRPr lang="pt-PT" sz="1200">
              <a:latin typeface="Lexend" panose="020B0604020202020204" charset="0"/>
            </a:endParaRPr>
          </a:p>
          <a:p>
            <a:pPr>
              <a:buNone/>
            </a:pPr>
            <a:r>
              <a:rPr lang="pt-PT" sz="1200" b="1">
                <a:latin typeface="Lexend" panose="020B0604020202020204" charset="0"/>
              </a:rPr>
              <a:t>Exportação do plano final</a:t>
            </a:r>
            <a:br>
              <a:rPr lang="pt-PT" sz="1200">
                <a:latin typeface="Lexend" panose="020B0604020202020204" charset="0"/>
              </a:rPr>
            </a:br>
            <a:r>
              <a:rPr lang="pt-PT" sz="1200">
                <a:latin typeface="Lexend" panose="020B0604020202020204" charset="0"/>
              </a:rPr>
              <a:t>Gerar um PDF ou link partilhável com destino, itinerário, membros e despesas da viagem.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99B76E8-9106-79DC-612C-9DAF3A358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35" b="9335"/>
          <a:stretch>
            <a:fillRect/>
          </a:stretch>
        </p:blipFill>
        <p:spPr>
          <a:xfrm>
            <a:off x="6492234" y="173570"/>
            <a:ext cx="2476506" cy="4634857"/>
          </a:xfrm>
          <a:prstGeom prst="rect">
            <a:avLst/>
          </a:prstGeom>
        </p:spPr>
      </p:pic>
      <p:pic>
        <p:nvPicPr>
          <p:cNvPr id="1035" name="Picture 11" descr="Base de dados - ícones de do utilizador grátis">
            <a:extLst>
              <a:ext uri="{FF2B5EF4-FFF2-40B4-BE49-F238E27FC236}">
                <a16:creationId xmlns:a16="http://schemas.microsoft.com/office/drawing/2014/main" id="{6DF75EE0-8180-2AA9-BE90-20CAC3BCB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41" y="1002881"/>
            <a:ext cx="434346" cy="43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Mapa de localização - ícones de mapas e bandeiras grátis">
            <a:extLst>
              <a:ext uri="{FF2B5EF4-FFF2-40B4-BE49-F238E27FC236}">
                <a16:creationId xmlns:a16="http://schemas.microsoft.com/office/drawing/2014/main" id="{38AA1656-A0DE-BC5F-A173-4FE180B83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12" y="1693839"/>
            <a:ext cx="434346" cy="43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Despesas - ícones de mãos e gestos grátis">
            <a:extLst>
              <a:ext uri="{FF2B5EF4-FFF2-40B4-BE49-F238E27FC236}">
                <a16:creationId xmlns:a16="http://schemas.microsoft.com/office/drawing/2014/main" id="{1F0B9324-D960-544D-3946-4B6EA36F5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45" y="2443445"/>
            <a:ext cx="434346" cy="43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Notificação - ícones de grátis">
            <a:extLst>
              <a:ext uri="{FF2B5EF4-FFF2-40B4-BE49-F238E27FC236}">
                <a16:creationId xmlns:a16="http://schemas.microsoft.com/office/drawing/2014/main" id="{53F9260A-E8B9-D670-CF76-B8E878963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45" y="3190294"/>
            <a:ext cx="434346" cy="43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Pdf - ícones de interface grátis">
            <a:extLst>
              <a:ext uri="{FF2B5EF4-FFF2-40B4-BE49-F238E27FC236}">
                <a16:creationId xmlns:a16="http://schemas.microsoft.com/office/drawing/2014/main" id="{43553B70-A623-BCBC-5413-7B92F6E88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45" y="3920384"/>
            <a:ext cx="434346" cy="43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8020A1C-B344-3418-C7D3-E73C6527F58C}"/>
              </a:ext>
            </a:extLst>
          </p:cNvPr>
          <p:cNvSpPr txBox="1"/>
          <p:nvPr/>
        </p:nvSpPr>
        <p:spPr>
          <a:xfrm>
            <a:off x="8802624" y="4885008"/>
            <a:ext cx="38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18580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580DA-33AF-DB4C-5585-7AE1B897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200" y="502058"/>
            <a:ext cx="4383600" cy="785400"/>
          </a:xfrm>
        </p:spPr>
        <p:txBody>
          <a:bodyPr/>
          <a:lstStyle/>
          <a:p>
            <a:pPr algn="ctr"/>
            <a:r>
              <a:rPr lang="pt-PT"/>
              <a:t>Avaliação do Grupo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8517F1-3BF5-9F86-298F-93C3394C9915}"/>
              </a:ext>
            </a:extLst>
          </p:cNvPr>
          <p:cNvSpPr txBox="1"/>
          <p:nvPr/>
        </p:nvSpPr>
        <p:spPr>
          <a:xfrm>
            <a:off x="1272606" y="1577631"/>
            <a:ext cx="3153060" cy="1988237"/>
          </a:xfrm>
          <a:custGeom>
            <a:avLst/>
            <a:gdLst>
              <a:gd name="csX0" fmla="*/ 0 w 3153060"/>
              <a:gd name="csY0" fmla="*/ 0 h 1988237"/>
              <a:gd name="csX1" fmla="*/ 536020 w 3153060"/>
              <a:gd name="csY1" fmla="*/ 0 h 1988237"/>
              <a:gd name="csX2" fmla="*/ 1135102 w 3153060"/>
              <a:gd name="csY2" fmla="*/ 0 h 1988237"/>
              <a:gd name="csX3" fmla="*/ 1828775 w 3153060"/>
              <a:gd name="csY3" fmla="*/ 0 h 1988237"/>
              <a:gd name="csX4" fmla="*/ 2490917 w 3153060"/>
              <a:gd name="csY4" fmla="*/ 0 h 1988237"/>
              <a:gd name="csX5" fmla="*/ 3153060 w 3153060"/>
              <a:gd name="csY5" fmla="*/ 0 h 1988237"/>
              <a:gd name="csX6" fmla="*/ 3153060 w 3153060"/>
              <a:gd name="csY6" fmla="*/ 603099 h 1988237"/>
              <a:gd name="csX7" fmla="*/ 3153060 w 3153060"/>
              <a:gd name="csY7" fmla="*/ 1226079 h 1988237"/>
              <a:gd name="csX8" fmla="*/ 3153060 w 3153060"/>
              <a:gd name="csY8" fmla="*/ 1988237 h 1988237"/>
              <a:gd name="csX9" fmla="*/ 2585509 w 3153060"/>
              <a:gd name="csY9" fmla="*/ 1988237 h 1988237"/>
              <a:gd name="csX10" fmla="*/ 1891836 w 3153060"/>
              <a:gd name="csY10" fmla="*/ 1988237 h 1988237"/>
              <a:gd name="csX11" fmla="*/ 1198163 w 3153060"/>
              <a:gd name="csY11" fmla="*/ 1988237 h 1988237"/>
              <a:gd name="csX12" fmla="*/ 0 w 3153060"/>
              <a:gd name="csY12" fmla="*/ 1988237 h 1988237"/>
              <a:gd name="csX13" fmla="*/ 0 w 3153060"/>
              <a:gd name="csY13" fmla="*/ 1325491 h 1988237"/>
              <a:gd name="csX14" fmla="*/ 0 w 3153060"/>
              <a:gd name="csY14" fmla="*/ 682628 h 1988237"/>
              <a:gd name="csX15" fmla="*/ 0 w 3153060"/>
              <a:gd name="csY15" fmla="*/ 0 h 1988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53060" h="1988237" extrusionOk="0">
                <a:moveTo>
                  <a:pt x="0" y="0"/>
                </a:moveTo>
                <a:cubicBezTo>
                  <a:pt x="117714" y="-20601"/>
                  <a:pt x="389613" y="19813"/>
                  <a:pt x="536020" y="0"/>
                </a:cubicBezTo>
                <a:cubicBezTo>
                  <a:pt x="682427" y="-19813"/>
                  <a:pt x="925536" y="27010"/>
                  <a:pt x="1135102" y="0"/>
                </a:cubicBezTo>
                <a:cubicBezTo>
                  <a:pt x="1344668" y="-27010"/>
                  <a:pt x="1492466" y="-5613"/>
                  <a:pt x="1828775" y="0"/>
                </a:cubicBezTo>
                <a:cubicBezTo>
                  <a:pt x="2165084" y="5613"/>
                  <a:pt x="2322767" y="-8777"/>
                  <a:pt x="2490917" y="0"/>
                </a:cubicBezTo>
                <a:cubicBezTo>
                  <a:pt x="2659067" y="8777"/>
                  <a:pt x="2943290" y="1566"/>
                  <a:pt x="3153060" y="0"/>
                </a:cubicBezTo>
                <a:cubicBezTo>
                  <a:pt x="3153827" y="279914"/>
                  <a:pt x="3174060" y="366825"/>
                  <a:pt x="3153060" y="603099"/>
                </a:cubicBezTo>
                <a:cubicBezTo>
                  <a:pt x="3132060" y="839373"/>
                  <a:pt x="3182492" y="1082163"/>
                  <a:pt x="3153060" y="1226079"/>
                </a:cubicBezTo>
                <a:cubicBezTo>
                  <a:pt x="3123628" y="1369995"/>
                  <a:pt x="3176893" y="1811488"/>
                  <a:pt x="3153060" y="1988237"/>
                </a:cubicBezTo>
                <a:cubicBezTo>
                  <a:pt x="2967755" y="1975948"/>
                  <a:pt x="2790432" y="1976973"/>
                  <a:pt x="2585509" y="1988237"/>
                </a:cubicBezTo>
                <a:cubicBezTo>
                  <a:pt x="2380586" y="1999501"/>
                  <a:pt x="2131474" y="2002552"/>
                  <a:pt x="1891836" y="1988237"/>
                </a:cubicBezTo>
                <a:cubicBezTo>
                  <a:pt x="1652198" y="1973922"/>
                  <a:pt x="1407361" y="1999523"/>
                  <a:pt x="1198163" y="1988237"/>
                </a:cubicBezTo>
                <a:cubicBezTo>
                  <a:pt x="988965" y="1976951"/>
                  <a:pt x="435577" y="2022787"/>
                  <a:pt x="0" y="1988237"/>
                </a:cubicBezTo>
                <a:cubicBezTo>
                  <a:pt x="-17526" y="1662959"/>
                  <a:pt x="-5271" y="1613857"/>
                  <a:pt x="0" y="1325491"/>
                </a:cubicBezTo>
                <a:cubicBezTo>
                  <a:pt x="5271" y="1037125"/>
                  <a:pt x="-17155" y="882890"/>
                  <a:pt x="0" y="682628"/>
                </a:cubicBezTo>
                <a:cubicBezTo>
                  <a:pt x="17155" y="482366"/>
                  <a:pt x="26530" y="148514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5921424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/>
              <a:buChar char="Ø"/>
            </a:pPr>
            <a:r>
              <a:rPr lang="pt-PT" sz="1600">
                <a:solidFill>
                  <a:srgbClr val="191919"/>
                </a:solidFill>
                <a:latin typeface="Lexend"/>
              </a:rPr>
              <a:t>Paulo Lacerda</a:t>
            </a:r>
            <a:r>
              <a:rPr lang="pt-PT" sz="1600">
                <a:latin typeface="Lexend"/>
              </a:rPr>
              <a:t> – 25%</a:t>
            </a:r>
            <a:endParaRPr lang="pt-PT" sz="1600"/>
          </a:p>
          <a:p>
            <a:pPr marL="285750" indent="-285750">
              <a:lnSpc>
                <a:spcPct val="200000"/>
              </a:lnSpc>
              <a:buFont typeface="Wingdings"/>
              <a:buChar char="Ø"/>
            </a:pPr>
            <a:r>
              <a:rPr lang="pt-PT" sz="1600">
                <a:latin typeface="Lexend"/>
              </a:rPr>
              <a:t>João António – 25% </a:t>
            </a:r>
          </a:p>
          <a:p>
            <a:pPr marL="285750" indent="-285750">
              <a:lnSpc>
                <a:spcPct val="200000"/>
              </a:lnSpc>
              <a:buFont typeface="Wingdings"/>
              <a:buChar char="Ø"/>
            </a:pPr>
            <a:r>
              <a:rPr lang="pt-PT" sz="1600">
                <a:latin typeface="Lexend"/>
              </a:rPr>
              <a:t>Martim Gomes – 25%</a:t>
            </a:r>
          </a:p>
          <a:p>
            <a:pPr marL="285750" indent="-285750">
              <a:lnSpc>
                <a:spcPct val="200000"/>
              </a:lnSpc>
              <a:buFont typeface="Wingdings"/>
              <a:buChar char="Ø"/>
            </a:pPr>
            <a:r>
              <a:rPr lang="pt-PT" sz="1600">
                <a:latin typeface="Lexend"/>
              </a:rPr>
              <a:t>Fernando Ferreira – 25%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FB541D-FA1C-D7B4-2902-DBB7E7E82FCD}"/>
              </a:ext>
            </a:extLst>
          </p:cNvPr>
          <p:cNvSpPr txBox="1"/>
          <p:nvPr/>
        </p:nvSpPr>
        <p:spPr>
          <a:xfrm>
            <a:off x="8787539" y="4866721"/>
            <a:ext cx="395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Lexend" panose="020B060402020202020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055657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hite Formal Business Plan by Slidesgo">
  <a:themeElements>
    <a:clrScheme name="Simple Light">
      <a:dk1>
        <a:srgbClr val="191919"/>
      </a:dk1>
      <a:lt1>
        <a:srgbClr val="EBEBEB"/>
      </a:lt1>
      <a:dk2>
        <a:srgbClr val="FFFFFF"/>
      </a:dk2>
      <a:lt2>
        <a:srgbClr val="DDDDDD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db119c0-d2cc-46b7-94af-a6703d0947e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025EC9BCC6B644906A0CA4F72FA90E" ma:contentTypeVersion="6" ma:contentTypeDescription="Create a new document." ma:contentTypeScope="" ma:versionID="6baf468c85242bbde8bb12888db8e2ba">
  <xsd:schema xmlns:xsd="http://www.w3.org/2001/XMLSchema" xmlns:xs="http://www.w3.org/2001/XMLSchema" xmlns:p="http://schemas.microsoft.com/office/2006/metadata/properties" xmlns:ns3="7db119c0-d2cc-46b7-94af-a6703d0947ea" targetNamespace="http://schemas.microsoft.com/office/2006/metadata/properties" ma:root="true" ma:fieldsID="e766b2e44e053f31b3666ffde1e54662" ns3:_="">
    <xsd:import namespace="7db119c0-d2cc-46b7-94af-a6703d0947e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b119c0-d2cc-46b7-94af-a6703d0947e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E10701-70E1-47F6-8FFA-9FA6E0437E22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7db119c0-d2cc-46b7-94af-a6703d0947ea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5481F22-E0F0-453F-AFA4-282B92495B8E}">
  <ds:schemaRefs>
    <ds:schemaRef ds:uri="7db119c0-d2cc-46b7-94af-a6703d0947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3965FF-2A5F-48E6-B2C7-473ED3815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Apresentação no Ecrã (16:9)</PresentationFormat>
  <Paragraphs>130</Paragraphs>
  <Slides>28</Slides>
  <Notes>7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28</vt:i4>
      </vt:variant>
    </vt:vector>
  </HeadingPairs>
  <TitlesOfParts>
    <vt:vector size="34" baseType="lpstr">
      <vt:lpstr>Lexend</vt:lpstr>
      <vt:lpstr>Wingdings</vt:lpstr>
      <vt:lpstr>Nunito Light</vt:lpstr>
      <vt:lpstr>Arial</vt:lpstr>
      <vt:lpstr>Reem Kufi</vt:lpstr>
      <vt:lpstr>White Formal Business Plan by Slidesgo</vt:lpstr>
      <vt:lpstr>HCI – Assignment 2 2025/2026</vt:lpstr>
      <vt:lpstr>Overview do Assignment 1</vt:lpstr>
      <vt:lpstr>O Problema</vt:lpstr>
      <vt:lpstr>Personas                                          </vt:lpstr>
      <vt:lpstr>Personas                                          </vt:lpstr>
      <vt:lpstr>Requisitos Principais</vt:lpstr>
      <vt:lpstr>Requisitos Principais;</vt:lpstr>
      <vt:lpstr>Requisitos Principais;</vt:lpstr>
      <vt:lpstr>Protótipo de baixa fidelidade </vt:lpstr>
      <vt:lpstr>Apresentação do PowerPoint</vt:lpstr>
      <vt:lpstr>Apresentação do PowerPoint</vt:lpstr>
      <vt:lpstr>Apresentação do PowerPoint</vt:lpstr>
      <vt:lpstr>Avaliação do Protótipo de Baixa Fidelidade</vt:lpstr>
      <vt:lpstr>Avaliação do Protótipo de Baixa Fidelidade</vt:lpstr>
      <vt:lpstr>Ferramentas e Tecnologias</vt:lpstr>
      <vt:lpstr>Ferramentas e Tecnologias </vt:lpstr>
      <vt:lpstr>Protótipo de alta Fidelidade</vt:lpstr>
      <vt:lpstr>Apresentação do PowerPoint</vt:lpstr>
      <vt:lpstr>Demo</vt:lpstr>
      <vt:lpstr>Apresentação do PowerPoint</vt:lpstr>
      <vt:lpstr>Avaliação do Protótipo de Alta Fidelidade</vt:lpstr>
      <vt:lpstr>Apresentação do PowerPoint</vt:lpstr>
      <vt:lpstr>Apresentação do PowerPoint</vt:lpstr>
      <vt:lpstr>Apresentação do PowerPoint</vt:lpstr>
      <vt:lpstr>Apresentação do PowerPoint</vt:lpstr>
      <vt:lpstr>Trabalho Futuro</vt:lpstr>
      <vt:lpstr>Ideias para o futuro:</vt:lpstr>
      <vt:lpstr>Avaliação do Grupo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Paulo Lacerda</dc:creator>
  <cp:lastModifiedBy>Paulo Lacerda</cp:lastModifiedBy>
  <cp:revision>1</cp:revision>
  <dcterms:modified xsi:type="dcterms:W3CDTF">2026-05-24T21:46:45Z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0x01010046025EC9BCC6B644906A0CA4F72FA90E</vt:lpwstr>
  </property>
</Properties>
</file>