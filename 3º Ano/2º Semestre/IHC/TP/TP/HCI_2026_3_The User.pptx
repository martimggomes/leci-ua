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ppt/comments/comment2.xml" ContentType="application/vnd.openxmlformats-officedocument.presentationml.comments+xml"/>
  <Override PartName="/ppt/notesSlides/notesSlide9.xml" ContentType="application/vnd.openxmlformats-officedocument.presentationml.notesSlide+xml"/>
  <Override PartName="/ppt/comments/comment3.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4.xml" ContentType="application/vnd.openxmlformats-officedocument.presentationml.comments+xml"/>
  <Override PartName="/ppt/notesSlides/notesSlide13.xml" ContentType="application/vnd.openxmlformats-officedocument.presentationml.notesSlid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6.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2"/>
  </p:notesMasterIdLst>
  <p:handoutMasterIdLst>
    <p:handoutMasterId r:id="rId73"/>
  </p:handoutMasterIdLst>
  <p:sldIdLst>
    <p:sldId id="367" r:id="rId5"/>
    <p:sldId id="543" r:id="rId6"/>
    <p:sldId id="503" r:id="rId7"/>
    <p:sldId id="448" r:id="rId8"/>
    <p:sldId id="366" r:id="rId9"/>
    <p:sldId id="285" r:id="rId10"/>
    <p:sldId id="523" r:id="rId11"/>
    <p:sldId id="535" r:id="rId12"/>
    <p:sldId id="504" r:id="rId13"/>
    <p:sldId id="369" r:id="rId14"/>
    <p:sldId id="506" r:id="rId15"/>
    <p:sldId id="507" r:id="rId16"/>
    <p:sldId id="508" r:id="rId17"/>
    <p:sldId id="539" r:id="rId18"/>
    <p:sldId id="282" r:id="rId19"/>
    <p:sldId id="540" r:id="rId20"/>
    <p:sldId id="487" r:id="rId21"/>
    <p:sldId id="370" r:id="rId22"/>
    <p:sldId id="473" r:id="rId23"/>
    <p:sldId id="529" r:id="rId24"/>
    <p:sldId id="500" r:id="rId25"/>
    <p:sldId id="501" r:id="rId26"/>
    <p:sldId id="495" r:id="rId27"/>
    <p:sldId id="510" r:id="rId28"/>
    <p:sldId id="511" r:id="rId29"/>
    <p:sldId id="524" r:id="rId30"/>
    <p:sldId id="512" r:id="rId31"/>
    <p:sldId id="674" r:id="rId32"/>
    <p:sldId id="363" r:id="rId33"/>
    <p:sldId id="494" r:id="rId34"/>
    <p:sldId id="513" r:id="rId35"/>
    <p:sldId id="514" r:id="rId36"/>
    <p:sldId id="477" r:id="rId37"/>
    <p:sldId id="483" r:id="rId38"/>
    <p:sldId id="497" r:id="rId39"/>
    <p:sldId id="364" r:id="rId40"/>
    <p:sldId id="518" r:id="rId41"/>
    <p:sldId id="519" r:id="rId42"/>
    <p:sldId id="493" r:id="rId43"/>
    <p:sldId id="365" r:id="rId44"/>
    <p:sldId id="484" r:id="rId45"/>
    <p:sldId id="525" r:id="rId46"/>
    <p:sldId id="526" r:id="rId47"/>
    <p:sldId id="527" r:id="rId48"/>
    <p:sldId id="517" r:id="rId49"/>
    <p:sldId id="499" r:id="rId50"/>
    <p:sldId id="485" r:id="rId51"/>
    <p:sldId id="676" r:id="rId52"/>
    <p:sldId id="304" r:id="rId53"/>
    <p:sldId id="458" r:id="rId54"/>
    <p:sldId id="286" r:id="rId55"/>
    <p:sldId id="541" r:id="rId56"/>
    <p:sldId id="542" r:id="rId57"/>
    <p:sldId id="462" r:id="rId58"/>
    <p:sldId id="534" r:id="rId59"/>
    <p:sldId id="463" r:id="rId60"/>
    <p:sldId id="416" r:id="rId61"/>
    <p:sldId id="289" r:id="rId62"/>
    <p:sldId id="675" r:id="rId63"/>
    <p:sldId id="258" r:id="rId64"/>
    <p:sldId id="320" r:id="rId65"/>
    <p:sldId id="536" r:id="rId66"/>
    <p:sldId id="537" r:id="rId67"/>
    <p:sldId id="538" r:id="rId68"/>
    <p:sldId id="496" r:id="rId69"/>
    <p:sldId id="427" r:id="rId70"/>
    <p:sldId id="531" r:id="rId71"/>
  </p:sldIdLst>
  <p:sldSz cx="9144000" cy="6858000" type="screen4x3"/>
  <p:notesSz cx="7099300" cy="10234613"/>
  <p:defaultTextStyle>
    <a:defPPr>
      <a:defRPr lang="en-GB"/>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atriz" initials="B" lastIdx="22" clrIdx="0"/>
  <p:cmAuthor id="2" name="bss-ieeta" initials="b" lastIdx="13" clrIdx="1"/>
  <p:cmAuthor id="3" name="Beatriz" initials="BSS" lastIdx="2"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Destaqu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1622" autoAdjust="0"/>
  </p:normalViewPr>
  <p:slideViewPr>
    <p:cSldViewPr>
      <p:cViewPr varScale="1">
        <p:scale>
          <a:sx n="62" d="100"/>
          <a:sy n="62" d="100"/>
        </p:scale>
        <p:origin x="1372"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92"/>
    </p:cViewPr>
  </p:notesTextViewPr>
  <p:sorterViewPr>
    <p:cViewPr>
      <p:scale>
        <a:sx n="113" d="100"/>
        <a:sy n="113" d="100"/>
      </p:scale>
      <p:origin x="0" y="-204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commentAuthors" Target="commentAuthors.xml"/><Relationship Id="rId79"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atriz Sousa Santos" userId="6d2f969a-6583-4bd3-85f2-fe9e3729cd33" providerId="ADAL" clId="{94379753-4A8A-488F-A22E-E04176D1C2A5}"/>
    <pc:docChg chg="delSld modSld sldOrd">
      <pc:chgData name="Beatriz Sousa Santos" userId="6d2f969a-6583-4bd3-85f2-fe9e3729cd33" providerId="ADAL" clId="{94379753-4A8A-488F-A22E-E04176D1C2A5}" dt="2026-01-20T11:52:52.244" v="83"/>
      <pc:docMkLst>
        <pc:docMk/>
      </pc:docMkLst>
      <pc:sldChg chg="modSp">
        <pc:chgData name="Beatriz Sousa Santos" userId="6d2f969a-6583-4bd3-85f2-fe9e3729cd33" providerId="ADAL" clId="{94379753-4A8A-488F-A22E-E04176D1C2A5}" dt="2026-01-20T11:49:15.894" v="81" actId="20577"/>
        <pc:sldMkLst>
          <pc:docMk/>
          <pc:sldMk cId="0" sldId="289"/>
        </pc:sldMkLst>
        <pc:spChg chg="mod">
          <ac:chgData name="Beatriz Sousa Santos" userId="6d2f969a-6583-4bd3-85f2-fe9e3729cd33" providerId="ADAL" clId="{94379753-4A8A-488F-A22E-E04176D1C2A5}" dt="2026-01-20T11:49:15.894" v="81" actId="20577"/>
          <ac:spMkLst>
            <pc:docMk/>
            <pc:sldMk cId="0" sldId="289"/>
            <ac:spMk id="41988" creationId="{08B9219F-D4B2-4E97-B2C0-D4397E2D9B86}"/>
          </ac:spMkLst>
        </pc:spChg>
      </pc:sldChg>
      <pc:sldChg chg="modSp">
        <pc:chgData name="Beatriz Sousa Santos" userId="6d2f969a-6583-4bd3-85f2-fe9e3729cd33" providerId="ADAL" clId="{94379753-4A8A-488F-A22E-E04176D1C2A5}" dt="2026-01-20T11:29:33.300" v="1" actId="20577"/>
        <pc:sldMkLst>
          <pc:docMk/>
          <pc:sldMk cId="0" sldId="367"/>
        </pc:sldMkLst>
        <pc:spChg chg="mod">
          <ac:chgData name="Beatriz Sousa Santos" userId="6d2f969a-6583-4bd3-85f2-fe9e3729cd33" providerId="ADAL" clId="{94379753-4A8A-488F-A22E-E04176D1C2A5}" dt="2026-01-20T11:29:33.300" v="1" actId="20577"/>
          <ac:spMkLst>
            <pc:docMk/>
            <pc:sldMk cId="0" sldId="367"/>
            <ac:spMk id="4103" creationId="{32513DBD-3242-4410-B457-3676A6147832}"/>
          </ac:spMkLst>
        </pc:spChg>
      </pc:sldChg>
      <pc:sldChg chg="ord">
        <pc:chgData name="Beatriz Sousa Santos" userId="6d2f969a-6583-4bd3-85f2-fe9e3729cd33" providerId="ADAL" clId="{94379753-4A8A-488F-A22E-E04176D1C2A5}" dt="2026-01-20T11:52:52.244" v="83"/>
        <pc:sldMkLst>
          <pc:docMk/>
          <pc:sldMk cId="3774437876" sldId="543"/>
        </pc:sldMkLst>
      </pc:sldChg>
    </pc:docChg>
  </pc:docChgLst>
  <pc:docChgLst>
    <pc:chgData name="Beatriz Sousa Santos" userId="6d2f969a-6583-4bd3-85f2-fe9e3729cd33" providerId="ADAL" clId="{0FE014BD-B326-4C2E-AEA4-3883863445FD}"/>
    <pc:docChg chg="custSel modSld">
      <pc:chgData name="Beatriz Sousa Santos" userId="6d2f969a-6583-4bd3-85f2-fe9e3729cd33" providerId="ADAL" clId="{0FE014BD-B326-4C2E-AEA4-3883863445FD}" dt="2026-02-25T22:53:52.522" v="57" actId="20577"/>
      <pc:docMkLst>
        <pc:docMk/>
      </pc:docMkLst>
      <pc:sldChg chg="modSp">
        <pc:chgData name="Beatriz Sousa Santos" userId="6d2f969a-6583-4bd3-85f2-fe9e3729cd33" providerId="ADAL" clId="{0FE014BD-B326-4C2E-AEA4-3883863445FD}" dt="2026-02-20T09:48:52.519" v="52" actId="113"/>
        <pc:sldMkLst>
          <pc:docMk/>
          <pc:sldMk cId="2429754552" sldId="484"/>
        </pc:sldMkLst>
        <pc:spChg chg="mod">
          <ac:chgData name="Beatriz Sousa Santos" userId="6d2f969a-6583-4bd3-85f2-fe9e3729cd33" providerId="ADAL" clId="{0FE014BD-B326-4C2E-AEA4-3883863445FD}" dt="2026-02-20T09:48:52.519" v="52" actId="113"/>
          <ac:spMkLst>
            <pc:docMk/>
            <pc:sldMk cId="2429754552" sldId="484"/>
            <ac:spMk id="61442" creationId="{AC71D79F-A04C-4DF1-A19E-51B1B0ABEEB8}"/>
          </ac:spMkLst>
        </pc:spChg>
        <pc:spChg chg="mod">
          <ac:chgData name="Beatriz Sousa Santos" userId="6d2f969a-6583-4bd3-85f2-fe9e3729cd33" providerId="ADAL" clId="{0FE014BD-B326-4C2E-AEA4-3883863445FD}" dt="2026-02-20T09:48:42.009" v="51" actId="20577"/>
          <ac:spMkLst>
            <pc:docMk/>
            <pc:sldMk cId="2429754552" sldId="484"/>
            <ac:spMk id="61445" creationId="{32E830BB-4F6A-4A56-AE0F-7B07FD019DD6}"/>
          </ac:spMkLst>
        </pc:spChg>
      </pc:sldChg>
      <pc:sldChg chg="addSp modSp">
        <pc:chgData name="Beatriz Sousa Santos" userId="6d2f969a-6583-4bd3-85f2-fe9e3729cd33" providerId="ADAL" clId="{0FE014BD-B326-4C2E-AEA4-3883863445FD}" dt="2026-02-20T09:44:40.502" v="47" actId="790"/>
        <pc:sldMkLst>
          <pc:docMk/>
          <pc:sldMk cId="0" sldId="500"/>
        </pc:sldMkLst>
        <pc:spChg chg="add mod">
          <ac:chgData name="Beatriz Sousa Santos" userId="6d2f969a-6583-4bd3-85f2-fe9e3729cd33" providerId="ADAL" clId="{0FE014BD-B326-4C2E-AEA4-3883863445FD}" dt="2026-02-20T09:44:07.241" v="18" actId="1038"/>
          <ac:spMkLst>
            <pc:docMk/>
            <pc:sldMk cId="0" sldId="500"/>
            <ac:spMk id="2" creationId="{035C5A9E-0BEA-470F-90F2-F960B035D7CE}"/>
          </ac:spMkLst>
        </pc:spChg>
        <pc:spChg chg="add mod">
          <ac:chgData name="Beatriz Sousa Santos" userId="6d2f969a-6583-4bd3-85f2-fe9e3729cd33" providerId="ADAL" clId="{0FE014BD-B326-4C2E-AEA4-3883863445FD}" dt="2026-02-20T09:44:40.502" v="47" actId="790"/>
          <ac:spMkLst>
            <pc:docMk/>
            <pc:sldMk cId="0" sldId="500"/>
            <ac:spMk id="12" creationId="{7D01DAFF-FC53-463E-B9E3-D6E020A3804A}"/>
          </ac:spMkLst>
        </pc:spChg>
        <pc:spChg chg="mod">
          <ac:chgData name="Beatriz Sousa Santos" userId="6d2f969a-6583-4bd3-85f2-fe9e3729cd33" providerId="ADAL" clId="{0FE014BD-B326-4C2E-AEA4-3883863445FD}" dt="2026-02-20T09:43:49.961" v="13" actId="1076"/>
          <ac:spMkLst>
            <pc:docMk/>
            <pc:sldMk cId="0" sldId="500"/>
            <ac:spMk id="28678" creationId="{810C7CE7-6875-491A-A83B-D9D922E2B13A}"/>
          </ac:spMkLst>
        </pc:spChg>
      </pc:sldChg>
      <pc:sldChg chg="delSp">
        <pc:chgData name="Beatriz Sousa Santos" userId="6d2f969a-6583-4bd3-85f2-fe9e3729cd33" providerId="ADAL" clId="{0FE014BD-B326-4C2E-AEA4-3883863445FD}" dt="2026-02-20T09:45:37.227" v="48" actId="478"/>
        <pc:sldMkLst>
          <pc:docMk/>
          <pc:sldMk cId="0" sldId="501"/>
        </pc:sldMkLst>
        <pc:spChg chg="del">
          <ac:chgData name="Beatriz Sousa Santos" userId="6d2f969a-6583-4bd3-85f2-fe9e3729cd33" providerId="ADAL" clId="{0FE014BD-B326-4C2E-AEA4-3883863445FD}" dt="2026-02-20T09:45:37.227" v="48" actId="478"/>
          <ac:spMkLst>
            <pc:docMk/>
            <pc:sldMk cId="0" sldId="501"/>
            <ac:spMk id="32778" creationId="{8DFC90E6-F4F9-48E0-BB11-7AEC001F67B8}"/>
          </ac:spMkLst>
        </pc:spChg>
      </pc:sldChg>
      <pc:sldChg chg="modSp">
        <pc:chgData name="Beatriz Sousa Santos" userId="6d2f969a-6583-4bd3-85f2-fe9e3729cd33" providerId="ADAL" clId="{0FE014BD-B326-4C2E-AEA4-3883863445FD}" dt="2026-02-19T10:44:45.765" v="1" actId="20577"/>
        <pc:sldMkLst>
          <pc:docMk/>
          <pc:sldMk cId="0" sldId="517"/>
        </pc:sldMkLst>
        <pc:spChg chg="mod">
          <ac:chgData name="Beatriz Sousa Santos" userId="6d2f969a-6583-4bd3-85f2-fe9e3729cd33" providerId="ADAL" clId="{0FE014BD-B326-4C2E-AEA4-3883863445FD}" dt="2026-02-19T10:44:45.765" v="1" actId="20577"/>
          <ac:spMkLst>
            <pc:docMk/>
            <pc:sldMk cId="0" sldId="517"/>
            <ac:spMk id="64515" creationId="{73CDDFC8-7E43-428B-8AED-C5076DA683FE}"/>
          </ac:spMkLst>
        </pc:spChg>
      </pc:sldChg>
      <pc:sldChg chg="modSp modNotesTx">
        <pc:chgData name="Beatriz Sousa Santos" userId="6d2f969a-6583-4bd3-85f2-fe9e3729cd33" providerId="ADAL" clId="{0FE014BD-B326-4C2E-AEA4-3883863445FD}" dt="2026-02-25T22:53:52.522" v="57" actId="20577"/>
        <pc:sldMkLst>
          <pc:docMk/>
          <pc:sldMk cId="168562842" sldId="523"/>
        </pc:sldMkLst>
        <pc:spChg chg="mod">
          <ac:chgData name="Beatriz Sousa Santos" userId="6d2f969a-6583-4bd3-85f2-fe9e3729cd33" providerId="ADAL" clId="{0FE014BD-B326-4C2E-AEA4-3883863445FD}" dt="2026-02-25T22:53:17.427" v="56"/>
          <ac:spMkLst>
            <pc:docMk/>
            <pc:sldMk cId="168562842" sldId="523"/>
            <ac:spMk id="8204" creationId="{E04C713B-69E4-4F4D-86FF-3B187019F5AF}"/>
          </ac:spMkLst>
        </pc:spChg>
      </pc:sldChg>
      <pc:sldChg chg="modSp">
        <pc:chgData name="Beatriz Sousa Santos" userId="6d2f969a-6583-4bd3-85f2-fe9e3729cd33" providerId="ADAL" clId="{0FE014BD-B326-4C2E-AEA4-3883863445FD}" dt="2026-02-20T09:46:59.909" v="49" actId="6549"/>
        <pc:sldMkLst>
          <pc:docMk/>
          <pc:sldMk cId="3920079764" sldId="535"/>
        </pc:sldMkLst>
        <pc:spChg chg="mod">
          <ac:chgData name="Beatriz Sousa Santos" userId="6d2f969a-6583-4bd3-85f2-fe9e3729cd33" providerId="ADAL" clId="{0FE014BD-B326-4C2E-AEA4-3883863445FD}" dt="2026-02-20T09:46:59.909" v="49" actId="6549"/>
          <ac:spMkLst>
            <pc:docMk/>
            <pc:sldMk cId="3920079764" sldId="535"/>
            <ac:spMk id="10248" creationId="{628B4B42-1395-49EB-B95C-D061100539A8}"/>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13-03-03T23:44:21.290" idx="5">
    <p:pos x="10" y="-358"/>
    <p:text>Optical illusion« sounds pejorative, as if exposing a malfunction of the visual system. Rather, I view these phenomena as bringing out particular good adaptations of our visual system to standard viewing situations. These adaptations are »hard-wired« in our brains, and thus under some artificial manipulations can cause inappropriate interpretations of the visual scene.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13-03-03T23:44:21.290" idx="22">
    <p:pos x="10" y="-358"/>
    <p:text>Optical illusion« sounds pejorative, as if exposing a malfunction of the visual system. Rather, I view these phenomena as bringing out particular good adaptations of our visual system to standard viewing situations. These adaptations are »hard-wired« in our brains, and thus under some artificial manipulations can cause inappropriate interpretations of the visual scene. </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13-03-03T23:44:21.290" idx="19">
    <p:pos x="10" y="-358"/>
    <p:text>Optical illusion« sounds pejorative, as if exposing a malfunction of the visual system. Rather, I view these phenomena as bringing out particular good adaptations of our visual system to standard viewing situations. These adaptations are »hard-wired« in our brains, and thus under some artificial manipulations can cause inappropriate interpretations of the visual scene. </p:text>
  </p:cm>
</p:cmLst>
</file>

<file path=ppt/comments/comment4.xml><?xml version="1.0" encoding="utf-8"?>
<p:cmLst xmlns:a="http://schemas.openxmlformats.org/drawingml/2006/main" xmlns:r="http://schemas.openxmlformats.org/officeDocument/2006/relationships" xmlns:p="http://schemas.openxmlformats.org/presentationml/2006/main">
  <p:cm authorId="2" dt="2017-03-05T15:43:55.902" idx="7">
    <p:pos x="7041" y="75"/>
    <p:text>The Atkinson–Shiffrin model (also known as the multi-store model or modal model) is a model of memory proposed in 1968 by Richard Atkinson and Richard Shiffrin. ... a short-term store, also called working memory or short-term memory, which receives and holds input from both the sensory register and the long-term store, and.</p:text>
  </p:cm>
</p:cmLst>
</file>

<file path=ppt/comments/comment5.xml><?xml version="1.0" encoding="utf-8"?>
<p:cmLst xmlns:a="http://schemas.openxmlformats.org/drawingml/2006/main" xmlns:r="http://schemas.openxmlformats.org/officeDocument/2006/relationships" xmlns:p="http://schemas.openxmlformats.org/presentationml/2006/main">
  <p:cm authorId="2" dt="2017-03-06T16:45:28.204" idx="9">
    <p:pos x="146" y="146"/>
    <p:text>Chunking refers to an approach for making more efficient use of short-term memory by grouping information. Chunking breaks up long strings of information into units or chunks. The resulting chunks are easier to commit to memory than a longer uninterrupted string of information.</p:text>
  </p:cm>
  <p:cm authorId="2" dt="2017-03-06T17:01:53.696" idx="11">
    <p:pos x="10" y="10"/>
    <p:text>Short-term memory is the ability to remember information over a brief period of time (in the order of seconds).
is the capacity for holding a small amount of information in mind in an active, readily available state for a short period of time. The duration of short-term memory (when rehearsal or active maintenance is prevented) is believed to be in the order of seconds. A commonly cited capacity is 7 ± 2 elements. In contrast, long-term memory indefinitely stores a seemingly unlimited amount of information.
Short-term memory should be distinguished from working memory, which refers to structures and processes used for temporarily storing and manipulating information (see details below)
 Most theorists today use the concept of working memory to replace or include the older concept of short-term memory, thereby marking a stronger emphasis on the notion of manipulation of information instead of passive maintenance
Wikipedia</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13-03-01T23:26:46.753" idx="3">
    <p:pos x="10" y="10"/>
    <p:text>Inattentional blindness, also known as perceptual blindness, is failure to notice an unexpected stimulus that is in one's eyesight when other attention demanding tasks are being performed. Inattentional blindness is categorized as an attentional error and is not associated with any vision deficits. This typically happens because humans are overloaded with stimuli, and it is impossible to pay attention to all stimuli in one's environment. This is due to the fact that they are unaware of the unattended stimuli. Inattentional blindness also has an effect on people’s perception. There have been multiple experiments performed that demonstrate this phenomenon
Inattentional blindness is exploited by illusionists in the presentation of "magic shows" in the performance of some tricks by focusing the audience's attention upon some distracting element, away from elements of the scene under manipulation by the performer. This is called misdirection by magicians</p:text>
  </p:cm>
</p:cmLst>
</file>

<file path=ppt/drawings/_rels/vmlDrawing1.v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image" Target="../media/image2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F2883977-C342-470A-9A8F-D336E54A0F0F}"/>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latin typeface="Arial" charset="0"/>
                <a:cs typeface="+mn-cs"/>
              </a:defRPr>
            </a:lvl1pPr>
          </a:lstStyle>
          <a:p>
            <a:pPr>
              <a:defRPr/>
            </a:pPr>
            <a:endParaRPr lang="en-GB"/>
          </a:p>
        </p:txBody>
      </p:sp>
      <p:sp>
        <p:nvSpPr>
          <p:cNvPr id="93187" name="Rectangle 3">
            <a:extLst>
              <a:ext uri="{FF2B5EF4-FFF2-40B4-BE49-F238E27FC236}">
                <a16:creationId xmlns:a16="http://schemas.microsoft.com/office/drawing/2014/main" id="{DFC6ECFD-66B4-44B4-AFC8-D30AD966DFA2}"/>
              </a:ext>
            </a:extLst>
          </p:cNvPr>
          <p:cNvSpPr>
            <a:spLocks noGrp="1" noChangeArrowheads="1"/>
          </p:cNvSpPr>
          <p:nvPr>
            <p:ph type="dt" sz="quarter" idx="1"/>
          </p:nvPr>
        </p:nvSpPr>
        <p:spPr bwMode="auto">
          <a:xfrm>
            <a:off x="4022725"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latin typeface="Arial" charset="0"/>
                <a:cs typeface="+mn-cs"/>
              </a:defRPr>
            </a:lvl1pPr>
          </a:lstStyle>
          <a:p>
            <a:pPr>
              <a:defRPr/>
            </a:pPr>
            <a:endParaRPr lang="en-GB"/>
          </a:p>
        </p:txBody>
      </p:sp>
      <p:sp>
        <p:nvSpPr>
          <p:cNvPr id="93188" name="Rectangle 4">
            <a:extLst>
              <a:ext uri="{FF2B5EF4-FFF2-40B4-BE49-F238E27FC236}">
                <a16:creationId xmlns:a16="http://schemas.microsoft.com/office/drawing/2014/main" id="{812E79DF-7D15-497F-BAC9-DB11F64222A3}"/>
              </a:ext>
            </a:extLst>
          </p:cNvPr>
          <p:cNvSpPr>
            <a:spLocks noGrp="1" noChangeArrowheads="1"/>
          </p:cNvSpPr>
          <p:nvPr>
            <p:ph type="ftr" sz="quarter" idx="2"/>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latin typeface="Arial" charset="0"/>
                <a:cs typeface="+mn-cs"/>
              </a:defRPr>
            </a:lvl1pPr>
          </a:lstStyle>
          <a:p>
            <a:pPr>
              <a:defRPr/>
            </a:pPr>
            <a:endParaRPr lang="en-GB"/>
          </a:p>
        </p:txBody>
      </p:sp>
      <p:sp>
        <p:nvSpPr>
          <p:cNvPr id="93189" name="Rectangle 5">
            <a:extLst>
              <a:ext uri="{FF2B5EF4-FFF2-40B4-BE49-F238E27FC236}">
                <a16:creationId xmlns:a16="http://schemas.microsoft.com/office/drawing/2014/main" id="{8DA12D00-D062-489A-ADE0-FFC03F4D1BDF}"/>
              </a:ext>
            </a:extLst>
          </p:cNvPr>
          <p:cNvSpPr>
            <a:spLocks noGrp="1" noChangeArrowheads="1"/>
          </p:cNvSpPr>
          <p:nvPr>
            <p:ph type="sldNum" sz="quarter" idx="3"/>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F8505C4F-8DA4-47D8-898A-8EFEE08F4EA9}"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AF648A8-7651-4862-850E-F36E8340FCFE}"/>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b="0">
                <a:latin typeface="Arial" charset="0"/>
                <a:cs typeface="+mn-cs"/>
              </a:defRPr>
            </a:lvl1pPr>
          </a:lstStyle>
          <a:p>
            <a:pPr>
              <a:defRPr/>
            </a:pPr>
            <a:endParaRPr lang="en-GB"/>
          </a:p>
        </p:txBody>
      </p:sp>
      <p:sp>
        <p:nvSpPr>
          <p:cNvPr id="83971" name="Rectangle 3">
            <a:extLst>
              <a:ext uri="{FF2B5EF4-FFF2-40B4-BE49-F238E27FC236}">
                <a16:creationId xmlns:a16="http://schemas.microsoft.com/office/drawing/2014/main" id="{BC056A6A-D308-4A9A-9D64-B4D1FF755922}"/>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b="0">
                <a:latin typeface="Arial" charset="0"/>
                <a:cs typeface="+mn-cs"/>
              </a:defRPr>
            </a:lvl1pPr>
          </a:lstStyle>
          <a:p>
            <a:pPr>
              <a:defRPr/>
            </a:pPr>
            <a:endParaRPr lang="en-GB"/>
          </a:p>
        </p:txBody>
      </p:sp>
      <p:sp>
        <p:nvSpPr>
          <p:cNvPr id="2052" name="Rectangle 4">
            <a:extLst>
              <a:ext uri="{FF2B5EF4-FFF2-40B4-BE49-F238E27FC236}">
                <a16:creationId xmlns:a16="http://schemas.microsoft.com/office/drawing/2014/main" id="{E32D30E9-02D9-405E-8495-245FDA1C69F0}"/>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3" name="Rectangle 5">
            <a:extLst>
              <a:ext uri="{FF2B5EF4-FFF2-40B4-BE49-F238E27FC236}">
                <a16:creationId xmlns:a16="http://schemas.microsoft.com/office/drawing/2014/main" id="{B5E36FF5-18A7-4ADA-BF32-F4DD5722ED4E}"/>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n-GB" noProof="0"/>
              <a:t>Clique para editar os estilos de texto do modelo global</a:t>
            </a:r>
          </a:p>
          <a:p>
            <a:pPr lvl="1"/>
            <a:r>
              <a:rPr lang="en-GB" noProof="0"/>
              <a:t>Segundo nível</a:t>
            </a:r>
          </a:p>
          <a:p>
            <a:pPr lvl="2"/>
            <a:r>
              <a:rPr lang="en-GB" noProof="0"/>
              <a:t>Terceiro nível</a:t>
            </a:r>
          </a:p>
          <a:p>
            <a:pPr lvl="3"/>
            <a:r>
              <a:rPr lang="en-GB" noProof="0"/>
              <a:t>Quarto nível</a:t>
            </a:r>
          </a:p>
          <a:p>
            <a:pPr lvl="4"/>
            <a:r>
              <a:rPr lang="en-GB" noProof="0"/>
              <a:t>Quinto nível</a:t>
            </a:r>
          </a:p>
        </p:txBody>
      </p:sp>
      <p:sp>
        <p:nvSpPr>
          <p:cNvPr id="83974" name="Rectangle 6">
            <a:extLst>
              <a:ext uri="{FF2B5EF4-FFF2-40B4-BE49-F238E27FC236}">
                <a16:creationId xmlns:a16="http://schemas.microsoft.com/office/drawing/2014/main" id="{082789AE-7935-445A-9A84-9E293AF14321}"/>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b="0">
                <a:latin typeface="Arial" charset="0"/>
                <a:cs typeface="+mn-cs"/>
              </a:defRPr>
            </a:lvl1pPr>
          </a:lstStyle>
          <a:p>
            <a:pPr>
              <a:defRPr/>
            </a:pPr>
            <a:endParaRPr lang="en-GB"/>
          </a:p>
        </p:txBody>
      </p:sp>
      <p:sp>
        <p:nvSpPr>
          <p:cNvPr id="83975" name="Rectangle 7">
            <a:extLst>
              <a:ext uri="{FF2B5EF4-FFF2-40B4-BE49-F238E27FC236}">
                <a16:creationId xmlns:a16="http://schemas.microsoft.com/office/drawing/2014/main" id="{78B04FF9-3BF6-4666-8C8D-1209FA83E1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b="0"/>
            </a:lvl1pPr>
          </a:lstStyle>
          <a:p>
            <a:pPr>
              <a:defRPr/>
            </a:pPr>
            <a:fld id="{B2360A7B-8A39-4D47-97E4-9B44F73F9EA3}"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aS-vzPuZzuk"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billiondollargraphics.com/infographics.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Henry_Molaison"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tudy.com/academy/lesson/selective-attention-definition-examples-quiz.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45A39BC1-8410-42FC-9605-76C478DBA347}"/>
              </a:ext>
            </a:extLst>
          </p:cNvPr>
          <p:cNvSpPr>
            <a:spLocks noGrp="1" noRot="1" noChangeAspect="1" noChangeArrowheads="1" noTextEdit="1"/>
          </p:cNvSpPr>
          <p:nvPr>
            <p:ph type="sldImg"/>
          </p:nvPr>
        </p:nvSpPr>
        <p:spPr>
          <a:xfrm>
            <a:off x="992188" y="768350"/>
            <a:ext cx="5114925" cy="3836988"/>
          </a:xfrm>
          <a:ln/>
        </p:spPr>
      </p:sp>
      <p:sp>
        <p:nvSpPr>
          <p:cNvPr id="9219" name="Notes Placeholder 2">
            <a:extLst>
              <a:ext uri="{FF2B5EF4-FFF2-40B4-BE49-F238E27FC236}">
                <a16:creationId xmlns:a16="http://schemas.microsoft.com/office/drawing/2014/main" id="{76C64F6D-832F-46F9-A71F-A6B9F90047F7}"/>
              </a:ext>
            </a:extLst>
          </p:cNvPr>
          <p:cNvSpPr>
            <a:spLocks noGrp="1" noChangeArrowheads="1"/>
          </p:cNvSpPr>
          <p:nvPr>
            <p:ph type="body" idx="1"/>
          </p:nvPr>
        </p:nvSpPr>
        <p:spPr>
          <a:noFill/>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0" dirty="0">
                <a:hlinkClick r:id="rId3"/>
              </a:rPr>
              <a:t>https://www.youtube.com/watch?v=aS-vzPuZzuk</a:t>
            </a:r>
            <a:endParaRPr lang="en-US" altLang="en-US" sz="1200" b="0" dirty="0"/>
          </a:p>
          <a:p>
            <a:endParaRPr lang="en-US" altLang="en-US" dirty="0">
              <a:latin typeface="Arial" panose="020B0604020202020204" pitchFamily="34" charset="0"/>
            </a:endParaRPr>
          </a:p>
          <a:p>
            <a:r>
              <a:rPr lang="en-US" altLang="en-US" dirty="0">
                <a:latin typeface="Arial" panose="020B0604020202020204" pitchFamily="34" charset="0"/>
              </a:rPr>
              <a:t>When interpreted as a 3-dimensional scene, our visual system immediately estimates a lighting vector and uses this to judge the property of the material.</a:t>
            </a:r>
          </a:p>
          <a:p>
            <a:r>
              <a:rPr lang="en-US" altLang="en-US" dirty="0">
                <a:latin typeface="Arial" panose="020B0604020202020204" pitchFamily="34" charset="0"/>
              </a:rPr>
              <a:t> </a:t>
            </a:r>
          </a:p>
          <a:p>
            <a:r>
              <a:rPr lang="en-US" altLang="en-US" dirty="0">
                <a:latin typeface="Arial" panose="020B0604020202020204" pitchFamily="34" charset="0"/>
              </a:rPr>
              <a:t>This beautiful demonstration was published by Ted Adelson 1995, the original figure is found here, his explanation here.</a:t>
            </a:r>
          </a:p>
        </p:txBody>
      </p:sp>
      <p:sp>
        <p:nvSpPr>
          <p:cNvPr id="9220" name="Slide Number Placeholder 3">
            <a:extLst>
              <a:ext uri="{FF2B5EF4-FFF2-40B4-BE49-F238E27FC236}">
                <a16:creationId xmlns:a16="http://schemas.microsoft.com/office/drawing/2014/main" id="{408243F1-49E6-4697-AE1E-164846C6CE61}"/>
              </a:ext>
            </a:extLst>
          </p:cNvPr>
          <p:cNvSpPr>
            <a:spLocks noGrp="1"/>
          </p:cNvSpPr>
          <p:nvPr>
            <p:ph type="sldNum" sz="quarter" idx="5"/>
          </p:nvPr>
        </p:nvSpPr>
        <p:spPr>
          <a:noFill/>
        </p:spPr>
        <p:txBody>
          <a:bodyPr/>
          <a:lstStyle>
            <a:lvl1pPr defTabSz="990600">
              <a:defRPr b="1">
                <a:solidFill>
                  <a:schemeClr val="tx1"/>
                </a:solidFill>
                <a:latin typeface="Arial" panose="020B0604020202020204" pitchFamily="34" charset="0"/>
                <a:cs typeface="Arial" panose="020B0604020202020204" pitchFamily="34" charset="0"/>
              </a:defRPr>
            </a:lvl1pPr>
            <a:lvl2pPr marL="742950" indent="-285750" defTabSz="990600">
              <a:defRPr b="1">
                <a:solidFill>
                  <a:schemeClr val="tx1"/>
                </a:solidFill>
                <a:latin typeface="Arial" panose="020B0604020202020204" pitchFamily="34" charset="0"/>
                <a:cs typeface="Arial" panose="020B0604020202020204" pitchFamily="34" charset="0"/>
              </a:defRPr>
            </a:lvl2pPr>
            <a:lvl3pPr marL="1143000" indent="-228600" defTabSz="990600">
              <a:defRPr b="1">
                <a:solidFill>
                  <a:schemeClr val="tx1"/>
                </a:solidFill>
                <a:latin typeface="Arial" panose="020B0604020202020204" pitchFamily="34" charset="0"/>
                <a:cs typeface="Arial" panose="020B0604020202020204" pitchFamily="34" charset="0"/>
              </a:defRPr>
            </a:lvl3pPr>
            <a:lvl4pPr marL="1600200" indent="-228600" defTabSz="990600">
              <a:defRPr b="1">
                <a:solidFill>
                  <a:schemeClr val="tx1"/>
                </a:solidFill>
                <a:latin typeface="Arial" panose="020B0604020202020204" pitchFamily="34" charset="0"/>
                <a:cs typeface="Arial" panose="020B0604020202020204" pitchFamily="34" charset="0"/>
              </a:defRPr>
            </a:lvl4pPr>
            <a:lvl5pPr marL="2057400" indent="-228600" defTabSz="990600">
              <a:defRPr b="1">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fld id="{180DCEA2-B67D-4ED7-87BA-DE36BFF02CC8}" type="slidenum">
              <a:rPr lang="en-GB" altLang="en-US" b="0" smtClean="0"/>
              <a:pPr/>
              <a:t>7</a:t>
            </a:fld>
            <a:endParaRPr lang="en-GB" altLang="en-US" b="0"/>
          </a:p>
        </p:txBody>
      </p:sp>
    </p:spTree>
    <p:extLst>
      <p:ext uri="{BB962C8B-B14F-4D97-AF65-F5344CB8AC3E}">
        <p14:creationId xmlns:p14="http://schemas.microsoft.com/office/powerpoint/2010/main" val="1334919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EC40EA6E-7D4E-4601-94D1-516851BB3F04}"/>
              </a:ext>
            </a:extLst>
          </p:cNvPr>
          <p:cNvSpPr>
            <a:spLocks noGrp="1" noRot="1" noChangeAspect="1" noChangeArrowheads="1" noTextEdit="1"/>
          </p:cNvSpPr>
          <p:nvPr>
            <p:ph type="sldImg"/>
          </p:nvPr>
        </p:nvSpPr>
        <p:spPr>
          <a:xfrm>
            <a:off x="992188" y="768350"/>
            <a:ext cx="5114925" cy="3836988"/>
          </a:xfrm>
          <a:ln/>
        </p:spPr>
      </p:sp>
      <p:sp>
        <p:nvSpPr>
          <p:cNvPr id="11267" name="Notes Placeholder 2">
            <a:extLst>
              <a:ext uri="{FF2B5EF4-FFF2-40B4-BE49-F238E27FC236}">
                <a16:creationId xmlns:a16="http://schemas.microsoft.com/office/drawing/2014/main" id="{B0EB3FC7-33E0-4245-B30A-EE0F052BBE40}"/>
              </a:ext>
            </a:extLst>
          </p:cNvPr>
          <p:cNvSpPr>
            <a:spLocks noGrp="1" noChangeArrowheads="1"/>
          </p:cNvSpPr>
          <p:nvPr>
            <p:ph type="body" idx="1"/>
          </p:nvPr>
        </p:nvSpPr>
        <p:spPr>
          <a:noFill/>
        </p:spPr>
        <p:txBody>
          <a:bodyPr/>
          <a:lstStyle/>
          <a:p>
            <a:r>
              <a:rPr lang="en-US" altLang="en-US">
                <a:latin typeface="Arial" panose="020B0604020202020204" pitchFamily="34" charset="0"/>
              </a:rPr>
              <a:t>When interpreted as a 3-dimensional scene, our visual system immediately estimates a lighting vector and uses this to judge the property of the material.</a:t>
            </a:r>
          </a:p>
          <a:p>
            <a:r>
              <a:rPr lang="en-US" altLang="en-US">
                <a:latin typeface="Arial" panose="020B0604020202020204" pitchFamily="34" charset="0"/>
              </a:rPr>
              <a:t> </a:t>
            </a:r>
          </a:p>
          <a:p>
            <a:r>
              <a:rPr lang="en-US" altLang="en-US">
                <a:latin typeface="Arial" panose="020B0604020202020204" pitchFamily="34" charset="0"/>
              </a:rPr>
              <a:t>This beautiful demonstration was published by Ted Adelson 1995, the original figure is found here, his explanation here.</a:t>
            </a:r>
          </a:p>
        </p:txBody>
      </p:sp>
      <p:sp>
        <p:nvSpPr>
          <p:cNvPr id="11268" name="Slide Number Placeholder 3">
            <a:extLst>
              <a:ext uri="{FF2B5EF4-FFF2-40B4-BE49-F238E27FC236}">
                <a16:creationId xmlns:a16="http://schemas.microsoft.com/office/drawing/2014/main" id="{5E58AF7A-BFFA-4A98-B30D-56AA0DAD82F1}"/>
              </a:ext>
            </a:extLst>
          </p:cNvPr>
          <p:cNvSpPr>
            <a:spLocks noGrp="1"/>
          </p:cNvSpPr>
          <p:nvPr>
            <p:ph type="sldNum" sz="quarter" idx="5"/>
          </p:nvPr>
        </p:nvSpPr>
        <p:spPr>
          <a:noFill/>
        </p:spPr>
        <p:txBody>
          <a:bodyPr/>
          <a:lstStyle>
            <a:lvl1pPr defTabSz="990600">
              <a:defRPr b="1">
                <a:solidFill>
                  <a:schemeClr val="tx1"/>
                </a:solidFill>
                <a:latin typeface="Arial" panose="020B0604020202020204" pitchFamily="34" charset="0"/>
                <a:cs typeface="Arial" panose="020B0604020202020204" pitchFamily="34" charset="0"/>
              </a:defRPr>
            </a:lvl1pPr>
            <a:lvl2pPr marL="742950" indent="-285750" defTabSz="990600">
              <a:defRPr b="1">
                <a:solidFill>
                  <a:schemeClr val="tx1"/>
                </a:solidFill>
                <a:latin typeface="Arial" panose="020B0604020202020204" pitchFamily="34" charset="0"/>
                <a:cs typeface="Arial" panose="020B0604020202020204" pitchFamily="34" charset="0"/>
              </a:defRPr>
            </a:lvl2pPr>
            <a:lvl3pPr marL="1143000" indent="-228600" defTabSz="990600">
              <a:defRPr b="1">
                <a:solidFill>
                  <a:schemeClr val="tx1"/>
                </a:solidFill>
                <a:latin typeface="Arial" panose="020B0604020202020204" pitchFamily="34" charset="0"/>
                <a:cs typeface="Arial" panose="020B0604020202020204" pitchFamily="34" charset="0"/>
              </a:defRPr>
            </a:lvl3pPr>
            <a:lvl4pPr marL="1600200" indent="-228600" defTabSz="990600">
              <a:defRPr b="1">
                <a:solidFill>
                  <a:schemeClr val="tx1"/>
                </a:solidFill>
                <a:latin typeface="Arial" panose="020B0604020202020204" pitchFamily="34" charset="0"/>
                <a:cs typeface="Arial" panose="020B0604020202020204" pitchFamily="34" charset="0"/>
              </a:defRPr>
            </a:lvl4pPr>
            <a:lvl5pPr marL="2057400" indent="-228600" defTabSz="990600">
              <a:defRPr b="1">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fld id="{FEDB4767-81CC-43EA-9BEC-F0C0892F9E41}" type="slidenum">
              <a:rPr lang="en-GB" altLang="en-US" b="0" smtClean="0"/>
              <a:pPr/>
              <a:t>8</a:t>
            </a:fld>
            <a:endParaRPr lang="en-GB" altLang="en-US" b="0"/>
          </a:p>
        </p:txBody>
      </p:sp>
    </p:spTree>
    <p:extLst>
      <p:ext uri="{BB962C8B-B14F-4D97-AF65-F5344CB8AC3E}">
        <p14:creationId xmlns:p14="http://schemas.microsoft.com/office/powerpoint/2010/main" val="406709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49C1A5B-F044-460B-9EF4-B5635802F46A}"/>
              </a:ext>
            </a:extLst>
          </p:cNvPr>
          <p:cNvSpPr>
            <a:spLocks noGrp="1" noRot="1" noChangeAspect="1" noChangeArrowheads="1" noTextEdit="1"/>
          </p:cNvSpPr>
          <p:nvPr>
            <p:ph type="sldImg"/>
          </p:nvPr>
        </p:nvSpPr>
        <p:spPr>
          <a:xfrm>
            <a:off x="992188" y="768350"/>
            <a:ext cx="5114925" cy="3836988"/>
          </a:xfrm>
          <a:ln/>
        </p:spPr>
      </p:sp>
      <p:sp>
        <p:nvSpPr>
          <p:cNvPr id="19459" name="Notes Placeholder 2">
            <a:extLst>
              <a:ext uri="{FF2B5EF4-FFF2-40B4-BE49-F238E27FC236}">
                <a16:creationId xmlns:a16="http://schemas.microsoft.com/office/drawing/2014/main" id="{C4CF0966-48BE-4B0E-9C33-DC0D72F7F53A}"/>
              </a:ext>
            </a:extLst>
          </p:cNvPr>
          <p:cNvSpPr>
            <a:spLocks noGrp="1" noChangeArrowheads="1"/>
          </p:cNvSpPr>
          <p:nvPr>
            <p:ph type="body" idx="1"/>
          </p:nvPr>
        </p:nvSpPr>
        <p:spPr>
          <a:noFill/>
        </p:spPr>
        <p:txBody>
          <a:bodyPr/>
          <a:lstStyle/>
          <a:p>
            <a:r>
              <a:rPr lang="pt-PT" altLang="en-US">
                <a:latin typeface="Arial" panose="020B0604020202020204" pitchFamily="34" charset="0"/>
              </a:rPr>
              <a:t>D. MaCandless: The beauty of data visualization TED Talk, 2013</a:t>
            </a:r>
          </a:p>
          <a:p>
            <a:r>
              <a:rPr lang="pt-PT" altLang="en-US">
                <a:latin typeface="Arial" panose="020B0604020202020204" pitchFamily="34" charset="0"/>
              </a:rPr>
              <a:t>FAST – Revisit later – Sight orders operates at faster orders of magnitude</a:t>
            </a:r>
          </a:p>
          <a:p>
            <a:r>
              <a:rPr lang="en-GB" altLang="en-US">
                <a:latin typeface="Arial" panose="020B0604020202020204" pitchFamily="34" charset="0"/>
              </a:rPr>
              <a:t>If you compare sight with the next strongest sense touch, the processing speed of sight is 10 times faster. </a:t>
            </a:r>
          </a:p>
          <a:p>
            <a:r>
              <a:rPr lang="en-GB" altLang="en-US">
                <a:latin typeface="Arial" panose="020B0604020202020204" pitchFamily="34" charset="0"/>
              </a:rPr>
              <a:t>Factoring in the mind’s ability to process </a:t>
            </a:r>
            <a:r>
              <a:rPr lang="en-GB" altLang="en-US">
                <a:latin typeface="Arial" panose="020B0604020202020204" pitchFamily="34" charset="0"/>
                <a:hlinkClick r:id="rId3"/>
              </a:rPr>
              <a:t>visual information 60,000 times faster</a:t>
            </a:r>
            <a:r>
              <a:rPr lang="en-GB" altLang="en-US">
                <a:latin typeface="Arial" panose="020B0604020202020204" pitchFamily="34" charset="0"/>
              </a:rPr>
              <a:t> and with greater understanding than text, you get a mind and eye network that’s primed and ready for data visualization and infographics.</a:t>
            </a:r>
          </a:p>
          <a:p>
            <a:endParaRPr lang="en-GB" altLang="en-US">
              <a:latin typeface="Arial" panose="020B0604020202020204" pitchFamily="34" charset="0"/>
            </a:endParaRPr>
          </a:p>
        </p:txBody>
      </p:sp>
      <p:sp>
        <p:nvSpPr>
          <p:cNvPr id="19460" name="Slide Number Placeholder 3">
            <a:extLst>
              <a:ext uri="{FF2B5EF4-FFF2-40B4-BE49-F238E27FC236}">
                <a16:creationId xmlns:a16="http://schemas.microsoft.com/office/drawing/2014/main" id="{0633771E-5044-447B-AD04-F812C1D6F737}"/>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377C5D2-3713-47A1-BF08-88593266C126}" type="slidenum">
              <a:rPr lang="en-GB" altLang="en-US" sz="1300" smtClean="0"/>
              <a:pPr>
                <a:spcBef>
                  <a:spcPct val="0"/>
                </a:spcBef>
              </a:pPr>
              <a:t>12</a:t>
            </a:fld>
            <a:endParaRPr lang="en-GB" altLang="en-US"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Marcador de Posição da Imagem do Diapositivo 1">
            <a:extLst>
              <a:ext uri="{FF2B5EF4-FFF2-40B4-BE49-F238E27FC236}">
                <a16:creationId xmlns:a16="http://schemas.microsoft.com/office/drawing/2014/main" id="{4763B9B8-C9DB-4003-B4AA-D001B4D20A75}"/>
              </a:ext>
            </a:extLst>
          </p:cNvPr>
          <p:cNvSpPr>
            <a:spLocks noGrp="1" noRot="1" noChangeAspect="1" noChangeArrowheads="1" noTextEdit="1"/>
          </p:cNvSpPr>
          <p:nvPr>
            <p:ph type="sldImg"/>
          </p:nvPr>
        </p:nvSpPr>
        <p:spPr>
          <a:xfrm>
            <a:off x="992188" y="768350"/>
            <a:ext cx="5114925" cy="3836988"/>
          </a:xfrm>
          <a:ln/>
        </p:spPr>
      </p:sp>
      <p:sp>
        <p:nvSpPr>
          <p:cNvPr id="21507" name="Marcador de Posição de Notas 2">
            <a:extLst>
              <a:ext uri="{FF2B5EF4-FFF2-40B4-BE49-F238E27FC236}">
                <a16:creationId xmlns:a16="http://schemas.microsoft.com/office/drawing/2014/main" id="{1B2339F0-A514-4109-8A9E-09514C90CDE2}"/>
              </a:ext>
            </a:extLst>
          </p:cNvPr>
          <p:cNvSpPr>
            <a:spLocks noGrp="1" noChangeArrowheads="1"/>
          </p:cNvSpPr>
          <p:nvPr>
            <p:ph type="body" idx="1"/>
          </p:nvPr>
        </p:nvSpPr>
        <p:spPr>
          <a:noFill/>
        </p:spPr>
        <p:txBody>
          <a:bodyPr/>
          <a:lstStyle/>
          <a:p>
            <a:endParaRPr lang="en-US" altLang="en-US">
              <a:latin typeface="Arial" panose="020B0604020202020204" pitchFamily="34" charset="0"/>
            </a:endParaRPr>
          </a:p>
        </p:txBody>
      </p:sp>
      <p:sp>
        <p:nvSpPr>
          <p:cNvPr id="21508" name="Marcador de Posição do Número do Diapositivo 3">
            <a:extLst>
              <a:ext uri="{FF2B5EF4-FFF2-40B4-BE49-F238E27FC236}">
                <a16:creationId xmlns:a16="http://schemas.microsoft.com/office/drawing/2014/main" id="{D03A7BBD-5262-4C1D-AAA0-025087C75E7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B8E430E-2933-4FB7-BE72-8F8A4B208787}" type="slidenum">
              <a:rPr lang="en-GB" altLang="en-US" sz="1300" smtClean="0"/>
              <a:pPr>
                <a:spcBef>
                  <a:spcPct val="0"/>
                </a:spcBef>
              </a:pPr>
              <a:t>13</a:t>
            </a:fld>
            <a:endParaRPr lang="en-GB" altLang="en-US"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Marcador de Posição da Imagem do Diapositivo 1">
            <a:extLst>
              <a:ext uri="{FF2B5EF4-FFF2-40B4-BE49-F238E27FC236}">
                <a16:creationId xmlns:a16="http://schemas.microsoft.com/office/drawing/2014/main" id="{DD9B265E-1397-4A49-92A9-D7D84E06115E}"/>
              </a:ext>
            </a:extLst>
          </p:cNvPr>
          <p:cNvSpPr>
            <a:spLocks noGrp="1" noRot="1" noChangeAspect="1" noChangeArrowheads="1" noTextEdit="1"/>
          </p:cNvSpPr>
          <p:nvPr>
            <p:ph type="sldImg"/>
          </p:nvPr>
        </p:nvSpPr>
        <p:spPr>
          <a:xfrm>
            <a:off x="992188" y="768350"/>
            <a:ext cx="5114925" cy="3836988"/>
          </a:xfrm>
          <a:ln/>
        </p:spPr>
      </p:sp>
      <p:sp>
        <p:nvSpPr>
          <p:cNvPr id="71683" name="Marcador de Posição de Notas 2">
            <a:extLst>
              <a:ext uri="{FF2B5EF4-FFF2-40B4-BE49-F238E27FC236}">
                <a16:creationId xmlns:a16="http://schemas.microsoft.com/office/drawing/2014/main" id="{83846559-E992-4C9D-AC28-5C5737D9E509}"/>
              </a:ext>
            </a:extLst>
          </p:cNvPr>
          <p:cNvSpPr>
            <a:spLocks noGrp="1" noChangeArrowheads="1"/>
          </p:cNvSpPr>
          <p:nvPr>
            <p:ph type="body" idx="1"/>
          </p:nvPr>
        </p:nvSpPr>
        <p:spPr>
          <a:noFill/>
        </p:spPr>
        <p:txBody>
          <a:bodyPr/>
          <a:lstStyle/>
          <a:p>
            <a:r>
              <a:rPr lang="en-US" altLang="en-US">
                <a:latin typeface="Arial" panose="020B0604020202020204" pitchFamily="34" charset="0"/>
              </a:rPr>
              <a:t>The Ishihara Color Test is a test for red-green color deficiencies. It was named after its designer, Dr. Shinobu Ishihara, a professor at the University of Tokyo, who first published his tests in 1917. [1]</a:t>
            </a:r>
          </a:p>
          <a:p>
            <a:endParaRPr lang="en-US" altLang="en-US">
              <a:latin typeface="Arial" panose="020B0604020202020204" pitchFamily="34" charset="0"/>
            </a:endParaRPr>
          </a:p>
          <a:p>
            <a:r>
              <a:rPr lang="en-US" altLang="en-US">
                <a:latin typeface="Arial" panose="020B0604020202020204" pitchFamily="34" charset="0"/>
              </a:rPr>
              <a:t>The test consists of a number of colored plates, called Ishihara plates, each of which contain a circle of dots appearing randomized in color and size. Within the pattern are dots which form a number visible to those with normal color vision and invisible, or difficult to see, for those with a red-green color vision defect. The full test consists of 38 plates, but the existence of a deficiency is usually clear after a few plates. Testing the first 24 plates gives a more accurate diagnosis of the severity of the color vision defect.</a:t>
            </a:r>
          </a:p>
          <a:p>
            <a:endParaRPr lang="en-US" altLang="en-US">
              <a:latin typeface="Arial" panose="020B0604020202020204" pitchFamily="34" charset="0"/>
            </a:endParaRPr>
          </a:p>
          <a:p>
            <a:r>
              <a:rPr lang="en-US" altLang="en-US">
                <a:latin typeface="Arial" panose="020B0604020202020204" pitchFamily="34" charset="0"/>
              </a:rPr>
              <a:t>Common plates include a circle of dots in shades of green and light blues with a figure differentiated in shades of brown, or a circle of dots in shades of red, orange and yellow with a figure in shades of green; the first testing for protanopia and the second for deuteranopia.</a:t>
            </a:r>
          </a:p>
          <a:p>
            <a:endParaRPr lang="en-US" altLang="en-US">
              <a:latin typeface="Arial" panose="020B0604020202020204" pitchFamily="34" charset="0"/>
            </a:endParaRPr>
          </a:p>
        </p:txBody>
      </p:sp>
      <p:sp>
        <p:nvSpPr>
          <p:cNvPr id="71684" name="Marcador de Posição do Número do Diapositivo 3">
            <a:extLst>
              <a:ext uri="{FF2B5EF4-FFF2-40B4-BE49-F238E27FC236}">
                <a16:creationId xmlns:a16="http://schemas.microsoft.com/office/drawing/2014/main" id="{726388DE-A8A4-4A53-9EEA-8316024E95C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E0C0AF-DB0A-4416-8417-EFF57B36BCA0}" type="slidenum">
              <a:rPr lang="en-GB" altLang="en-US" sz="1300" smtClean="0"/>
              <a:pPr>
                <a:spcBef>
                  <a:spcPct val="0"/>
                </a:spcBef>
              </a:pPr>
              <a:t>17</a:t>
            </a:fld>
            <a:endParaRPr lang="en-GB" altLang="en-US" sz="1300"/>
          </a:p>
        </p:txBody>
      </p:sp>
    </p:spTree>
    <p:extLst>
      <p:ext uri="{BB962C8B-B14F-4D97-AF65-F5344CB8AC3E}">
        <p14:creationId xmlns:p14="http://schemas.microsoft.com/office/powerpoint/2010/main" val="787089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Marcador de Posição da Imagem do Diapositivo 1">
            <a:extLst>
              <a:ext uri="{FF2B5EF4-FFF2-40B4-BE49-F238E27FC236}">
                <a16:creationId xmlns:a16="http://schemas.microsoft.com/office/drawing/2014/main" id="{E5877679-C320-4C2A-B798-1571C55678E2}"/>
              </a:ext>
            </a:extLst>
          </p:cNvPr>
          <p:cNvSpPr>
            <a:spLocks noGrp="1" noRot="1" noChangeAspect="1" noChangeArrowheads="1" noTextEdit="1"/>
          </p:cNvSpPr>
          <p:nvPr>
            <p:ph type="sldImg"/>
          </p:nvPr>
        </p:nvSpPr>
        <p:spPr>
          <a:xfrm>
            <a:off x="992188" y="768350"/>
            <a:ext cx="5114925" cy="3836988"/>
          </a:xfrm>
          <a:ln/>
        </p:spPr>
      </p:sp>
      <p:sp>
        <p:nvSpPr>
          <p:cNvPr id="23555" name="Marcador de Posição de Notas 2">
            <a:extLst>
              <a:ext uri="{FF2B5EF4-FFF2-40B4-BE49-F238E27FC236}">
                <a16:creationId xmlns:a16="http://schemas.microsoft.com/office/drawing/2014/main" id="{CE98EC6D-17F1-4039-87D7-58D3B0747810}"/>
              </a:ext>
            </a:extLst>
          </p:cNvPr>
          <p:cNvSpPr>
            <a:spLocks noGrp="1" noChangeArrowheads="1"/>
          </p:cNvSpPr>
          <p:nvPr>
            <p:ph type="body" idx="1"/>
          </p:nvPr>
        </p:nvSpPr>
        <p:spPr>
          <a:noFill/>
        </p:spPr>
        <p:txBody>
          <a:bodyPr/>
          <a:lstStyle/>
          <a:p>
            <a:r>
              <a:rPr lang="en-US" altLang="en-US">
                <a:latin typeface="Arial" panose="020B0604020202020204" pitchFamily="34" charset="0"/>
              </a:rPr>
              <a:t>https://en.wikipedia.org/wiki/Pattern_recognition_(psychology)</a:t>
            </a:r>
          </a:p>
          <a:p>
            <a:r>
              <a:rPr lang="en-US" altLang="en-US">
                <a:latin typeface="Arial" panose="020B0604020202020204" pitchFamily="34" charset="0"/>
              </a:rPr>
              <a:t>In psychology and cognitive neuroscience, pattern recognition describes a cognitive process that matches information from a stimulus with information retrieved from memory.[1] Among others, the recognized patterns can be those perceived in facial features,[2] units of music,[3] components of language[4] or characters and other symbols.[1] One theory understands patterns as a set of characteristic features extracted from the stimulus, but it does not comprehensively describe the process or the role of context and there is a multitude of other theories with different approaches.[a] Pattern recognition does not occur instantly, although it does happen automatically and spontaneously.[citation needed] Pattern recognition is an innate ability of animals.</a:t>
            </a:r>
          </a:p>
        </p:txBody>
      </p:sp>
      <p:sp>
        <p:nvSpPr>
          <p:cNvPr id="23556" name="Marcador de Posição do Número do Diapositivo 3">
            <a:extLst>
              <a:ext uri="{FF2B5EF4-FFF2-40B4-BE49-F238E27FC236}">
                <a16:creationId xmlns:a16="http://schemas.microsoft.com/office/drawing/2014/main" id="{C9229160-9805-472C-BA55-04D8BE8DF11F}"/>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416E64A-A2C5-415A-A2FF-E189DF2C598C}" type="slidenum">
              <a:rPr lang="en-GB" altLang="en-US" sz="1300" smtClean="0"/>
              <a:pPr>
                <a:spcBef>
                  <a:spcPct val="0"/>
                </a:spcBef>
              </a:pPr>
              <a:t>18</a:t>
            </a:fld>
            <a:endParaRPr lang="en-GB" altLang="en-US"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Marcador de Posição da Imagem do Diapositivo 1">
            <a:extLst>
              <a:ext uri="{FF2B5EF4-FFF2-40B4-BE49-F238E27FC236}">
                <a16:creationId xmlns:a16="http://schemas.microsoft.com/office/drawing/2014/main" id="{06DED048-F582-4F2A-9A80-7E833B1E5910}"/>
              </a:ext>
            </a:extLst>
          </p:cNvPr>
          <p:cNvSpPr>
            <a:spLocks noGrp="1" noRot="1" noChangeAspect="1" noChangeArrowheads="1" noTextEdit="1"/>
          </p:cNvSpPr>
          <p:nvPr>
            <p:ph type="sldImg"/>
          </p:nvPr>
        </p:nvSpPr>
        <p:spPr>
          <a:xfrm>
            <a:off x="992188" y="768350"/>
            <a:ext cx="5114925" cy="3836988"/>
          </a:xfrm>
          <a:ln/>
        </p:spPr>
      </p:sp>
      <p:sp>
        <p:nvSpPr>
          <p:cNvPr id="25603" name="Marcador de Posição de Notas 2">
            <a:extLst>
              <a:ext uri="{FF2B5EF4-FFF2-40B4-BE49-F238E27FC236}">
                <a16:creationId xmlns:a16="http://schemas.microsoft.com/office/drawing/2014/main" id="{8D872834-C440-406C-87C4-F847432A1557}"/>
              </a:ext>
            </a:extLst>
          </p:cNvPr>
          <p:cNvSpPr>
            <a:spLocks noGrp="1" noChangeArrowheads="1"/>
          </p:cNvSpPr>
          <p:nvPr>
            <p:ph type="body" idx="1"/>
          </p:nvPr>
        </p:nvSpPr>
        <p:spPr>
          <a:noFill/>
        </p:spPr>
        <p:txBody>
          <a:bodyPr/>
          <a:lstStyle/>
          <a:p>
            <a:r>
              <a:rPr lang="en-US" altLang="en-US">
                <a:latin typeface="Arial" panose="020B0604020202020204" pitchFamily="34" charset="0"/>
              </a:rPr>
              <a:t>The use of perceptual organization to create meaning out of stimuli is the principle behind other well-known illusions including impossible objects. Our brain makes sense of shapes and symbols putting them together like a jigsaw puzzle, formulating that which isn't there to that which is believable.</a:t>
            </a:r>
          </a:p>
        </p:txBody>
      </p:sp>
      <p:sp>
        <p:nvSpPr>
          <p:cNvPr id="25604" name="Marcador de Posição do Número do Diapositivo 3">
            <a:extLst>
              <a:ext uri="{FF2B5EF4-FFF2-40B4-BE49-F238E27FC236}">
                <a16:creationId xmlns:a16="http://schemas.microsoft.com/office/drawing/2014/main" id="{A12F2A95-7D03-4C4C-B564-A71AE7887E69}"/>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4BDFD4-A4F0-4B0E-AD7F-B020FB228483}" type="slidenum">
              <a:rPr lang="en-GB" altLang="en-US" sz="1300" smtClean="0"/>
              <a:pPr>
                <a:spcBef>
                  <a:spcPct val="0"/>
                </a:spcBef>
              </a:pPr>
              <a:t>19</a:t>
            </a:fld>
            <a:endParaRPr lang="en-GB" altLang="en-U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Marcador de Posição da Imagem do Diapositivo 1">
            <a:extLst>
              <a:ext uri="{FF2B5EF4-FFF2-40B4-BE49-F238E27FC236}">
                <a16:creationId xmlns:a16="http://schemas.microsoft.com/office/drawing/2014/main" id="{42F776A6-F348-44B8-9E00-D83425E0D8A4}"/>
              </a:ext>
            </a:extLst>
          </p:cNvPr>
          <p:cNvSpPr>
            <a:spLocks noGrp="1" noRot="1" noChangeAspect="1" noChangeArrowheads="1" noTextEdit="1"/>
          </p:cNvSpPr>
          <p:nvPr>
            <p:ph type="sldImg"/>
          </p:nvPr>
        </p:nvSpPr>
        <p:spPr>
          <a:xfrm>
            <a:off x="992188" y="768350"/>
            <a:ext cx="5114925" cy="3836988"/>
          </a:xfrm>
          <a:ln/>
        </p:spPr>
      </p:sp>
      <p:sp>
        <p:nvSpPr>
          <p:cNvPr id="27651" name="Marcador de Posição de Notas 2">
            <a:extLst>
              <a:ext uri="{FF2B5EF4-FFF2-40B4-BE49-F238E27FC236}">
                <a16:creationId xmlns:a16="http://schemas.microsoft.com/office/drawing/2014/main" id="{F2483F8A-52E8-45CA-92DE-3AC7BF27F451}"/>
              </a:ext>
            </a:extLst>
          </p:cNvPr>
          <p:cNvSpPr>
            <a:spLocks noGrp="1" noChangeArrowheads="1"/>
          </p:cNvSpPr>
          <p:nvPr>
            <p:ph type="body" idx="1"/>
          </p:nvPr>
        </p:nvSpPr>
        <p:spPr>
          <a:noFill/>
        </p:spPr>
        <p:txBody>
          <a:bodyPr/>
          <a:lstStyle/>
          <a:p>
            <a:r>
              <a:rPr lang="en-US" altLang="en-US">
                <a:latin typeface="Arial" panose="020B0604020202020204" pitchFamily="34" charset="0"/>
              </a:rPr>
              <a:t>The use of perceptual organization to create meaning out of stimuli is the principle behind other well-known illusions including impossible objects. Our brain makes sense of shapes and symbols putting them together like a jigsaw puzzle, formulating that which isn't there to that which is believable.</a:t>
            </a:r>
          </a:p>
        </p:txBody>
      </p:sp>
      <p:sp>
        <p:nvSpPr>
          <p:cNvPr id="27652" name="Marcador de Posição do Número do Diapositivo 3">
            <a:extLst>
              <a:ext uri="{FF2B5EF4-FFF2-40B4-BE49-F238E27FC236}">
                <a16:creationId xmlns:a16="http://schemas.microsoft.com/office/drawing/2014/main" id="{C3CE84C9-360E-4048-AABE-F91E849A99E5}"/>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742C28A-2991-4B47-B673-A95430C8A420}" type="slidenum">
              <a:rPr lang="en-GB" altLang="en-US" sz="1300" smtClean="0"/>
              <a:pPr>
                <a:spcBef>
                  <a:spcPct val="0"/>
                </a:spcBef>
              </a:pPr>
              <a:t>20</a:t>
            </a:fld>
            <a:endParaRPr lang="en-GB" altLang="en-U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Marcador de Posição da Imagem do Diapositivo 1">
            <a:extLst>
              <a:ext uri="{FF2B5EF4-FFF2-40B4-BE49-F238E27FC236}">
                <a16:creationId xmlns:a16="http://schemas.microsoft.com/office/drawing/2014/main" id="{CC4C7EB2-A4CB-4795-A97D-FBEDEE7A19A9}"/>
              </a:ext>
            </a:extLst>
          </p:cNvPr>
          <p:cNvSpPr>
            <a:spLocks noGrp="1" noRot="1" noChangeAspect="1" noChangeArrowheads="1" noTextEdit="1"/>
          </p:cNvSpPr>
          <p:nvPr>
            <p:ph type="sldImg"/>
          </p:nvPr>
        </p:nvSpPr>
        <p:spPr>
          <a:xfrm>
            <a:off x="992188" y="768350"/>
            <a:ext cx="5114925" cy="3836988"/>
          </a:xfrm>
          <a:ln/>
        </p:spPr>
      </p:sp>
      <p:sp>
        <p:nvSpPr>
          <p:cNvPr id="29699" name="Marcador de Posição de Notas 2">
            <a:extLst>
              <a:ext uri="{FF2B5EF4-FFF2-40B4-BE49-F238E27FC236}">
                <a16:creationId xmlns:a16="http://schemas.microsoft.com/office/drawing/2014/main" id="{4CE0FC56-1366-47D8-B326-8025FBDA1845}"/>
              </a:ext>
            </a:extLst>
          </p:cNvPr>
          <p:cNvSpPr>
            <a:spLocks noGrp="1" noChangeArrowheads="1"/>
          </p:cNvSpPr>
          <p:nvPr>
            <p:ph type="body" idx="1"/>
          </p:nvPr>
        </p:nvSpPr>
        <p:spPr>
          <a:noFill/>
        </p:spPr>
        <p:txBody>
          <a:bodyPr/>
          <a:lstStyle/>
          <a:p>
            <a:r>
              <a:rPr lang="en-US" altLang="en-US">
                <a:latin typeface="Arial" panose="020B0604020202020204" pitchFamily="34" charset="0"/>
              </a:rPr>
              <a:t>The use of perceptual organization to create meaning out of stimuli is the principle behind other well-known illusions including impossible objects. Our brain makes sense of shapes and symbols putting them together like a jigsaw puzzle, formulating that which isn't there to that which is believable.</a:t>
            </a:r>
          </a:p>
        </p:txBody>
      </p:sp>
      <p:sp>
        <p:nvSpPr>
          <p:cNvPr id="29700" name="Marcador de Posição do Número do Diapositivo 3">
            <a:extLst>
              <a:ext uri="{FF2B5EF4-FFF2-40B4-BE49-F238E27FC236}">
                <a16:creationId xmlns:a16="http://schemas.microsoft.com/office/drawing/2014/main" id="{40268F2D-95B5-4F80-AEA9-AA2F54CF923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575291E-A5D8-401E-B392-87D3740C5098}" type="slidenum">
              <a:rPr lang="en-GB" altLang="en-US" sz="1300" smtClean="0"/>
              <a:pPr>
                <a:spcBef>
                  <a:spcPct val="0"/>
                </a:spcBef>
              </a:pPr>
              <a:t>21</a:t>
            </a:fld>
            <a:endParaRPr lang="en-GB" altLang="en-US"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Marcador de Posição da Imagem do Diapositivo 1">
            <a:extLst>
              <a:ext uri="{FF2B5EF4-FFF2-40B4-BE49-F238E27FC236}">
                <a16:creationId xmlns:a16="http://schemas.microsoft.com/office/drawing/2014/main" id="{3E98598A-2CE9-4132-89CD-EC514DACDD0C}"/>
              </a:ext>
            </a:extLst>
          </p:cNvPr>
          <p:cNvSpPr>
            <a:spLocks noGrp="1" noRot="1" noChangeAspect="1" noChangeArrowheads="1" noTextEdit="1"/>
          </p:cNvSpPr>
          <p:nvPr>
            <p:ph type="sldImg"/>
          </p:nvPr>
        </p:nvSpPr>
        <p:spPr>
          <a:xfrm>
            <a:off x="992188" y="768350"/>
            <a:ext cx="5114925" cy="3836988"/>
          </a:xfrm>
          <a:ln/>
        </p:spPr>
      </p:sp>
      <p:sp>
        <p:nvSpPr>
          <p:cNvPr id="38915" name="Marcador de Posição de Notas 2">
            <a:extLst>
              <a:ext uri="{FF2B5EF4-FFF2-40B4-BE49-F238E27FC236}">
                <a16:creationId xmlns:a16="http://schemas.microsoft.com/office/drawing/2014/main" id="{C3D384DA-12A4-4AC1-9284-CCC4B310A1EA}"/>
              </a:ext>
            </a:extLst>
          </p:cNvPr>
          <p:cNvSpPr>
            <a:spLocks noGrp="1" noChangeArrowheads="1"/>
          </p:cNvSpPr>
          <p:nvPr>
            <p:ph type="body" idx="1"/>
          </p:nvPr>
        </p:nvSpPr>
        <p:spPr>
          <a:noFill/>
        </p:spPr>
        <p:txBody>
          <a:bodyPr/>
          <a:lstStyle/>
          <a:p>
            <a:r>
              <a:rPr lang="pt-PT" altLang="en-US">
                <a:latin typeface="Arial" panose="020B0604020202020204" pitchFamily="34" charset="0"/>
              </a:rPr>
              <a:t>Kinesthesia is more behavioral</a:t>
            </a:r>
            <a:endParaRPr lang="en-US" altLang="en-US">
              <a:latin typeface="Arial" panose="020B0604020202020204" pitchFamily="34" charset="0"/>
            </a:endParaRPr>
          </a:p>
        </p:txBody>
      </p:sp>
      <p:sp>
        <p:nvSpPr>
          <p:cNvPr id="38916" name="Marcador de Posição do Número do Diapositivo 3">
            <a:extLst>
              <a:ext uri="{FF2B5EF4-FFF2-40B4-BE49-F238E27FC236}">
                <a16:creationId xmlns:a16="http://schemas.microsoft.com/office/drawing/2014/main" id="{24FD7F0B-E469-426B-89BF-4B0DE0864CB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F6F8DE-FE35-416E-A08B-45ABE260EE7B}" type="slidenum">
              <a:rPr lang="en-GB" altLang="en-US" sz="1300" smtClean="0"/>
              <a:pPr>
                <a:spcBef>
                  <a:spcPct val="0"/>
                </a:spcBef>
              </a:pPr>
              <a:t>27</a:t>
            </a:fld>
            <a:endParaRPr lang="en-GB" altLang="en-U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r>
              <a:rPr lang="en-US" sz="1200" b="0" dirty="0">
                <a:solidFill>
                  <a:srgbClr val="000000"/>
                </a:solidFill>
                <a:latin typeface="CharisSIL"/>
              </a:rPr>
              <a:t>pressing the trigger button on the HTC </a:t>
            </a:r>
            <a:r>
              <a:rPr lang="en-US" sz="1200" b="0" dirty="0" err="1">
                <a:solidFill>
                  <a:srgbClr val="000000"/>
                </a:solidFill>
                <a:latin typeface="CharisSIL"/>
              </a:rPr>
              <a:t>Vive</a:t>
            </a:r>
            <a:r>
              <a:rPr lang="en-US" sz="1200" b="0" dirty="0">
                <a:solidFill>
                  <a:srgbClr val="000000"/>
                </a:solidFill>
                <a:latin typeface="CharisSIL"/>
              </a:rPr>
              <a:t> hand controller, the player releases wine bouquet from a virtual glass (b) </a:t>
            </a:r>
            <a:br>
              <a:rPr lang="en-US" dirty="0"/>
            </a:br>
            <a:endParaRPr lang="en-US" dirty="0"/>
          </a:p>
        </p:txBody>
      </p:sp>
      <p:sp>
        <p:nvSpPr>
          <p:cNvPr id="4" name="Slide Number Placeholder 3"/>
          <p:cNvSpPr>
            <a:spLocks noGrp="1"/>
          </p:cNvSpPr>
          <p:nvPr>
            <p:ph type="sldNum" sz="quarter" idx="5"/>
          </p:nvPr>
        </p:nvSpPr>
        <p:spPr/>
        <p:txBody>
          <a:bodyPr/>
          <a:lstStyle/>
          <a:p>
            <a:pPr>
              <a:defRPr/>
            </a:pPr>
            <a:fld id="{B2360A7B-8A39-4D47-97E4-9B44F73F9EA3}" type="slidenum">
              <a:rPr lang="en-GB" altLang="en-US" smtClean="0"/>
              <a:pPr>
                <a:defRPr/>
              </a:pPr>
              <a:t>28</a:t>
            </a:fld>
            <a:endParaRPr lang="en-GB" altLang="en-US"/>
          </a:p>
        </p:txBody>
      </p:sp>
    </p:spTree>
    <p:extLst>
      <p:ext uri="{BB962C8B-B14F-4D97-AF65-F5344CB8AC3E}">
        <p14:creationId xmlns:p14="http://schemas.microsoft.com/office/powerpoint/2010/main" val="3161762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Marcador de Posição da Imagem do Diapositivo 1">
            <a:extLst>
              <a:ext uri="{FF2B5EF4-FFF2-40B4-BE49-F238E27FC236}">
                <a16:creationId xmlns:a16="http://schemas.microsoft.com/office/drawing/2014/main" id="{88F29522-5781-43E3-A741-0815A203A6A0}"/>
              </a:ext>
            </a:extLst>
          </p:cNvPr>
          <p:cNvSpPr>
            <a:spLocks noGrp="1" noRot="1" noChangeAspect="1" noChangeArrowheads="1" noTextEdit="1"/>
          </p:cNvSpPr>
          <p:nvPr>
            <p:ph type="sldImg"/>
          </p:nvPr>
        </p:nvSpPr>
        <p:spPr>
          <a:xfrm>
            <a:off x="992188" y="768350"/>
            <a:ext cx="5114925" cy="3836988"/>
          </a:xfrm>
          <a:ln/>
        </p:spPr>
      </p:sp>
      <p:sp>
        <p:nvSpPr>
          <p:cNvPr id="40963" name="Marcador de Posição de Notas 2">
            <a:extLst>
              <a:ext uri="{FF2B5EF4-FFF2-40B4-BE49-F238E27FC236}">
                <a16:creationId xmlns:a16="http://schemas.microsoft.com/office/drawing/2014/main" id="{706602D5-8079-4DFD-A0D8-89FCF3D4CEC0}"/>
              </a:ext>
            </a:extLst>
          </p:cNvPr>
          <p:cNvSpPr>
            <a:spLocks noGrp="1" noChangeArrowheads="1"/>
          </p:cNvSpPr>
          <p:nvPr>
            <p:ph type="body" idx="1"/>
          </p:nvPr>
        </p:nvSpPr>
        <p:spPr>
          <a:noFill/>
        </p:spPr>
        <p:txBody>
          <a:bodyPr/>
          <a:lstStyle/>
          <a:p>
            <a:r>
              <a:rPr lang="en-US" altLang="en-US">
                <a:latin typeface="Arial" panose="020B0604020202020204" pitchFamily="34" charset="0"/>
              </a:rPr>
              <a:t>Wikipedia</a:t>
            </a:r>
          </a:p>
          <a:p>
            <a:r>
              <a:rPr lang="en-US" altLang="en-US">
                <a:latin typeface="Arial" panose="020B0604020202020204" pitchFamily="34" charset="0"/>
              </a:rPr>
              <a:t>The model asserts that human memory has three separate components:</a:t>
            </a:r>
          </a:p>
          <a:p>
            <a:r>
              <a:rPr lang="en-US" altLang="en-US">
                <a:latin typeface="Arial" panose="020B0604020202020204" pitchFamily="34" charset="0"/>
              </a:rPr>
              <a:t>a sensory register, where sensory information enters memory,</a:t>
            </a:r>
          </a:p>
          <a:p>
            <a:r>
              <a:rPr lang="en-US" altLang="en-US">
                <a:latin typeface="Arial" panose="020B0604020202020204" pitchFamily="34" charset="0"/>
              </a:rPr>
              <a:t>a short-term store, also called working memory or short-term memory, which receives and holds input from both the sensory register and the long-term store, and</a:t>
            </a:r>
          </a:p>
          <a:p>
            <a:r>
              <a:rPr lang="en-US" altLang="en-US">
                <a:latin typeface="Arial" panose="020B0604020202020204" pitchFamily="34" charset="0"/>
              </a:rPr>
              <a:t>a long-term store, where information which has been rehearsed (explained below) in the short-term store is held indefinitely.</a:t>
            </a:r>
          </a:p>
          <a:p>
            <a:r>
              <a:rPr lang="en-US" altLang="en-US">
                <a:latin typeface="Arial" panose="020B0604020202020204" pitchFamily="34" charset="0"/>
              </a:rPr>
              <a:t>Since its first publication this model has come under much scrutiny and has been criticized for various reasons (described below). However, it is notable for the significant influence it had in stimulating subsequent memory research.</a:t>
            </a:r>
          </a:p>
          <a:p>
            <a:r>
              <a:rPr lang="pt-PT" altLang="pt-PT">
                <a:latin typeface="Arial" panose="020B0604020202020204" pitchFamily="34" charset="0"/>
                <a:hlinkClick r:id="rId3"/>
              </a:rPr>
              <a:t>https://en.wikipedia.org/wiki/Henry_Molaison</a:t>
            </a:r>
            <a:endParaRPr lang="pt-PT" altLang="pt-PT">
              <a:latin typeface="Arial" panose="020B0604020202020204" pitchFamily="34" charset="0"/>
            </a:endParaRPr>
          </a:p>
          <a:p>
            <a:endParaRPr lang="en-US" altLang="en-US">
              <a:latin typeface="Arial" panose="020B0604020202020204" pitchFamily="34" charset="0"/>
            </a:endParaRPr>
          </a:p>
        </p:txBody>
      </p:sp>
      <p:sp>
        <p:nvSpPr>
          <p:cNvPr id="40964" name="Marcador de Posição do Número do Diapositivo 3">
            <a:extLst>
              <a:ext uri="{FF2B5EF4-FFF2-40B4-BE49-F238E27FC236}">
                <a16:creationId xmlns:a16="http://schemas.microsoft.com/office/drawing/2014/main" id="{80F54801-9D29-4CF2-9DD5-067659CAB8F9}"/>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55BD49-C273-462E-81AF-3D5156D2F93B}" type="slidenum">
              <a:rPr lang="en-GB" altLang="en-US" sz="1300" smtClean="0"/>
              <a:pPr>
                <a:spcBef>
                  <a:spcPct val="0"/>
                </a:spcBef>
              </a:pPr>
              <a:t>29</a:t>
            </a:fld>
            <a:endParaRPr lang="en-GB" altLang="en-US"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Marcador de Posição da Imagem do Diapositivo 1">
            <a:extLst>
              <a:ext uri="{FF2B5EF4-FFF2-40B4-BE49-F238E27FC236}">
                <a16:creationId xmlns:a16="http://schemas.microsoft.com/office/drawing/2014/main" id="{F76874D4-3CA3-49C3-B12D-9C6871758351}"/>
              </a:ext>
            </a:extLst>
          </p:cNvPr>
          <p:cNvSpPr>
            <a:spLocks noGrp="1" noRot="1" noChangeAspect="1" noChangeArrowheads="1" noTextEdit="1"/>
          </p:cNvSpPr>
          <p:nvPr>
            <p:ph type="sldImg"/>
          </p:nvPr>
        </p:nvSpPr>
        <p:spPr>
          <a:xfrm>
            <a:off x="992188" y="768350"/>
            <a:ext cx="5114925" cy="3836988"/>
          </a:xfrm>
          <a:ln/>
        </p:spPr>
      </p:sp>
      <p:sp>
        <p:nvSpPr>
          <p:cNvPr id="45059" name="Marcador de Posição de Notas 2">
            <a:extLst>
              <a:ext uri="{FF2B5EF4-FFF2-40B4-BE49-F238E27FC236}">
                <a16:creationId xmlns:a16="http://schemas.microsoft.com/office/drawing/2014/main" id="{99EB9074-52F5-4510-B2CD-43BEB337CB6B}"/>
              </a:ext>
            </a:extLst>
          </p:cNvPr>
          <p:cNvSpPr>
            <a:spLocks noGrp="1" noChangeArrowheads="1"/>
          </p:cNvSpPr>
          <p:nvPr>
            <p:ph type="body" idx="1"/>
          </p:nvPr>
        </p:nvSpPr>
        <p:spPr>
          <a:noFill/>
        </p:spPr>
        <p:txBody>
          <a:bodyPr/>
          <a:lstStyle/>
          <a:p>
            <a:pPr lvl="1"/>
            <a:r>
              <a:rPr lang="en-US" altLang="en-US" sz="2000">
                <a:latin typeface="Arial" panose="020B0604020202020204" pitchFamily="34" charset="0"/>
              </a:rPr>
              <a:t>Quick acess +/- 70ms</a:t>
            </a:r>
          </a:p>
          <a:p>
            <a:pPr lvl="1"/>
            <a:r>
              <a:rPr lang="en-US" altLang="en-US" sz="2000">
                <a:latin typeface="Arial" panose="020B0604020202020204" pitchFamily="34" charset="0"/>
              </a:rPr>
              <a:t>Quick forget +/- 200ms</a:t>
            </a:r>
          </a:p>
          <a:p>
            <a:endParaRPr lang="en-US" altLang="en-US">
              <a:latin typeface="Arial" panose="020B0604020202020204" pitchFamily="34" charset="0"/>
            </a:endParaRPr>
          </a:p>
        </p:txBody>
      </p:sp>
      <p:sp>
        <p:nvSpPr>
          <p:cNvPr id="45060" name="Marcador de Posição do Número do Diapositivo 3">
            <a:extLst>
              <a:ext uri="{FF2B5EF4-FFF2-40B4-BE49-F238E27FC236}">
                <a16:creationId xmlns:a16="http://schemas.microsoft.com/office/drawing/2014/main" id="{3D0A87E6-956F-431C-9EFA-77562A57AEE9}"/>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922FE3-6D6B-46E1-88B1-C7B9868BD0F3}" type="slidenum">
              <a:rPr lang="en-GB" altLang="en-US" sz="1300" smtClean="0"/>
              <a:pPr>
                <a:spcBef>
                  <a:spcPct val="0"/>
                </a:spcBef>
              </a:pPr>
              <a:t>32</a:t>
            </a:fld>
            <a:endParaRPr lang="en-GB" altLang="en-US"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Marcador de Posição da Imagem do Diapositivo 1">
            <a:extLst>
              <a:ext uri="{FF2B5EF4-FFF2-40B4-BE49-F238E27FC236}">
                <a16:creationId xmlns:a16="http://schemas.microsoft.com/office/drawing/2014/main" id="{713013BA-425B-4DF8-AE45-635BCC75F081}"/>
              </a:ext>
            </a:extLst>
          </p:cNvPr>
          <p:cNvSpPr>
            <a:spLocks noGrp="1" noRot="1" noChangeAspect="1" noChangeArrowheads="1" noTextEdit="1"/>
          </p:cNvSpPr>
          <p:nvPr>
            <p:ph type="sldImg"/>
          </p:nvPr>
        </p:nvSpPr>
        <p:spPr>
          <a:xfrm>
            <a:off x="992188" y="768350"/>
            <a:ext cx="5114925" cy="3836988"/>
          </a:xfrm>
          <a:ln/>
        </p:spPr>
      </p:sp>
      <p:sp>
        <p:nvSpPr>
          <p:cNvPr id="49155" name="Marcador de Posição de Notas 2">
            <a:extLst>
              <a:ext uri="{FF2B5EF4-FFF2-40B4-BE49-F238E27FC236}">
                <a16:creationId xmlns:a16="http://schemas.microsoft.com/office/drawing/2014/main" id="{6E4E9280-65A8-4CAA-B263-8644F872646A}"/>
              </a:ext>
            </a:extLst>
          </p:cNvPr>
          <p:cNvSpPr>
            <a:spLocks noGrp="1" noChangeArrowheads="1"/>
          </p:cNvSpPr>
          <p:nvPr>
            <p:ph type="body" idx="1"/>
          </p:nvPr>
        </p:nvSpPr>
        <p:spPr>
          <a:noFill/>
        </p:spPr>
        <p:txBody>
          <a:bodyPr/>
          <a:lstStyle/>
          <a:p>
            <a:r>
              <a:rPr lang="en-US" altLang="en-US">
                <a:latin typeface="Arial" panose="020B0604020202020204" pitchFamily="34" charset="0"/>
              </a:rPr>
              <a:t>https://en.wikipedia.org/wiki/Chunking_(psychology)</a:t>
            </a:r>
          </a:p>
          <a:p>
            <a:r>
              <a:rPr lang="en-US" altLang="en-US">
                <a:latin typeface="Arial" panose="020B0604020202020204" pitchFamily="34" charset="0"/>
              </a:rPr>
              <a:t>Chunking in psychology is a process by which individual pieces of information are bound together into a meaningful whole (Neath &amp; Surprenant, 2003). A chunk is defined as a familiar collection of more elementary units that have been inter-associated and stored in memory repeatedly and act as a coherent, integrated group when retrieved (Tulving &amp; Craik, 2000).</a:t>
            </a:r>
          </a:p>
          <a:p>
            <a:r>
              <a:rPr lang="en-US" altLang="en-US">
                <a:latin typeface="Arial" panose="020B0604020202020204" pitchFamily="34" charset="0"/>
              </a:rPr>
              <a:t>It is believed that individuals create higher order cognitive representations of the items on the list that are more easily remembered as a group than as individual items themselves. Representations of these groupings are highly subjective, as they depend critically on the individual's perception of the features of the items and the individual's semantic network. The size of the chunks generally ranges anywhere from two to six items, but differs based on language and culture</a:t>
            </a:r>
          </a:p>
          <a:p>
            <a:r>
              <a:rPr lang="en-US" altLang="en-US">
                <a:latin typeface="Arial" panose="020B0604020202020204" pitchFamily="34" charset="0"/>
              </a:rPr>
              <a:t>The phenomenon of chunking as a memory mechanism can be observed in the way individuals group numbers and information in the day-to-day life. For example, when recalling a number such as 12101946, if numbers are grouped as 12, 10 and 1946, a mnemonic is created for this number as a day, month and year. Similarly, another illustration of the limited capacity of working memory as suggested by George Miller can be seen from the following example: While recalling a mobile phone number such as 9849523450, we might break this into 98 495 234 50. Thus, instead of remembering 10 separate digits that is beyond the "seven plus-or-minus two" memory span, we are remembering four groups of numbers.</a:t>
            </a:r>
          </a:p>
        </p:txBody>
      </p:sp>
      <p:sp>
        <p:nvSpPr>
          <p:cNvPr id="49156" name="Marcador de Posição do Número do Diapositivo 3">
            <a:extLst>
              <a:ext uri="{FF2B5EF4-FFF2-40B4-BE49-F238E27FC236}">
                <a16:creationId xmlns:a16="http://schemas.microsoft.com/office/drawing/2014/main" id="{207A9B0E-E5E0-43D2-A0D6-3079F813C8CF}"/>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931E061-8297-45FA-B7BF-7C43E777B869}" type="slidenum">
              <a:rPr lang="en-GB" altLang="en-US" sz="1300" smtClean="0"/>
              <a:pPr>
                <a:spcBef>
                  <a:spcPct val="0"/>
                </a:spcBef>
              </a:pPr>
              <a:t>35</a:t>
            </a:fld>
            <a:endParaRPr lang="en-GB" altLang="en-US"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Marcador de Posição da Imagem do Diapositivo 1">
            <a:extLst>
              <a:ext uri="{FF2B5EF4-FFF2-40B4-BE49-F238E27FC236}">
                <a16:creationId xmlns:a16="http://schemas.microsoft.com/office/drawing/2014/main" id="{AF77F1A8-CB24-4CCC-8CAF-407E6EADB728}"/>
              </a:ext>
            </a:extLst>
          </p:cNvPr>
          <p:cNvSpPr>
            <a:spLocks noGrp="1" noRot="1" noChangeAspect="1" noChangeArrowheads="1" noTextEdit="1"/>
          </p:cNvSpPr>
          <p:nvPr>
            <p:ph type="sldImg"/>
          </p:nvPr>
        </p:nvSpPr>
        <p:spPr>
          <a:xfrm>
            <a:off x="992188" y="768350"/>
            <a:ext cx="5114925" cy="3836988"/>
          </a:xfrm>
          <a:ln/>
        </p:spPr>
      </p:sp>
      <p:sp>
        <p:nvSpPr>
          <p:cNvPr id="51203" name="Marcador de Posição de Notas 2">
            <a:extLst>
              <a:ext uri="{FF2B5EF4-FFF2-40B4-BE49-F238E27FC236}">
                <a16:creationId xmlns:a16="http://schemas.microsoft.com/office/drawing/2014/main" id="{B2F630DF-B9E2-49D2-9FB7-2CFF359A588B}"/>
              </a:ext>
            </a:extLst>
          </p:cNvPr>
          <p:cNvSpPr>
            <a:spLocks noGrp="1" noChangeArrowheads="1"/>
          </p:cNvSpPr>
          <p:nvPr>
            <p:ph type="body" idx="1"/>
          </p:nvPr>
        </p:nvSpPr>
        <p:spPr>
          <a:noFill/>
        </p:spPr>
        <p:txBody>
          <a:bodyPr/>
          <a:lstStyle/>
          <a:p>
            <a:r>
              <a:rPr lang="en-US" altLang="en-US">
                <a:latin typeface="Arial" panose="020B0604020202020204" pitchFamily="34" charset="0"/>
              </a:rPr>
              <a:t>Fiquei aqui a 1/3/23</a:t>
            </a:r>
          </a:p>
          <a:p>
            <a:r>
              <a:rPr lang="en-US" altLang="en-US">
                <a:latin typeface="Arial" panose="020B0604020202020204" pitchFamily="34" charset="0"/>
              </a:rPr>
              <a:t>Long-term memory (LTM) is the stage of the dual memory model proposed by the Atkinson-Shiffrin memory model, and informative knowledge can be stored for long periods of time. While short-term and working memory persist for only about 18 to 30 seconds, informative knowledge can remain as long-term memory indefinitely.</a:t>
            </a:r>
          </a:p>
          <a:p>
            <a:r>
              <a:rPr lang="en-US" altLang="en-US">
                <a:latin typeface="Arial" panose="020B0604020202020204" pitchFamily="34" charset="0"/>
              </a:rPr>
              <a:t>Long-term memory is commonly labelled as explicit memory (declarative), as well as episodic memory, semantic memory, autobiographical memory, and implicit memory (procedural memory).</a:t>
            </a:r>
          </a:p>
          <a:p>
            <a:r>
              <a:rPr lang="en-US" altLang="en-US">
                <a:latin typeface="Arial" panose="020B0604020202020204" pitchFamily="34" charset="0"/>
              </a:rPr>
              <a:t>https://en.wikipedia.org/wiki/Intermediate-term_memory</a:t>
            </a:r>
          </a:p>
          <a:p>
            <a:endParaRPr lang="en-US" altLang="en-US">
              <a:latin typeface="Arial" panose="020B0604020202020204" pitchFamily="34" charset="0"/>
            </a:endParaRPr>
          </a:p>
          <a:p>
            <a:r>
              <a:rPr lang="en-US" altLang="en-US">
                <a:latin typeface="Arial" panose="020B0604020202020204" pitchFamily="34" charset="0"/>
              </a:rPr>
              <a:t>Intermediate-term memory (ITM) is a stage of memory distinct from sensory memory, working memory/short-term memory, and long-term memory.[1][2] While sensory memory persists for several milliseconds, working memory persists for up to thirty seconds, and long-term memory persists from thirty minutes to the end of an individual's life, intermediate-term memory persists for about two to three hours.[3] This overlap in the durations of these memory processes indicates that they occur simultaneously, rather than sequentially. Indeed, intermediate-term facilitation can be produced in the absence of long-term facilitation.[4] However, the boundaries between these forms of memory are not clear-cut, and they can vary depending on the task.[5] Intermediate-term memory is thought to be supported by the parahippocampal cortex.[6]</a:t>
            </a:r>
          </a:p>
        </p:txBody>
      </p:sp>
      <p:sp>
        <p:nvSpPr>
          <p:cNvPr id="51204" name="Marcador de Posição do Número do Diapositivo 3">
            <a:extLst>
              <a:ext uri="{FF2B5EF4-FFF2-40B4-BE49-F238E27FC236}">
                <a16:creationId xmlns:a16="http://schemas.microsoft.com/office/drawing/2014/main" id="{487E99E3-488F-47C2-A02F-BBD1A80546C1}"/>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C1B1BA3-738E-4928-B55A-E5DB8709AD2D}" type="slidenum">
              <a:rPr lang="en-GB" altLang="en-US" sz="1300" smtClean="0"/>
              <a:pPr>
                <a:spcBef>
                  <a:spcPct val="0"/>
                </a:spcBef>
              </a:pPr>
              <a:t>36</a:t>
            </a:fld>
            <a:endParaRPr lang="en-GB" altLang="en-US"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848CD4CC-F070-4611-BC5E-24DBF863E9BB}"/>
              </a:ext>
            </a:extLst>
          </p:cNvPr>
          <p:cNvSpPr>
            <a:spLocks noGrp="1" noRot="1" noChangeAspect="1" noChangeArrowheads="1" noTextEdit="1"/>
          </p:cNvSpPr>
          <p:nvPr>
            <p:ph type="sldImg"/>
          </p:nvPr>
        </p:nvSpPr>
        <p:spPr>
          <a:xfrm>
            <a:off x="1263650" y="768350"/>
            <a:ext cx="4387850" cy="3292475"/>
          </a:xfrm>
          <a:ln/>
        </p:spPr>
      </p:sp>
      <p:sp>
        <p:nvSpPr>
          <p:cNvPr id="53251" name="Notes Placeholder 2">
            <a:extLst>
              <a:ext uri="{FF2B5EF4-FFF2-40B4-BE49-F238E27FC236}">
                <a16:creationId xmlns:a16="http://schemas.microsoft.com/office/drawing/2014/main" id="{87660377-39A5-4A9B-B67B-2A112D82E305}"/>
              </a:ext>
            </a:extLst>
          </p:cNvPr>
          <p:cNvSpPr>
            <a:spLocks noGrp="1" noChangeArrowheads="1"/>
          </p:cNvSpPr>
          <p:nvPr>
            <p:ph type="body" idx="1"/>
          </p:nvPr>
        </p:nvSpPr>
        <p:spPr>
          <a:noFill/>
        </p:spPr>
        <p:txBody>
          <a:bodyPr/>
          <a:lstStyle/>
          <a:p>
            <a:r>
              <a:rPr lang="en-US" altLang="en-US" dirty="0" err="1">
                <a:latin typeface="Arial" panose="020B0604020202020204" pitchFamily="34" charset="0"/>
              </a:rPr>
              <a:t>Fiquei</a:t>
            </a:r>
            <a:r>
              <a:rPr lang="en-US" altLang="en-US">
                <a:latin typeface="Arial" panose="020B0604020202020204" pitchFamily="34" charset="0"/>
              </a:rPr>
              <a:t> - It’s </a:t>
            </a:r>
            <a:r>
              <a:rPr lang="en-US" altLang="en-US" dirty="0">
                <a:latin typeface="Arial" panose="020B0604020202020204" pitchFamily="34" charset="0"/>
              </a:rPr>
              <a:t>important to make a distinction between </a:t>
            </a:r>
            <a:r>
              <a:rPr lang="en-US" altLang="en-US" b="1" dirty="0">
                <a:latin typeface="Arial" panose="020B0604020202020204" pitchFamily="34" charset="0"/>
              </a:rPr>
              <a:t>recognition</a:t>
            </a:r>
            <a:r>
              <a:rPr lang="en-US" altLang="en-US" dirty="0">
                <a:latin typeface="Arial" panose="020B0604020202020204" pitchFamily="34" charset="0"/>
              </a:rPr>
              <a:t> (remembering with the help of a visible cue) and </a:t>
            </a:r>
            <a:r>
              <a:rPr lang="en-US" altLang="en-US" b="1" dirty="0">
                <a:latin typeface="Arial" panose="020B0604020202020204" pitchFamily="34" charset="0"/>
              </a:rPr>
              <a:t>recall</a:t>
            </a:r>
            <a:r>
              <a:rPr lang="en-US" altLang="en-US" dirty="0">
                <a:latin typeface="Arial" panose="020B0604020202020204" pitchFamily="34" charset="0"/>
              </a:rPr>
              <a:t> (remembering something with no help from the outside world).  Recognition is far, far easier than </a:t>
            </a:r>
            <a:r>
              <a:rPr lang="en-US" altLang="en-US" dirty="0" err="1">
                <a:latin typeface="Arial" panose="020B0604020202020204" pitchFamily="34" charset="0"/>
              </a:rPr>
              <a:t>uncued</a:t>
            </a:r>
            <a:r>
              <a:rPr lang="en-US" altLang="en-US" dirty="0">
                <a:latin typeface="Arial" panose="020B0604020202020204" pitchFamily="34" charset="0"/>
              </a:rPr>
              <a:t> recall.  </a:t>
            </a:r>
          </a:p>
          <a:p>
            <a:r>
              <a:rPr lang="en-US" altLang="en-US" dirty="0">
                <a:latin typeface="Arial" panose="020B0604020202020204" pitchFamily="34" charset="0"/>
              </a:rPr>
              <a:t>Psychology experiments have shown that the human memory system is almost unbelievably good at recognition. In one study, people looked at 540 words for a brief time each, then took a test in which they had to determine which of a pair of words they had seen on that 540-word list.  The result?  88% accuracy on average!  Similarly, in a study with 612 short sentences, people achieved 89% correct recognition on average.  </a:t>
            </a:r>
          </a:p>
          <a:p>
            <a:r>
              <a:rPr lang="en-US" altLang="en-US" dirty="0">
                <a:latin typeface="Arial" panose="020B0604020202020204" pitchFamily="34" charset="0"/>
              </a:rPr>
              <a:t>Note that since these recognition studies involve so many items, they are clearly going beyond working memory, despite the absence of elaborative rehearsal. Other studies have demonstrated that by extending the interval between the viewing and the testing.  In one study, people looked briefly at 2,560 pictures, and then were tested </a:t>
            </a:r>
            <a:r>
              <a:rPr lang="en-US" altLang="en-US" i="1" dirty="0">
                <a:latin typeface="Arial" panose="020B0604020202020204" pitchFamily="34" charset="0"/>
              </a:rPr>
              <a:t>a year </a:t>
            </a:r>
            <a:r>
              <a:rPr lang="en-US" altLang="en-US" dirty="0">
                <a:latin typeface="Arial" panose="020B0604020202020204" pitchFamily="34" charset="0"/>
              </a:rPr>
              <a:t>later – and they were still 63% accurate in judging which of two pictures they had seen before, significantly better than chance.  One more: people were asked to study an artificial language for 15 min, then tested on it </a:t>
            </a:r>
            <a:r>
              <a:rPr lang="en-US" altLang="en-US" i="1" dirty="0">
                <a:latin typeface="Arial" panose="020B0604020202020204" pitchFamily="34" charset="0"/>
              </a:rPr>
              <a:t>two years later</a:t>
            </a:r>
            <a:r>
              <a:rPr lang="en-US" altLang="en-US" dirty="0">
                <a:latin typeface="Arial" panose="020B0604020202020204" pitchFamily="34" charset="0"/>
              </a:rPr>
              <a:t> – and their performance in the test was better than chance.</a:t>
            </a:r>
          </a:p>
          <a:p>
            <a:endParaRPr lang="en-US" altLang="en-US" dirty="0">
              <a:latin typeface="Arial" panose="020B0604020202020204" pitchFamily="34" charset="0"/>
            </a:endParaRPr>
          </a:p>
        </p:txBody>
      </p:sp>
      <p:sp>
        <p:nvSpPr>
          <p:cNvPr id="53252" name="Slide Number Placeholder 3">
            <a:extLst>
              <a:ext uri="{FF2B5EF4-FFF2-40B4-BE49-F238E27FC236}">
                <a16:creationId xmlns:a16="http://schemas.microsoft.com/office/drawing/2014/main" id="{CB713D73-A48A-41BF-A6DF-15868896ECAD}"/>
              </a:ext>
            </a:extLst>
          </p:cNvPr>
          <p:cNvSpPr>
            <a:spLocks noGrp="1"/>
          </p:cNvSpPr>
          <p:nvPr>
            <p:ph type="sldNum" sz="quarter" idx="5"/>
          </p:nvPr>
        </p:nvSpPr>
        <p:spPr>
          <a:noFill/>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CD3FFB2-71F9-48BA-BE6A-B21004073E68}" type="slidenum">
              <a:rPr lang="en-US" altLang="en-US" sz="1300" smtClean="0"/>
              <a:pPr>
                <a:spcBef>
                  <a:spcPct val="0"/>
                </a:spcBef>
              </a:pPr>
              <a:t>37</a:t>
            </a:fld>
            <a:endParaRPr lang="en-US" altLang="en-US"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Marcador de Posição da Imagem do Diapositivo 1">
            <a:extLst>
              <a:ext uri="{FF2B5EF4-FFF2-40B4-BE49-F238E27FC236}">
                <a16:creationId xmlns:a16="http://schemas.microsoft.com/office/drawing/2014/main" id="{EC693FEA-1D1C-434C-B8EB-BF7F28314A7D}"/>
              </a:ext>
            </a:extLst>
          </p:cNvPr>
          <p:cNvSpPr>
            <a:spLocks noGrp="1" noRot="1" noChangeAspect="1" noChangeArrowheads="1" noTextEdit="1"/>
          </p:cNvSpPr>
          <p:nvPr>
            <p:ph type="sldImg"/>
          </p:nvPr>
        </p:nvSpPr>
        <p:spPr>
          <a:xfrm>
            <a:off x="992188" y="768350"/>
            <a:ext cx="5114925" cy="3836988"/>
          </a:xfrm>
          <a:ln/>
        </p:spPr>
      </p:sp>
      <p:sp>
        <p:nvSpPr>
          <p:cNvPr id="57347" name="Marcador de Posição de Notas 2">
            <a:extLst>
              <a:ext uri="{FF2B5EF4-FFF2-40B4-BE49-F238E27FC236}">
                <a16:creationId xmlns:a16="http://schemas.microsoft.com/office/drawing/2014/main" id="{878E2741-7A11-43C9-B837-0DE90273DA0F}"/>
              </a:ext>
            </a:extLst>
          </p:cNvPr>
          <p:cNvSpPr>
            <a:spLocks noGrp="1" noChangeArrowheads="1"/>
          </p:cNvSpPr>
          <p:nvPr>
            <p:ph type="body" idx="1"/>
          </p:nvPr>
        </p:nvSpPr>
        <p:spPr>
          <a:noFill/>
        </p:spPr>
        <p:txBody>
          <a:bodyPr/>
          <a:lstStyle/>
          <a:p>
            <a:r>
              <a:rPr lang="pt-PT" altLang="pt-PT">
                <a:latin typeface="Arial" panose="020B0604020202020204" pitchFamily="34" charset="0"/>
                <a:hlinkClick r:id="rId3"/>
              </a:rPr>
              <a:t>Fiquei aqui na TP1 28/2/24</a:t>
            </a:r>
          </a:p>
          <a:p>
            <a:r>
              <a:rPr lang="pt-PT" altLang="pt-PT" dirty="0">
                <a:latin typeface="Arial" panose="020B0604020202020204" pitchFamily="34" charset="0"/>
                <a:hlinkClick r:id="rId3"/>
              </a:rPr>
              <a:t>http://study.com/academy/lesson/selective-attention-definition-examples-quiz.html</a:t>
            </a:r>
            <a:endParaRPr lang="pt-PT" altLang="pt-PT" dirty="0">
              <a:latin typeface="Arial" panose="020B0604020202020204" pitchFamily="34" charset="0"/>
            </a:endParaRPr>
          </a:p>
          <a:p>
            <a:endParaRPr lang="en-US" altLang="en-US" dirty="0">
              <a:latin typeface="Arial" panose="020B0604020202020204" pitchFamily="34" charset="0"/>
            </a:endParaRPr>
          </a:p>
        </p:txBody>
      </p:sp>
      <p:sp>
        <p:nvSpPr>
          <p:cNvPr id="57348" name="Marcador de Posição do Número do Diapositivo 3">
            <a:extLst>
              <a:ext uri="{FF2B5EF4-FFF2-40B4-BE49-F238E27FC236}">
                <a16:creationId xmlns:a16="http://schemas.microsoft.com/office/drawing/2014/main" id="{28EC329C-A501-4C22-8D61-6EEC45936C41}"/>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964F16-8FCF-4DC0-8A2B-98111589D755}" type="slidenum">
              <a:rPr lang="en-GB" altLang="en-US" sz="1300" smtClean="0"/>
              <a:pPr>
                <a:spcBef>
                  <a:spcPct val="0"/>
                </a:spcBef>
              </a:pPr>
              <a:t>40</a:t>
            </a:fld>
            <a:endParaRPr lang="en-GB" altLang="en-US"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Marcador de Posição da Imagem do Diapositivo 1">
            <a:extLst>
              <a:ext uri="{FF2B5EF4-FFF2-40B4-BE49-F238E27FC236}">
                <a16:creationId xmlns:a16="http://schemas.microsoft.com/office/drawing/2014/main" id="{4558C1D4-F7CC-474E-BA63-8DE047F611B7}"/>
              </a:ext>
            </a:extLst>
          </p:cNvPr>
          <p:cNvSpPr>
            <a:spLocks noGrp="1" noRot="1" noChangeAspect="1" noChangeArrowheads="1" noTextEdit="1"/>
          </p:cNvSpPr>
          <p:nvPr>
            <p:ph type="sldImg"/>
          </p:nvPr>
        </p:nvSpPr>
        <p:spPr>
          <a:xfrm>
            <a:off x="992188" y="768350"/>
            <a:ext cx="5114925" cy="3836988"/>
          </a:xfrm>
          <a:ln/>
        </p:spPr>
      </p:sp>
      <p:sp>
        <p:nvSpPr>
          <p:cNvPr id="62467" name="Marcador de Posição de Notas 2">
            <a:extLst>
              <a:ext uri="{FF2B5EF4-FFF2-40B4-BE49-F238E27FC236}">
                <a16:creationId xmlns:a16="http://schemas.microsoft.com/office/drawing/2014/main" id="{CAECE80A-6FBB-4184-8DFD-FE8E7E81097F}"/>
              </a:ext>
            </a:extLst>
          </p:cNvPr>
          <p:cNvSpPr>
            <a:spLocks noGrp="1" noChangeArrowheads="1"/>
          </p:cNvSpPr>
          <p:nvPr>
            <p:ph type="body" idx="1"/>
          </p:nvPr>
        </p:nvSpPr>
        <p:spPr>
          <a:noFill/>
        </p:spPr>
        <p:txBody>
          <a:bodyPr/>
          <a:lstStyle/>
          <a:p>
            <a:endParaRPr lang="pt-PT" altLang="pt-PT">
              <a:latin typeface="Arial" panose="020B0604020202020204" pitchFamily="34" charset="0"/>
            </a:endParaRPr>
          </a:p>
        </p:txBody>
      </p:sp>
      <p:sp>
        <p:nvSpPr>
          <p:cNvPr id="62468" name="Marcador de Posição do Número do Diapositivo 3">
            <a:extLst>
              <a:ext uri="{FF2B5EF4-FFF2-40B4-BE49-F238E27FC236}">
                <a16:creationId xmlns:a16="http://schemas.microsoft.com/office/drawing/2014/main" id="{4FFD438E-8915-44A3-AE3D-59619E323592}"/>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78EB5AC-1D65-45A6-AFB6-C6509271495E}" type="slidenum">
              <a:rPr lang="en-GB" altLang="pt-PT" sz="1300" smtClean="0"/>
              <a:pPr>
                <a:spcBef>
                  <a:spcPct val="0"/>
                </a:spcBef>
              </a:pPr>
              <a:t>41</a:t>
            </a:fld>
            <a:endParaRPr lang="en-GB" altLang="pt-PT" sz="1300"/>
          </a:p>
        </p:txBody>
      </p:sp>
    </p:spTree>
    <p:extLst>
      <p:ext uri="{BB962C8B-B14F-4D97-AF65-F5344CB8AC3E}">
        <p14:creationId xmlns:p14="http://schemas.microsoft.com/office/powerpoint/2010/main" val="4122450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Marcador de Posição da Imagem do Diapositivo 1">
            <a:extLst>
              <a:ext uri="{FF2B5EF4-FFF2-40B4-BE49-F238E27FC236}">
                <a16:creationId xmlns:a16="http://schemas.microsoft.com/office/drawing/2014/main" id="{5CE01510-85E4-4A04-BB26-186D13ACD34C}"/>
              </a:ext>
            </a:extLst>
          </p:cNvPr>
          <p:cNvSpPr>
            <a:spLocks noGrp="1" noRot="1" noChangeAspect="1" noChangeArrowheads="1" noTextEdit="1"/>
          </p:cNvSpPr>
          <p:nvPr>
            <p:ph type="sldImg"/>
          </p:nvPr>
        </p:nvSpPr>
        <p:spPr>
          <a:xfrm>
            <a:off x="992188" y="768350"/>
            <a:ext cx="5114925" cy="3836988"/>
          </a:xfrm>
          <a:ln/>
        </p:spPr>
      </p:sp>
      <p:sp>
        <p:nvSpPr>
          <p:cNvPr id="65539" name="Marcador de Posição de Notas 2">
            <a:extLst>
              <a:ext uri="{FF2B5EF4-FFF2-40B4-BE49-F238E27FC236}">
                <a16:creationId xmlns:a16="http://schemas.microsoft.com/office/drawing/2014/main" id="{7DBDA8D0-1F44-4971-AA89-91FC3C7C37CD}"/>
              </a:ext>
            </a:extLst>
          </p:cNvPr>
          <p:cNvSpPr>
            <a:spLocks noGrp="1" noChangeArrowheads="1"/>
          </p:cNvSpPr>
          <p:nvPr>
            <p:ph type="body" idx="1"/>
          </p:nvPr>
        </p:nvSpPr>
        <p:spPr>
          <a:noFill/>
        </p:spPr>
        <p:txBody>
          <a:bodyPr/>
          <a:lstStyle/>
          <a:p>
            <a:r>
              <a:rPr lang="en-US" altLang="en-US">
                <a:latin typeface="Arial" panose="020B0604020202020204" pitchFamily="34" charset="0"/>
              </a:rPr>
              <a:t>XR Education and Hybrid Horizons</a:t>
            </a:r>
          </a:p>
          <a:p>
            <a:r>
              <a:rPr lang="en-US" altLang="en-US">
                <a:latin typeface="Arial" panose="020B0604020202020204" pitchFamily="34" charset="0"/>
              </a:rPr>
              <a:t>XR Education and Hybrid Horizons</a:t>
            </a:r>
          </a:p>
          <a:p>
            <a:endParaRPr lang="en-US" altLang="en-US">
              <a:latin typeface="Arial" panose="020B0604020202020204" pitchFamily="34" charset="0"/>
            </a:endParaRPr>
          </a:p>
        </p:txBody>
      </p:sp>
      <p:sp>
        <p:nvSpPr>
          <p:cNvPr id="65540" name="Marcador de Posição do Número do Diapositivo 3">
            <a:extLst>
              <a:ext uri="{FF2B5EF4-FFF2-40B4-BE49-F238E27FC236}">
                <a16:creationId xmlns:a16="http://schemas.microsoft.com/office/drawing/2014/main" id="{0851AC56-0AD6-44A7-A759-C3AA0448CC89}"/>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944AF35-7144-4C82-9BFD-0A2342BA0C96}" type="slidenum">
              <a:rPr lang="en-GB" altLang="en-US" sz="1300" smtClean="0"/>
              <a:pPr>
                <a:spcBef>
                  <a:spcPct val="0"/>
                </a:spcBef>
              </a:pPr>
              <a:t>45</a:t>
            </a:fld>
            <a:endParaRPr lang="en-GB" altLang="en-US" sz="1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Marcador de Posição da Imagem do Diapositivo 1">
            <a:extLst>
              <a:ext uri="{FF2B5EF4-FFF2-40B4-BE49-F238E27FC236}">
                <a16:creationId xmlns:a16="http://schemas.microsoft.com/office/drawing/2014/main" id="{52EDFF2A-6082-4C9F-8C07-9BE5F45420B4}"/>
              </a:ext>
            </a:extLst>
          </p:cNvPr>
          <p:cNvSpPr>
            <a:spLocks noGrp="1" noRot="1" noChangeAspect="1" noChangeArrowheads="1" noTextEdit="1"/>
          </p:cNvSpPr>
          <p:nvPr>
            <p:ph type="sldImg"/>
          </p:nvPr>
        </p:nvSpPr>
        <p:spPr>
          <a:xfrm>
            <a:off x="992188" y="768350"/>
            <a:ext cx="5114925" cy="3836988"/>
          </a:xfrm>
          <a:ln/>
        </p:spPr>
      </p:sp>
      <p:sp>
        <p:nvSpPr>
          <p:cNvPr id="67587" name="Marcador de Posição de Notas 2">
            <a:extLst>
              <a:ext uri="{FF2B5EF4-FFF2-40B4-BE49-F238E27FC236}">
                <a16:creationId xmlns:a16="http://schemas.microsoft.com/office/drawing/2014/main" id="{B08C29A4-C338-4D0A-BDC2-8EB16425D6D7}"/>
              </a:ext>
            </a:extLst>
          </p:cNvPr>
          <p:cNvSpPr>
            <a:spLocks noGrp="1" noChangeArrowheads="1"/>
          </p:cNvSpPr>
          <p:nvPr>
            <p:ph type="body" idx="1"/>
          </p:nvPr>
        </p:nvSpPr>
        <p:spPr>
          <a:noFill/>
        </p:spPr>
        <p:txBody>
          <a:bodyPr/>
          <a:lstStyle/>
          <a:p>
            <a:r>
              <a:rPr lang="en-US" altLang="en-US">
                <a:latin typeface="Arial" panose="020B0604020202020204" pitchFamily="34" charset="0"/>
              </a:rPr>
              <a:t>http://www.interaction-design.org/tv/why_do_we_love_hate_everyday_things_don_norman.html</a:t>
            </a:r>
          </a:p>
          <a:p>
            <a:r>
              <a:rPr lang="en-US" altLang="en-US">
                <a:latin typeface="Arial" panose="020B0604020202020204" pitchFamily="34" charset="0"/>
              </a:rPr>
              <a:t>http://www.jnd.org/dn.mss/emotional_desig_1.html</a:t>
            </a:r>
          </a:p>
        </p:txBody>
      </p:sp>
      <p:sp>
        <p:nvSpPr>
          <p:cNvPr id="67588" name="Marcador de Posição do Número do Diapositivo 3">
            <a:extLst>
              <a:ext uri="{FF2B5EF4-FFF2-40B4-BE49-F238E27FC236}">
                <a16:creationId xmlns:a16="http://schemas.microsoft.com/office/drawing/2014/main" id="{6B1AA3E1-0DDB-43BC-9B36-5877DC15BBEB}"/>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EDA164-A4BC-4A91-BD6B-4839C10E6667}" type="slidenum">
              <a:rPr lang="en-GB" altLang="en-US" sz="1300" smtClean="0"/>
              <a:pPr>
                <a:spcBef>
                  <a:spcPct val="0"/>
                </a:spcBef>
              </a:pPr>
              <a:t>46</a:t>
            </a:fld>
            <a:endParaRPr lang="en-GB" altLang="en-US"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A5B7F095-CAD0-447B-A408-281A4CB45763}"/>
              </a:ext>
            </a:extLst>
          </p:cNvPr>
          <p:cNvSpPr>
            <a:spLocks noGrp="1" noRot="1" noChangeAspect="1" noChangeArrowheads="1" noTextEdit="1"/>
          </p:cNvSpPr>
          <p:nvPr>
            <p:ph type="sldImg"/>
          </p:nvPr>
        </p:nvSpPr>
        <p:spPr>
          <a:xfrm>
            <a:off x="992188" y="768350"/>
            <a:ext cx="5114925" cy="3836988"/>
          </a:xfrm>
          <a:ln/>
        </p:spPr>
      </p:sp>
      <p:sp>
        <p:nvSpPr>
          <p:cNvPr id="75779" name="Notes Placeholder 2">
            <a:extLst>
              <a:ext uri="{FF2B5EF4-FFF2-40B4-BE49-F238E27FC236}">
                <a16:creationId xmlns:a16="http://schemas.microsoft.com/office/drawing/2014/main" id="{15847FA2-1D37-4605-953A-663363A24C6E}"/>
              </a:ext>
            </a:extLst>
          </p:cNvPr>
          <p:cNvSpPr>
            <a:spLocks noGrp="1" noChangeArrowheads="1"/>
          </p:cNvSpPr>
          <p:nvPr>
            <p:ph type="body" idx="1"/>
          </p:nvPr>
        </p:nvSpPr>
        <p:spPr>
          <a:noFill/>
        </p:spPr>
        <p:txBody>
          <a:bodyPr/>
          <a:lstStyle/>
          <a:p>
            <a:endParaRPr lang="pt-PT" altLang="en-US">
              <a:latin typeface="Arial" panose="020B0604020202020204" pitchFamily="34" charset="0"/>
            </a:endParaRPr>
          </a:p>
        </p:txBody>
      </p:sp>
      <p:sp>
        <p:nvSpPr>
          <p:cNvPr id="75780" name="Slide Number Placeholder 3">
            <a:extLst>
              <a:ext uri="{FF2B5EF4-FFF2-40B4-BE49-F238E27FC236}">
                <a16:creationId xmlns:a16="http://schemas.microsoft.com/office/drawing/2014/main" id="{C2D572C6-D11F-43A8-9920-F82324D2049A}"/>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C79D33-07AD-44AA-99E7-CD3ABFC6FAD7}" type="slidenum">
              <a:rPr lang="en-GB" altLang="en-US" sz="1300" smtClean="0"/>
              <a:pPr>
                <a:spcBef>
                  <a:spcPct val="0"/>
                </a:spcBef>
              </a:pPr>
              <a:t>57</a:t>
            </a:fld>
            <a:endParaRPr lang="en-GB" altLang="en-US"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00051F82-9F0B-447C-AFD1-6827CF42EACB}"/>
              </a:ext>
            </a:extLst>
          </p:cNvPr>
          <p:cNvSpPr>
            <a:spLocks noGrp="1" noRot="1" noChangeAspect="1" noChangeArrowheads="1" noTextEdit="1"/>
          </p:cNvSpPr>
          <p:nvPr>
            <p:ph type="sldImg"/>
          </p:nvPr>
        </p:nvSpPr>
        <p:spPr>
          <a:xfrm>
            <a:off x="992188" y="768350"/>
            <a:ext cx="5114925" cy="3836988"/>
          </a:xfrm>
          <a:ln/>
        </p:spPr>
      </p:sp>
      <p:sp>
        <p:nvSpPr>
          <p:cNvPr id="79875" name="Notes Placeholder 2">
            <a:extLst>
              <a:ext uri="{FF2B5EF4-FFF2-40B4-BE49-F238E27FC236}">
                <a16:creationId xmlns:a16="http://schemas.microsoft.com/office/drawing/2014/main" id="{AF99408A-3E5F-42CE-A671-D9C5B6F089FD}"/>
              </a:ext>
            </a:extLst>
          </p:cNvPr>
          <p:cNvSpPr>
            <a:spLocks noGrp="1" noChangeArrowheads="1"/>
          </p:cNvSpPr>
          <p:nvPr>
            <p:ph type="body" idx="1"/>
          </p:nvPr>
        </p:nvSpPr>
        <p:spPr>
          <a:noFill/>
        </p:spPr>
        <p:txBody>
          <a:bodyPr/>
          <a:lstStyle/>
          <a:p>
            <a:endParaRPr lang="en-US" altLang="en-US">
              <a:latin typeface="Arial" panose="020B0604020202020204" pitchFamily="34" charset="0"/>
            </a:endParaRPr>
          </a:p>
        </p:txBody>
      </p:sp>
      <p:sp>
        <p:nvSpPr>
          <p:cNvPr id="79876" name="Slide Number Placeholder 3">
            <a:extLst>
              <a:ext uri="{FF2B5EF4-FFF2-40B4-BE49-F238E27FC236}">
                <a16:creationId xmlns:a16="http://schemas.microsoft.com/office/drawing/2014/main" id="{BFF995D6-19C9-4FED-B35C-88D8D3855CE5}"/>
              </a:ext>
            </a:extLst>
          </p:cNvPr>
          <p:cNvSpPr>
            <a:spLocks noGrp="1"/>
          </p:cNvSpPr>
          <p:nvPr>
            <p:ph type="sldNum" sz="quarter" idx="5"/>
          </p:nvPr>
        </p:nvSpPr>
        <p:spPr>
          <a:noFill/>
        </p:spPr>
        <p:txBody>
          <a:bodyPr/>
          <a:lstStyle>
            <a:lvl1pPr defTabSz="990600">
              <a:defRPr b="1">
                <a:solidFill>
                  <a:schemeClr val="tx1"/>
                </a:solidFill>
                <a:latin typeface="Arial" panose="020B0604020202020204" pitchFamily="34" charset="0"/>
                <a:cs typeface="Arial" panose="020B0604020202020204" pitchFamily="34" charset="0"/>
              </a:defRPr>
            </a:lvl1pPr>
            <a:lvl2pPr marL="742950" indent="-285750" defTabSz="990600">
              <a:defRPr b="1">
                <a:solidFill>
                  <a:schemeClr val="tx1"/>
                </a:solidFill>
                <a:latin typeface="Arial" panose="020B0604020202020204" pitchFamily="34" charset="0"/>
                <a:cs typeface="Arial" panose="020B0604020202020204" pitchFamily="34" charset="0"/>
              </a:defRPr>
            </a:lvl2pPr>
            <a:lvl3pPr marL="1143000" indent="-228600" defTabSz="990600">
              <a:defRPr b="1">
                <a:solidFill>
                  <a:schemeClr val="tx1"/>
                </a:solidFill>
                <a:latin typeface="Arial" panose="020B0604020202020204" pitchFamily="34" charset="0"/>
                <a:cs typeface="Arial" panose="020B0604020202020204" pitchFamily="34" charset="0"/>
              </a:defRPr>
            </a:lvl3pPr>
            <a:lvl4pPr marL="1600200" indent="-228600" defTabSz="990600">
              <a:defRPr b="1">
                <a:solidFill>
                  <a:schemeClr val="tx1"/>
                </a:solidFill>
                <a:latin typeface="Arial" panose="020B0604020202020204" pitchFamily="34" charset="0"/>
                <a:cs typeface="Arial" panose="020B0604020202020204" pitchFamily="34" charset="0"/>
              </a:defRPr>
            </a:lvl4pPr>
            <a:lvl5pPr marL="2057400" indent="-228600" defTabSz="990600">
              <a:defRPr b="1">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fld id="{1651120E-8B28-4180-B8AB-9E952C66F981}" type="slidenum">
              <a:rPr lang="en-GB" altLang="en-US" b="0" smtClean="0"/>
              <a:pPr/>
              <a:t>63</a:t>
            </a:fld>
            <a:endParaRPr lang="en-GB" altLang="en-US" b="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4FF2FC7A-1113-489A-A86A-BB5F5F3912BB}"/>
              </a:ext>
            </a:extLst>
          </p:cNvPr>
          <p:cNvSpPr>
            <a:spLocks noGrp="1" noRot="1" noChangeAspect="1" noChangeArrowheads="1" noTextEdit="1"/>
          </p:cNvSpPr>
          <p:nvPr>
            <p:ph type="sldImg"/>
          </p:nvPr>
        </p:nvSpPr>
        <p:spPr>
          <a:xfrm>
            <a:off x="992188" y="768350"/>
            <a:ext cx="5114925" cy="3836988"/>
          </a:xfrm>
          <a:ln/>
        </p:spPr>
      </p:sp>
      <p:sp>
        <p:nvSpPr>
          <p:cNvPr id="7171" name="Notes Placeholder 2">
            <a:extLst>
              <a:ext uri="{FF2B5EF4-FFF2-40B4-BE49-F238E27FC236}">
                <a16:creationId xmlns:a16="http://schemas.microsoft.com/office/drawing/2014/main" id="{4A48A885-CF5D-4004-A97B-CFBDD0947449}"/>
              </a:ext>
            </a:extLst>
          </p:cNvPr>
          <p:cNvSpPr>
            <a:spLocks noGrp="1" noChangeArrowheads="1"/>
          </p:cNvSpPr>
          <p:nvPr>
            <p:ph type="body" idx="1"/>
          </p:nvPr>
        </p:nvSpPr>
        <p:spPr>
          <a:noFill/>
        </p:spPr>
        <p:txBody>
          <a:bodyPr/>
          <a:lstStyle/>
          <a:p>
            <a:endParaRPr lang="pt-PT" altLang="pt-PT">
              <a:latin typeface="Arial" panose="020B0604020202020204" pitchFamily="34" charset="0"/>
            </a:endParaRPr>
          </a:p>
        </p:txBody>
      </p:sp>
      <p:sp>
        <p:nvSpPr>
          <p:cNvPr id="7172" name="Slide Number Placeholder 3">
            <a:extLst>
              <a:ext uri="{FF2B5EF4-FFF2-40B4-BE49-F238E27FC236}">
                <a16:creationId xmlns:a16="http://schemas.microsoft.com/office/drawing/2014/main" id="{40ADE1EC-9B51-4F66-9F99-46E22B0AACA1}"/>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7CEA44-0011-47C5-A805-90F229726625}" type="slidenum">
              <a:rPr lang="en-GB" altLang="en-US" sz="1300" smtClean="0"/>
              <a:pPr>
                <a:spcBef>
                  <a:spcPct val="0"/>
                </a:spcBef>
              </a:pPr>
              <a:t>66</a:t>
            </a:fld>
            <a:endParaRPr lang="en-GB" altLang="en-US" sz="1300"/>
          </a:p>
        </p:txBody>
      </p:sp>
    </p:spTree>
    <p:extLst>
      <p:ext uri="{BB962C8B-B14F-4D97-AF65-F5344CB8AC3E}">
        <p14:creationId xmlns:p14="http://schemas.microsoft.com/office/powerpoint/2010/main" val="720692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0114" name="Rectangle 2"/>
          <p:cNvSpPr>
            <a:spLocks noGrp="1" noChangeArrowheads="1"/>
          </p:cNvSpPr>
          <p:nvPr>
            <p:ph type="ctrTitle"/>
          </p:nvPr>
        </p:nvSpPr>
        <p:spPr>
          <a:xfrm>
            <a:off x="685800" y="2130425"/>
            <a:ext cx="7772400" cy="1470025"/>
          </a:xfrm>
        </p:spPr>
        <p:txBody>
          <a:bodyPr/>
          <a:lstStyle>
            <a:lvl1pPr>
              <a:defRPr/>
            </a:lvl1pPr>
          </a:lstStyle>
          <a:p>
            <a:pPr lvl="0"/>
            <a:r>
              <a:rPr lang="en-GB" noProof="0"/>
              <a:t>Clique para editar o estilo do título			</a:t>
            </a:r>
          </a:p>
        </p:txBody>
      </p:sp>
      <p:sp>
        <p:nvSpPr>
          <p:cNvPr id="90115"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GB" noProof="0"/>
              <a:t>Faça clique para editar o estilo do subtítulo do modelo global</a:t>
            </a:r>
          </a:p>
        </p:txBody>
      </p:sp>
      <p:sp>
        <p:nvSpPr>
          <p:cNvPr id="4" name="Rectangle 4">
            <a:extLst>
              <a:ext uri="{FF2B5EF4-FFF2-40B4-BE49-F238E27FC236}">
                <a16:creationId xmlns:a16="http://schemas.microsoft.com/office/drawing/2014/main" id="{6896DA6B-D6E9-4CAB-8B5D-F535AC335F87}"/>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5" name="Rectangle 5">
            <a:extLst>
              <a:ext uri="{FF2B5EF4-FFF2-40B4-BE49-F238E27FC236}">
                <a16:creationId xmlns:a16="http://schemas.microsoft.com/office/drawing/2014/main" id="{2A19CA1D-F8E7-4E6F-AA7A-EFAA0BAF6A2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A6D4672-A6D7-412D-AA98-9F688BC3014A}"/>
              </a:ext>
            </a:extLst>
          </p:cNvPr>
          <p:cNvSpPr>
            <a:spLocks noGrp="1" noChangeArrowheads="1"/>
          </p:cNvSpPr>
          <p:nvPr>
            <p:ph type="sldNum" sz="quarter" idx="12"/>
          </p:nvPr>
        </p:nvSpPr>
        <p:spPr>
          <a:ln/>
        </p:spPr>
        <p:txBody>
          <a:bodyPr/>
          <a:lstStyle>
            <a:lvl1pPr>
              <a:defRPr/>
            </a:lvl1pPr>
          </a:lstStyle>
          <a:p>
            <a:pPr>
              <a:defRPr/>
            </a:pPr>
            <a:fld id="{D81EDDBF-FFD3-44DD-9374-F9B119EEC801}" type="slidenum">
              <a:rPr lang="en-GB" altLang="en-US"/>
              <a:pPr>
                <a:defRPr/>
              </a:pPr>
              <a:t>‹#›</a:t>
            </a:fld>
            <a:endParaRPr lang="en-GB" altLang="en-US"/>
          </a:p>
        </p:txBody>
      </p:sp>
    </p:spTree>
    <p:extLst>
      <p:ext uri="{BB962C8B-B14F-4D97-AF65-F5344CB8AC3E}">
        <p14:creationId xmlns:p14="http://schemas.microsoft.com/office/powerpoint/2010/main" val="3566571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D0E9EC9E-92B5-44DE-B14B-4C129AF420C3}"/>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5" name="Rectangle 5">
            <a:extLst>
              <a:ext uri="{FF2B5EF4-FFF2-40B4-BE49-F238E27FC236}">
                <a16:creationId xmlns:a16="http://schemas.microsoft.com/office/drawing/2014/main" id="{B909FD66-0D4B-4D74-9C63-B41C60B32CB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B8B6B06A-3C15-4F80-919C-B1F6D0BEE7B9}"/>
              </a:ext>
            </a:extLst>
          </p:cNvPr>
          <p:cNvSpPr>
            <a:spLocks noGrp="1" noChangeArrowheads="1"/>
          </p:cNvSpPr>
          <p:nvPr>
            <p:ph type="sldNum" sz="quarter" idx="12"/>
          </p:nvPr>
        </p:nvSpPr>
        <p:spPr>
          <a:ln/>
        </p:spPr>
        <p:txBody>
          <a:bodyPr/>
          <a:lstStyle>
            <a:lvl1pPr>
              <a:defRPr/>
            </a:lvl1pPr>
          </a:lstStyle>
          <a:p>
            <a:pPr>
              <a:defRPr/>
            </a:pPr>
            <a:fld id="{8A8E65A0-793D-4C86-BCE1-C5C8FEDDF532}" type="slidenum">
              <a:rPr lang="en-GB" altLang="en-US"/>
              <a:pPr>
                <a:defRPr/>
              </a:pPr>
              <a:t>‹#›</a:t>
            </a:fld>
            <a:endParaRPr lang="en-GB" altLang="en-US"/>
          </a:p>
        </p:txBody>
      </p:sp>
    </p:spTree>
    <p:extLst>
      <p:ext uri="{BB962C8B-B14F-4D97-AF65-F5344CB8AC3E}">
        <p14:creationId xmlns:p14="http://schemas.microsoft.com/office/powerpoint/2010/main" val="4209688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pt-PT"/>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3C16CD1-A7C4-4F25-90B7-66FCACB63CF3}"/>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5" name="Rectangle 5">
            <a:extLst>
              <a:ext uri="{FF2B5EF4-FFF2-40B4-BE49-F238E27FC236}">
                <a16:creationId xmlns:a16="http://schemas.microsoft.com/office/drawing/2014/main" id="{C8ED4633-2043-47BD-9148-884DB3E3FF6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8E94F7AB-4C20-4DEC-AC1E-860613142AD1}"/>
              </a:ext>
            </a:extLst>
          </p:cNvPr>
          <p:cNvSpPr>
            <a:spLocks noGrp="1" noChangeArrowheads="1"/>
          </p:cNvSpPr>
          <p:nvPr>
            <p:ph type="sldNum" sz="quarter" idx="12"/>
          </p:nvPr>
        </p:nvSpPr>
        <p:spPr>
          <a:ln/>
        </p:spPr>
        <p:txBody>
          <a:bodyPr/>
          <a:lstStyle>
            <a:lvl1pPr>
              <a:defRPr/>
            </a:lvl1pPr>
          </a:lstStyle>
          <a:p>
            <a:pPr>
              <a:defRPr/>
            </a:pPr>
            <a:fld id="{4366AB5A-81BC-441A-9159-DFB3C61CAD90}" type="slidenum">
              <a:rPr lang="en-GB" altLang="en-US"/>
              <a:pPr>
                <a:defRPr/>
              </a:pPr>
              <a:t>‹#›</a:t>
            </a:fld>
            <a:endParaRPr lang="en-GB" altLang="en-US"/>
          </a:p>
        </p:txBody>
      </p:sp>
    </p:spTree>
    <p:extLst>
      <p:ext uri="{BB962C8B-B14F-4D97-AF65-F5344CB8AC3E}">
        <p14:creationId xmlns:p14="http://schemas.microsoft.com/office/powerpoint/2010/main" val="2608339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Rectangle 4">
            <a:extLst>
              <a:ext uri="{FF2B5EF4-FFF2-40B4-BE49-F238E27FC236}">
                <a16:creationId xmlns:a16="http://schemas.microsoft.com/office/drawing/2014/main" id="{BCF18090-E9BF-4BB0-ACCC-BB97EAE402D5}"/>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6" name="Rectangle 5">
            <a:extLst>
              <a:ext uri="{FF2B5EF4-FFF2-40B4-BE49-F238E27FC236}">
                <a16:creationId xmlns:a16="http://schemas.microsoft.com/office/drawing/2014/main" id="{EFBC1735-ACE6-42F0-8EB2-93E057FBD4F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9E2B3914-5DA5-4E8F-9039-583EEAE38048}"/>
              </a:ext>
            </a:extLst>
          </p:cNvPr>
          <p:cNvSpPr>
            <a:spLocks noGrp="1" noChangeArrowheads="1"/>
          </p:cNvSpPr>
          <p:nvPr>
            <p:ph type="sldNum" sz="quarter" idx="12"/>
          </p:nvPr>
        </p:nvSpPr>
        <p:spPr>
          <a:ln/>
        </p:spPr>
        <p:txBody>
          <a:bodyPr/>
          <a:lstStyle>
            <a:lvl1pPr>
              <a:defRPr/>
            </a:lvl1pPr>
          </a:lstStyle>
          <a:p>
            <a:pPr>
              <a:defRPr/>
            </a:pPr>
            <a:fld id="{80FCC0E3-77D8-4675-82F7-18127E3EB66E}" type="slidenum">
              <a:rPr lang="en-GB" altLang="en-US"/>
              <a:pPr>
                <a:defRPr/>
              </a:pPr>
              <a:t>‹#›</a:t>
            </a:fld>
            <a:endParaRPr lang="en-GB" altLang="en-US"/>
          </a:p>
        </p:txBody>
      </p:sp>
    </p:spTree>
    <p:extLst>
      <p:ext uri="{BB962C8B-B14F-4D97-AF65-F5344CB8AC3E}">
        <p14:creationId xmlns:p14="http://schemas.microsoft.com/office/powerpoint/2010/main" val="268507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pt-PT"/>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Rectangle 4">
            <a:extLst>
              <a:ext uri="{FF2B5EF4-FFF2-40B4-BE49-F238E27FC236}">
                <a16:creationId xmlns:a16="http://schemas.microsoft.com/office/drawing/2014/main" id="{DE06B4A7-E080-4212-8B38-16FF50065091}"/>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8" name="Rectangle 5">
            <a:extLst>
              <a:ext uri="{FF2B5EF4-FFF2-40B4-BE49-F238E27FC236}">
                <a16:creationId xmlns:a16="http://schemas.microsoft.com/office/drawing/2014/main" id="{D171AE46-1AE6-464A-8A04-B0E0570B74F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ABF09675-C41E-4DC5-A271-DB6FE310A618}"/>
              </a:ext>
            </a:extLst>
          </p:cNvPr>
          <p:cNvSpPr>
            <a:spLocks noGrp="1" noChangeArrowheads="1"/>
          </p:cNvSpPr>
          <p:nvPr>
            <p:ph type="sldNum" sz="quarter" idx="12"/>
          </p:nvPr>
        </p:nvSpPr>
        <p:spPr>
          <a:ln/>
        </p:spPr>
        <p:txBody>
          <a:bodyPr/>
          <a:lstStyle>
            <a:lvl1pPr>
              <a:defRPr/>
            </a:lvl1pPr>
          </a:lstStyle>
          <a:p>
            <a:pPr>
              <a:defRPr/>
            </a:pPr>
            <a:fld id="{3372BE66-BFEA-4ED9-A6C8-FCAD75632BA6}" type="slidenum">
              <a:rPr lang="en-GB" altLang="en-US"/>
              <a:pPr>
                <a:defRPr/>
              </a:pPr>
              <a:t>‹#›</a:t>
            </a:fld>
            <a:endParaRPr lang="en-GB" altLang="en-US"/>
          </a:p>
        </p:txBody>
      </p:sp>
    </p:spTree>
    <p:extLst>
      <p:ext uri="{BB962C8B-B14F-4D97-AF65-F5344CB8AC3E}">
        <p14:creationId xmlns:p14="http://schemas.microsoft.com/office/powerpoint/2010/main" val="865786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Rectangle 4">
            <a:extLst>
              <a:ext uri="{FF2B5EF4-FFF2-40B4-BE49-F238E27FC236}">
                <a16:creationId xmlns:a16="http://schemas.microsoft.com/office/drawing/2014/main" id="{7D855CA6-479A-40D1-95D4-354E1AC493F4}"/>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4" name="Rectangle 5">
            <a:extLst>
              <a:ext uri="{FF2B5EF4-FFF2-40B4-BE49-F238E27FC236}">
                <a16:creationId xmlns:a16="http://schemas.microsoft.com/office/drawing/2014/main" id="{72555735-9517-4A59-9F62-3967CF20B42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2D6A53D0-229C-4D4E-AA0F-3F17F7CFA727}"/>
              </a:ext>
            </a:extLst>
          </p:cNvPr>
          <p:cNvSpPr>
            <a:spLocks noGrp="1" noChangeArrowheads="1"/>
          </p:cNvSpPr>
          <p:nvPr>
            <p:ph type="sldNum" sz="quarter" idx="12"/>
          </p:nvPr>
        </p:nvSpPr>
        <p:spPr>
          <a:ln/>
        </p:spPr>
        <p:txBody>
          <a:bodyPr/>
          <a:lstStyle>
            <a:lvl1pPr>
              <a:defRPr/>
            </a:lvl1pPr>
          </a:lstStyle>
          <a:p>
            <a:pPr>
              <a:defRPr/>
            </a:pPr>
            <a:fld id="{633D9104-8D31-42D3-A18C-FAE7659B8C0B}" type="slidenum">
              <a:rPr lang="en-GB" altLang="en-US"/>
              <a:pPr>
                <a:defRPr/>
              </a:pPr>
              <a:t>‹#›</a:t>
            </a:fld>
            <a:endParaRPr lang="en-GB" altLang="en-US"/>
          </a:p>
        </p:txBody>
      </p:sp>
    </p:spTree>
    <p:extLst>
      <p:ext uri="{BB962C8B-B14F-4D97-AF65-F5344CB8AC3E}">
        <p14:creationId xmlns:p14="http://schemas.microsoft.com/office/powerpoint/2010/main" val="858331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223F3E-7F1C-4D54-B932-62FF20A78A5A}"/>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3" name="Rectangle 5">
            <a:extLst>
              <a:ext uri="{FF2B5EF4-FFF2-40B4-BE49-F238E27FC236}">
                <a16:creationId xmlns:a16="http://schemas.microsoft.com/office/drawing/2014/main" id="{8A4D7EF2-6DCD-424C-9024-2C939A9A194D}"/>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41B2E3DC-1B5C-464B-BA8E-9C32D8B2324F}"/>
              </a:ext>
            </a:extLst>
          </p:cNvPr>
          <p:cNvSpPr>
            <a:spLocks noGrp="1" noChangeArrowheads="1"/>
          </p:cNvSpPr>
          <p:nvPr>
            <p:ph type="sldNum" sz="quarter" idx="12"/>
          </p:nvPr>
        </p:nvSpPr>
        <p:spPr>
          <a:ln/>
        </p:spPr>
        <p:txBody>
          <a:bodyPr/>
          <a:lstStyle>
            <a:lvl1pPr>
              <a:defRPr/>
            </a:lvl1pPr>
          </a:lstStyle>
          <a:p>
            <a:pPr>
              <a:defRPr/>
            </a:pPr>
            <a:fld id="{DE35AAD9-25EA-4085-9FC5-B08542FCEC55}" type="slidenum">
              <a:rPr lang="en-GB" altLang="en-US"/>
              <a:pPr>
                <a:defRPr/>
              </a:pPr>
              <a:t>‹#›</a:t>
            </a:fld>
            <a:endParaRPr lang="en-GB" altLang="en-US"/>
          </a:p>
        </p:txBody>
      </p:sp>
    </p:spTree>
    <p:extLst>
      <p:ext uri="{BB962C8B-B14F-4D97-AF65-F5344CB8AC3E}">
        <p14:creationId xmlns:p14="http://schemas.microsoft.com/office/powerpoint/2010/main" val="4137354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pt-PT"/>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A4A0EC9-2E5E-4038-AABE-7460B5847491}"/>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6" name="Rectangle 5">
            <a:extLst>
              <a:ext uri="{FF2B5EF4-FFF2-40B4-BE49-F238E27FC236}">
                <a16:creationId xmlns:a16="http://schemas.microsoft.com/office/drawing/2014/main" id="{D6FB5CF7-4345-4CDB-AA68-232EA0FC455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5C27B8A2-2DE0-4561-8920-8122C32DFD70}"/>
              </a:ext>
            </a:extLst>
          </p:cNvPr>
          <p:cNvSpPr>
            <a:spLocks noGrp="1" noChangeArrowheads="1"/>
          </p:cNvSpPr>
          <p:nvPr>
            <p:ph type="sldNum" sz="quarter" idx="12"/>
          </p:nvPr>
        </p:nvSpPr>
        <p:spPr>
          <a:ln/>
        </p:spPr>
        <p:txBody>
          <a:bodyPr/>
          <a:lstStyle>
            <a:lvl1pPr>
              <a:defRPr/>
            </a:lvl1pPr>
          </a:lstStyle>
          <a:p>
            <a:pPr>
              <a:defRPr/>
            </a:pPr>
            <a:fld id="{FB7F7C18-3DBC-4A68-884C-F6063A1DD231}" type="slidenum">
              <a:rPr lang="en-GB" altLang="en-US"/>
              <a:pPr>
                <a:defRPr/>
              </a:pPr>
              <a:t>‹#›</a:t>
            </a:fld>
            <a:endParaRPr lang="en-GB" altLang="en-US"/>
          </a:p>
        </p:txBody>
      </p:sp>
    </p:spTree>
    <p:extLst>
      <p:ext uri="{BB962C8B-B14F-4D97-AF65-F5344CB8AC3E}">
        <p14:creationId xmlns:p14="http://schemas.microsoft.com/office/powerpoint/2010/main" val="3570998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pt-PT"/>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PT"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87F60D3-BF56-4FF8-B53C-1EE9B84C5454}"/>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6" name="Rectangle 5">
            <a:extLst>
              <a:ext uri="{FF2B5EF4-FFF2-40B4-BE49-F238E27FC236}">
                <a16:creationId xmlns:a16="http://schemas.microsoft.com/office/drawing/2014/main" id="{BA3A1CBA-6F7C-4FE8-BEA4-B85D43A07D3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F95B8E66-86D1-449D-89BB-2678A2B67AD6}"/>
              </a:ext>
            </a:extLst>
          </p:cNvPr>
          <p:cNvSpPr>
            <a:spLocks noGrp="1" noChangeArrowheads="1"/>
          </p:cNvSpPr>
          <p:nvPr>
            <p:ph type="sldNum" sz="quarter" idx="12"/>
          </p:nvPr>
        </p:nvSpPr>
        <p:spPr>
          <a:ln/>
        </p:spPr>
        <p:txBody>
          <a:bodyPr/>
          <a:lstStyle>
            <a:lvl1pPr>
              <a:defRPr/>
            </a:lvl1pPr>
          </a:lstStyle>
          <a:p>
            <a:pPr>
              <a:defRPr/>
            </a:pPr>
            <a:fld id="{B3E741FE-FA85-4E8F-B9FB-D8781A772D9C}" type="slidenum">
              <a:rPr lang="en-GB" altLang="en-US"/>
              <a:pPr>
                <a:defRPr/>
              </a:pPr>
              <a:t>‹#›</a:t>
            </a:fld>
            <a:endParaRPr lang="en-GB" altLang="en-US"/>
          </a:p>
        </p:txBody>
      </p:sp>
    </p:spTree>
    <p:extLst>
      <p:ext uri="{BB962C8B-B14F-4D97-AF65-F5344CB8AC3E}">
        <p14:creationId xmlns:p14="http://schemas.microsoft.com/office/powerpoint/2010/main" val="3689386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D766243A-1B9F-44EB-9D3F-BD051C6510DC}"/>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5" name="Rectangle 5">
            <a:extLst>
              <a:ext uri="{FF2B5EF4-FFF2-40B4-BE49-F238E27FC236}">
                <a16:creationId xmlns:a16="http://schemas.microsoft.com/office/drawing/2014/main" id="{062096A0-ECF0-462D-99A2-A7C06963A7FC}"/>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16166FC8-97D0-4EA2-AEB6-0B8AA490DD1E}"/>
              </a:ext>
            </a:extLst>
          </p:cNvPr>
          <p:cNvSpPr>
            <a:spLocks noGrp="1" noChangeArrowheads="1"/>
          </p:cNvSpPr>
          <p:nvPr>
            <p:ph type="sldNum" sz="quarter" idx="12"/>
          </p:nvPr>
        </p:nvSpPr>
        <p:spPr>
          <a:ln/>
        </p:spPr>
        <p:txBody>
          <a:bodyPr/>
          <a:lstStyle>
            <a:lvl1pPr>
              <a:defRPr/>
            </a:lvl1pPr>
          </a:lstStyle>
          <a:p>
            <a:pPr>
              <a:defRPr/>
            </a:pPr>
            <a:fld id="{5C137507-89D3-4BBE-BE85-0FD5E4F498FD}" type="slidenum">
              <a:rPr lang="en-GB" altLang="en-US"/>
              <a:pPr>
                <a:defRPr/>
              </a:pPr>
              <a:t>‹#›</a:t>
            </a:fld>
            <a:endParaRPr lang="en-GB" altLang="en-US"/>
          </a:p>
        </p:txBody>
      </p:sp>
    </p:spTree>
    <p:extLst>
      <p:ext uri="{BB962C8B-B14F-4D97-AF65-F5344CB8AC3E}">
        <p14:creationId xmlns:p14="http://schemas.microsoft.com/office/powerpoint/2010/main" val="1899069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pt-PT"/>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Rectangle 4">
            <a:extLst>
              <a:ext uri="{FF2B5EF4-FFF2-40B4-BE49-F238E27FC236}">
                <a16:creationId xmlns:a16="http://schemas.microsoft.com/office/drawing/2014/main" id="{BDC9D706-3607-47D0-9B26-E7B89EC0A5AF}"/>
              </a:ext>
            </a:extLst>
          </p:cNvPr>
          <p:cNvSpPr>
            <a:spLocks noGrp="1" noChangeArrowheads="1"/>
          </p:cNvSpPr>
          <p:nvPr>
            <p:ph type="dt" sz="half" idx="10"/>
          </p:nvPr>
        </p:nvSpPr>
        <p:spPr>
          <a:ln/>
        </p:spPr>
        <p:txBody>
          <a:bodyPr/>
          <a:lstStyle>
            <a:lvl1pPr>
              <a:defRPr/>
            </a:lvl1pPr>
          </a:lstStyle>
          <a:p>
            <a:pPr>
              <a:defRPr/>
            </a:pPr>
            <a:r>
              <a:rPr lang="en-GB"/>
              <a:t>Beatriz Sousa Santos</a:t>
            </a:r>
          </a:p>
        </p:txBody>
      </p:sp>
      <p:sp>
        <p:nvSpPr>
          <p:cNvPr id="5" name="Rectangle 5">
            <a:extLst>
              <a:ext uri="{FF2B5EF4-FFF2-40B4-BE49-F238E27FC236}">
                <a16:creationId xmlns:a16="http://schemas.microsoft.com/office/drawing/2014/main" id="{A6C1A73E-040E-4114-B601-6918471B2D6D}"/>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482EBA0C-5400-4A4B-9CD3-188E91FA4EAA}"/>
              </a:ext>
            </a:extLst>
          </p:cNvPr>
          <p:cNvSpPr>
            <a:spLocks noGrp="1" noChangeArrowheads="1"/>
          </p:cNvSpPr>
          <p:nvPr>
            <p:ph type="sldNum" sz="quarter" idx="12"/>
          </p:nvPr>
        </p:nvSpPr>
        <p:spPr>
          <a:ln/>
        </p:spPr>
        <p:txBody>
          <a:bodyPr/>
          <a:lstStyle>
            <a:lvl1pPr>
              <a:defRPr/>
            </a:lvl1pPr>
          </a:lstStyle>
          <a:p>
            <a:pPr>
              <a:defRPr/>
            </a:pPr>
            <a:fld id="{F0AE2917-ED9D-4A40-88D9-D257D6009413}" type="slidenum">
              <a:rPr lang="en-GB" altLang="en-US"/>
              <a:pPr>
                <a:defRPr/>
              </a:pPr>
              <a:t>‹#›</a:t>
            </a:fld>
            <a:endParaRPr lang="en-GB" altLang="en-US"/>
          </a:p>
        </p:txBody>
      </p:sp>
    </p:spTree>
    <p:extLst>
      <p:ext uri="{BB962C8B-B14F-4D97-AF65-F5344CB8AC3E}">
        <p14:creationId xmlns:p14="http://schemas.microsoft.com/office/powerpoint/2010/main" val="3083415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948B5-32F4-42FB-A370-EA8F34A05108}"/>
              </a:ext>
            </a:extLst>
          </p:cNvPr>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B26A6A-D1E4-421B-929A-8323D9FC2B3C}"/>
              </a:ext>
            </a:extLst>
          </p:cNvPr>
          <p:cNvSpPr>
            <a:spLocks noGrp="1"/>
          </p:cNvSpPr>
          <p:nvPr>
            <p:ph type="body"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BC17F-4B13-4D3C-BAF7-94E1585B5E08}"/>
              </a:ext>
            </a:extLst>
          </p:cNvPr>
          <p:cNvSpPr>
            <a:spLocks noGrp="1"/>
          </p:cNvSpPr>
          <p:nvPr>
            <p:ph sz="quarter" idx="2"/>
          </p:nvPr>
        </p:nvSpPr>
        <p:spPr>
          <a:xfrm>
            <a:off x="4648200" y="1600200"/>
            <a:ext cx="4038600" cy="21859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60639518-9BA9-43B9-8A53-1FE604FA56F7}"/>
              </a:ext>
            </a:extLst>
          </p:cNvPr>
          <p:cNvSpPr>
            <a:spLocks noGrp="1"/>
          </p:cNvSpPr>
          <p:nvPr>
            <p:ph sz="quarter" idx="3"/>
          </p:nvPr>
        </p:nvSpPr>
        <p:spPr>
          <a:xfrm>
            <a:off x="4648200" y="3938588"/>
            <a:ext cx="4038600" cy="2187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9998728-BBFC-4B1E-9402-45EFD87A4E50}"/>
              </a:ext>
            </a:extLst>
          </p:cNvPr>
          <p:cNvSpPr>
            <a:spLocks noGrp="1"/>
          </p:cNvSpPr>
          <p:nvPr>
            <p:ph type="dt" sz="half" idx="10"/>
          </p:nvPr>
        </p:nvSpPr>
        <p:spPr>
          <a:xfrm>
            <a:off x="457200" y="6245225"/>
            <a:ext cx="2133600" cy="476250"/>
          </a:xfrm>
        </p:spPr>
        <p:txBody>
          <a:bodyPr/>
          <a:lstStyle>
            <a:lvl1pPr>
              <a:defRPr/>
            </a:lvl1pPr>
          </a:lstStyle>
          <a:p>
            <a:endParaRPr lang="en-GB" altLang="en-US"/>
          </a:p>
        </p:txBody>
      </p:sp>
      <p:sp>
        <p:nvSpPr>
          <p:cNvPr id="7" name="Footer Placeholder 6">
            <a:extLst>
              <a:ext uri="{FF2B5EF4-FFF2-40B4-BE49-F238E27FC236}">
                <a16:creationId xmlns:a16="http://schemas.microsoft.com/office/drawing/2014/main" id="{B418A2B1-EF92-471F-8F64-9412FA46F1F4}"/>
              </a:ext>
            </a:extLst>
          </p:cNvPr>
          <p:cNvSpPr>
            <a:spLocks noGrp="1"/>
          </p:cNvSpPr>
          <p:nvPr>
            <p:ph type="ftr" sz="quarter" idx="11"/>
          </p:nvPr>
        </p:nvSpPr>
        <p:spPr>
          <a:xfrm>
            <a:off x="3124200" y="6245225"/>
            <a:ext cx="2895600" cy="476250"/>
          </a:xfrm>
        </p:spPr>
        <p:txBody>
          <a:bodyPr/>
          <a:lstStyle>
            <a:lvl1pPr>
              <a:defRPr/>
            </a:lvl1pPr>
          </a:lstStyle>
          <a:p>
            <a:endParaRPr lang="en-GB" altLang="en-US"/>
          </a:p>
        </p:txBody>
      </p:sp>
      <p:sp>
        <p:nvSpPr>
          <p:cNvPr id="8" name="Slide Number Placeholder 7">
            <a:extLst>
              <a:ext uri="{FF2B5EF4-FFF2-40B4-BE49-F238E27FC236}">
                <a16:creationId xmlns:a16="http://schemas.microsoft.com/office/drawing/2014/main" id="{120DBC7E-D8C1-4F57-B13C-3C113056244D}"/>
              </a:ext>
            </a:extLst>
          </p:cNvPr>
          <p:cNvSpPr>
            <a:spLocks noGrp="1"/>
          </p:cNvSpPr>
          <p:nvPr>
            <p:ph type="sldNum" sz="quarter" idx="12"/>
          </p:nvPr>
        </p:nvSpPr>
        <p:spPr>
          <a:xfrm>
            <a:off x="6553200" y="6245225"/>
            <a:ext cx="2133600" cy="476250"/>
          </a:xfrm>
        </p:spPr>
        <p:txBody>
          <a:bodyPr/>
          <a:lstStyle>
            <a:lvl1pPr>
              <a:defRPr/>
            </a:lvl1pPr>
          </a:lstStyle>
          <a:p>
            <a:fld id="{6E9E3EAE-4D8D-41F5-9C47-E84CAA87BDD1}" type="slidenum">
              <a:rPr lang="en-GB" altLang="en-US"/>
              <a:pPr/>
              <a:t>‹#›</a:t>
            </a:fld>
            <a:endParaRPr lang="en-GB" altLang="en-US"/>
          </a:p>
        </p:txBody>
      </p:sp>
    </p:spTree>
    <p:extLst>
      <p:ext uri="{BB962C8B-B14F-4D97-AF65-F5344CB8AC3E}">
        <p14:creationId xmlns:p14="http://schemas.microsoft.com/office/powerpoint/2010/main" val="91967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5851ED3-4D33-4AD7-B610-9192CF977AE6}"/>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a:t>Clique para editar o estilo do título			</a:t>
            </a:r>
          </a:p>
        </p:txBody>
      </p:sp>
      <p:sp>
        <p:nvSpPr>
          <p:cNvPr id="1027" name="Rectangle 3">
            <a:extLst>
              <a:ext uri="{FF2B5EF4-FFF2-40B4-BE49-F238E27FC236}">
                <a16:creationId xmlns:a16="http://schemas.microsoft.com/office/drawing/2014/main" id="{1E79C60B-E7BF-4D31-82EC-CDEF50C0877F}"/>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Clique para editar os estilos de texto do modelo global</a:t>
            </a:r>
          </a:p>
          <a:p>
            <a:pPr lvl="1"/>
            <a:r>
              <a:rPr lang="en-GB" altLang="en-US"/>
              <a:t>Segundo nível</a:t>
            </a:r>
          </a:p>
          <a:p>
            <a:pPr lvl="2"/>
            <a:r>
              <a:rPr lang="en-GB" altLang="en-US"/>
              <a:t>Terceiro nível</a:t>
            </a:r>
          </a:p>
          <a:p>
            <a:pPr lvl="3"/>
            <a:r>
              <a:rPr lang="en-GB" altLang="en-US"/>
              <a:t>Quarto nível</a:t>
            </a:r>
          </a:p>
          <a:p>
            <a:pPr lvl="4"/>
            <a:r>
              <a:rPr lang="en-GB" altLang="en-US"/>
              <a:t>Quinto nível</a:t>
            </a:r>
          </a:p>
        </p:txBody>
      </p:sp>
      <p:sp>
        <p:nvSpPr>
          <p:cNvPr id="1028" name="Rectangle 4">
            <a:extLst>
              <a:ext uri="{FF2B5EF4-FFF2-40B4-BE49-F238E27FC236}">
                <a16:creationId xmlns:a16="http://schemas.microsoft.com/office/drawing/2014/main" id="{1121F58C-EC3B-4525-AE74-1692A0051E12}"/>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latin typeface="Arial" charset="0"/>
                <a:cs typeface="+mn-cs"/>
              </a:defRPr>
            </a:lvl1pPr>
          </a:lstStyle>
          <a:p>
            <a:pPr>
              <a:defRPr/>
            </a:pPr>
            <a:r>
              <a:rPr lang="en-GB"/>
              <a:t>Beatriz Sousa Santos</a:t>
            </a:r>
          </a:p>
        </p:txBody>
      </p:sp>
      <p:sp>
        <p:nvSpPr>
          <p:cNvPr id="1029" name="Rectangle 5">
            <a:extLst>
              <a:ext uri="{FF2B5EF4-FFF2-40B4-BE49-F238E27FC236}">
                <a16:creationId xmlns:a16="http://schemas.microsoft.com/office/drawing/2014/main" id="{ABEC4E03-5073-490C-B383-8C70E2668C75}"/>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latin typeface="Arial" charset="0"/>
                <a:cs typeface="+mn-cs"/>
              </a:defRPr>
            </a:lvl1pPr>
          </a:lstStyle>
          <a:p>
            <a:pPr>
              <a:defRPr/>
            </a:pPr>
            <a:endParaRPr lang="en-GB"/>
          </a:p>
        </p:txBody>
      </p:sp>
      <p:sp>
        <p:nvSpPr>
          <p:cNvPr id="1030" name="Rectangle 6">
            <a:extLst>
              <a:ext uri="{FF2B5EF4-FFF2-40B4-BE49-F238E27FC236}">
                <a16:creationId xmlns:a16="http://schemas.microsoft.com/office/drawing/2014/main" id="{6FA3E3A0-6E71-4E6C-BEB1-BA20C1294536}"/>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vl1pPr>
          </a:lstStyle>
          <a:p>
            <a:pPr>
              <a:defRPr/>
            </a:pPr>
            <a:fld id="{B09802E9-FA7E-4BAB-A7B3-40C065BE5E24}"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d-book.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ichaelbach.de/ot/lum-adelsonCheckShadow/index.html" TargetMode="External"/><Relationship Id="rId7" Type="http://schemas.openxmlformats.org/officeDocument/2006/relationships/hyperlink" Target="https://www.youtube.com/shorts/IP-okkvbvw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michaelbach.de/ot/lum-adelsonCheckShadow/index.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www.youtube.com/watch?v=-IWk5NkxQF8&amp;t=33s"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21.png"/><Relationship Id="rId5" Type="http://schemas.openxmlformats.org/officeDocument/2006/relationships/oleObject" Target="../embeddings/oleObject2.bin"/><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22.png"/><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nghs.fr/en/applications-mobiles/daltonism-correction-daltonizer-app"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comments" Target="../comments/comment1.xml"/></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4.png"/><Relationship Id="rId10" Type="http://schemas.openxmlformats.org/officeDocument/2006/relationships/comments" Target="../comments/comment2.xml"/><Relationship Id="rId4" Type="http://schemas.openxmlformats.org/officeDocument/2006/relationships/image" Target="../media/image33.png"/><Relationship Id="rId9"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comments" Target="../comments/comment3.xml"/><Relationship Id="rId3" Type="http://schemas.openxmlformats.org/officeDocument/2006/relationships/image" Target="../media/image31.png"/><Relationship Id="rId7" Type="http://schemas.openxmlformats.org/officeDocument/2006/relationships/hyperlink" Target="https://www.youtube.com/watch?v=-IWk5NkxQF8&amp;t=33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en.wikipedia.org/wiki/Illusory_contours" TargetMode="External"/><Relationship Id="rId5" Type="http://schemas.openxmlformats.org/officeDocument/2006/relationships/hyperlink" Target="https://en.wikipedia.org/wiki/Necker_cube" TargetMode="Externa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gJhyu6nlGt8" TargetMode="External"/><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zWvoPB-6Leg" TargetMode="External"/><Relationship Id="rId2" Type="http://schemas.openxmlformats.org/officeDocument/2006/relationships/hyperlink" Target="https://www.youtube.com/watch?v=VSp2Tm_M5ZQ"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Sense" TargetMode="External"/><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Sense" TargetMode="External"/><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Flight_simulator" TargetMode="Externa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hyperlink" Target="https://surgicalscience.com/systems/lapsim/" TargetMode="External"/><Relationship Id="rId5" Type="http://schemas.openxmlformats.org/officeDocument/2006/relationships/image" Target="../media/image43.png"/><Relationship Id="rId4" Type="http://schemas.openxmlformats.org/officeDocument/2006/relationships/hyperlink" Target="https://www.the737experience.co.uk/"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khanacademy.org/test-prep/mcat/processing-the-environment/somatosensation/v/proprioception-kinesthesia"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en.wikipedia.org/wiki/Sense" TargetMode="External"/><Relationship Id="rId5" Type="http://schemas.openxmlformats.org/officeDocument/2006/relationships/image" Target="../media/image44.png"/><Relationship Id="rId4" Type="http://schemas.openxmlformats.org/officeDocument/2006/relationships/hyperlink" Target="https://neuro-marseille.org/en/blog/our-true-sixth-sense-on-arte/"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ijhcs.2022.102928"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hyperlink" Target="https://en.wikipedia.org/wiki/Atkinson%E2%80%93Shiffrin_memory_mode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HVWbrNls-Kw" TargetMode="External"/><Relationship Id="rId2" Type="http://schemas.openxmlformats.org/officeDocument/2006/relationships/hyperlink" Target="https://www.youtube.com/watch?v=bSycdIx-C48" TargetMode="Externa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tudy.com/academy/lesson/george-miller-psychologist-theories-on-short-term-memory-lesson-quiz.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hyperlink" Target="http://study.com/academy/lesson/long-term-memory-definition-types-examples.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v=bSycdIx-C48" TargetMode="External"/><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hyperlink" Target="https://www.khanacademy.org/test-prep/mcat/processing-the-environment/attention-language/v/selective-attention"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dictionary.apa.org/selective-attention" TargetMode="External"/><Relationship Id="rId5" Type="http://schemas.openxmlformats.org/officeDocument/2006/relationships/image" Target="../media/image55.png"/><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comments" Target="../comments/comment6.xml"/><Relationship Id="rId5" Type="http://schemas.openxmlformats.org/officeDocument/2006/relationships/image" Target="../media/image57.png"/><Relationship Id="rId4" Type="http://schemas.openxmlformats.org/officeDocument/2006/relationships/hyperlink" Target="https://www.youtube.com/watch?v=IGQmdoK_ZfY"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www.youtube.com/watch?app=desktop&amp;v=Wl2LkzIkacM" TargetMode="External"/><Relationship Id="rId4" Type="http://schemas.openxmlformats.org/officeDocument/2006/relationships/hyperlink" Target="https://www.youtube.com/watch?app=desktop&amp;v=_PM3uqPNrWY"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interaction-design.org/literature/book/the-encyclopedia-of-human-computer-interaction-2nd-ed/affective-computing" TargetMode="Externa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hyperlink" Target="https://spj.science.org/doi/10.34133/icomputing.0076" TargetMode="External"/><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news.sky.com/story/alarming-study-reveals-everyday-tech-problems-facing-older-people-as-millions-dont-use-internet-at-all-12964823" TargetMode="Externa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8.xml.rels><?xml version="1.0" encoding="UTF-8" standalone="yes"?>
<Relationships xmlns="http://schemas.openxmlformats.org/package/2006/relationships"><Relationship Id="rId3" Type="http://schemas.openxmlformats.org/officeDocument/2006/relationships/hyperlink" Target="http://www.id-book.com/chapter3_teaching.php" TargetMode="External"/><Relationship Id="rId2" Type="http://schemas.openxmlformats.org/officeDocument/2006/relationships/hyperlink" Target="https://learning.oreilly.com/library/view/interaction-design-6th/9781119901099/cover.xhtml" TargetMode="External"/><Relationship Id="rId1" Type="http://schemas.openxmlformats.org/officeDocument/2006/relationships/slideLayout" Target="../slideLayouts/slideLayout2.xml"/><Relationship Id="rId4" Type="http://schemas.openxmlformats.org/officeDocument/2006/relationships/hyperlink" Target="https://www.interaction-design.org/literature/book/the-encyclopedia-of-human-computer-interaction-2nd-ed/affective-computing"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hci.shire.camdvr.org/register/TP2" TargetMode="External"/><Relationship Id="rId2" Type="http://schemas.openxmlformats.org/officeDocument/2006/relationships/hyperlink" Target="https://hci.shire.camdvr.org/register/TP1" TargetMode="Externa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hyperlink" Target="https://hci.shire.camdvr.org/register/TP3"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teams.microsoft.com/l/channel/19%3Adce5012007464ed6aa0c063aa9eff35d%40thread.tacv2/OTs?groupId=a82b9d56-c829-445f-a4ac-bbd4969965d5&amp;tenantId=c1025aae-98b9-4021-b4b6-c201214b884e" TargetMode="External"/><Relationship Id="rId2" Type="http://schemas.openxmlformats.org/officeDocument/2006/relationships/hyperlink" Target="https://teams.microsoft.com/l/team/19%3ATD0Lm86amcJrhaeadKNWDUEmNz3g7-rrSDMNee96a4A1%40thread.tacv2/conversations?groupId=a82b9d56-c829-445f-a4ac-bbd4969965d5&amp;tenantId=c1025aae-98b9-4021-b4b6-c201214b884e" TargetMode="Externa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ieeexplore.ieee.org/document/9915009" TargetMode="External"/><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hyperlink" Target="https://sui.acm.org/2022/program" TargetMode="External"/><Relationship Id="rId3" Type="http://schemas.openxmlformats.org/officeDocument/2006/relationships/hyperlink" Target="https://www.mum-conf.org/2022/schedule/#s2" TargetMode="External"/><Relationship Id="rId7" Type="http://schemas.openxmlformats.org/officeDocument/2006/relationships/hyperlink" Target="https://sui.acm.org/2022/"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7.png"/></Relationships>
</file>

<file path=ppt/slides/_rels/slide6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0C56356-5258-46AF-8FDD-4270F365CFDF}"/>
              </a:ext>
            </a:extLst>
          </p:cNvPr>
          <p:cNvSpPr>
            <a:spLocks noGrp="1" noChangeArrowheads="1"/>
          </p:cNvSpPr>
          <p:nvPr>
            <p:ph type="ctrTitle"/>
          </p:nvPr>
        </p:nvSpPr>
        <p:spPr>
          <a:xfrm>
            <a:off x="684213" y="2060575"/>
            <a:ext cx="7772400" cy="1470025"/>
          </a:xfrm>
        </p:spPr>
        <p:txBody>
          <a:bodyPr/>
          <a:lstStyle/>
          <a:p>
            <a:pPr eaLnBrk="1" hangingPunct="1"/>
            <a:r>
              <a:rPr lang="en-US" altLang="en-US" sz="3600" b="1" dirty="0">
                <a:latin typeface="Calibri" panose="020F0502020204030204" pitchFamily="34" charset="0"/>
                <a:cs typeface="Calibri" panose="020F0502020204030204" pitchFamily="34" charset="0"/>
              </a:rPr>
              <a:t>The User</a:t>
            </a:r>
            <a:br>
              <a:rPr lang="en-US" altLang="en-US" sz="3600" b="1" dirty="0">
                <a:latin typeface="Calibri" panose="020F0502020204030204" pitchFamily="34" charset="0"/>
                <a:cs typeface="Calibri" panose="020F0502020204030204" pitchFamily="34" charset="0"/>
              </a:rPr>
            </a:br>
            <a:r>
              <a:rPr lang="en-US" altLang="en-US" sz="2800" dirty="0">
                <a:latin typeface="Calibri" panose="020F0502020204030204" pitchFamily="34" charset="0"/>
                <a:cs typeface="Calibri" panose="020F0502020204030204" pitchFamily="34" charset="0"/>
              </a:rPr>
              <a:t>Human Information Processing Systems and </a:t>
            </a:r>
            <a:br>
              <a:rPr lang="en-US" altLang="en-US" sz="2800" dirty="0">
                <a:latin typeface="Calibri" panose="020F0502020204030204" pitchFamily="34" charset="0"/>
                <a:cs typeface="Calibri" panose="020F0502020204030204" pitchFamily="34" charset="0"/>
              </a:rPr>
            </a:br>
            <a:r>
              <a:rPr lang="en-US" altLang="en-US" sz="2800" dirty="0">
                <a:latin typeface="Calibri" panose="020F0502020204030204" pitchFamily="34" charset="0"/>
                <a:cs typeface="Calibri" panose="020F0502020204030204" pitchFamily="34" charset="0"/>
              </a:rPr>
              <a:t>User Profile</a:t>
            </a:r>
            <a:br>
              <a:rPr lang="pt-PT" altLang="en-US" sz="2800" dirty="0">
                <a:latin typeface="Calibri" panose="020F0502020204030204" pitchFamily="34" charset="0"/>
                <a:cs typeface="Calibri" panose="020F0502020204030204" pitchFamily="34" charset="0"/>
              </a:rPr>
            </a:br>
            <a:br>
              <a:rPr lang="pt-PT" altLang="en-US" sz="3600" b="1" dirty="0"/>
            </a:br>
            <a:br>
              <a:rPr lang="pt-PT" altLang="en-US" sz="2800" dirty="0"/>
            </a:br>
            <a:endParaRPr lang="pt-PT" altLang="en-US" sz="2000" dirty="0"/>
          </a:p>
        </p:txBody>
      </p:sp>
      <p:sp>
        <p:nvSpPr>
          <p:cNvPr id="4099" name="Rectangle 3">
            <a:extLst>
              <a:ext uri="{FF2B5EF4-FFF2-40B4-BE49-F238E27FC236}">
                <a16:creationId xmlns:a16="http://schemas.microsoft.com/office/drawing/2014/main" id="{74734C0B-808E-4EBC-B2B8-17E8DDD07C47}"/>
              </a:ext>
            </a:extLst>
          </p:cNvPr>
          <p:cNvSpPr>
            <a:spLocks noGrp="1" noChangeArrowheads="1"/>
          </p:cNvSpPr>
          <p:nvPr>
            <p:ph type="subTitle" idx="1"/>
          </p:nvPr>
        </p:nvSpPr>
        <p:spPr/>
        <p:txBody>
          <a:bodyPr/>
          <a:lstStyle/>
          <a:p>
            <a:pPr eaLnBrk="1" hangingPunct="1"/>
            <a:endParaRPr lang="en-GB" altLang="en-US" dirty="0"/>
          </a:p>
          <a:p>
            <a:pPr eaLnBrk="1" hangingPunct="1"/>
            <a:endParaRPr lang="en-GB" altLang="en-US" sz="2800" dirty="0"/>
          </a:p>
        </p:txBody>
      </p:sp>
      <p:sp>
        <p:nvSpPr>
          <p:cNvPr id="4102" name="Text Box 6">
            <a:extLst>
              <a:ext uri="{FF2B5EF4-FFF2-40B4-BE49-F238E27FC236}">
                <a16:creationId xmlns:a16="http://schemas.microsoft.com/office/drawing/2014/main" id="{3F07AB74-93CE-49EA-89ED-BE5AAE7E68E1}"/>
              </a:ext>
            </a:extLst>
          </p:cNvPr>
          <p:cNvSpPr txBox="1">
            <a:spLocks noChangeArrowheads="1"/>
          </p:cNvSpPr>
          <p:nvPr/>
        </p:nvSpPr>
        <p:spPr bwMode="auto">
          <a:xfrm>
            <a:off x="179388" y="6308725"/>
            <a:ext cx="5472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600" b="0"/>
              <a:t>	</a:t>
            </a:r>
          </a:p>
        </p:txBody>
      </p:sp>
      <p:sp>
        <p:nvSpPr>
          <p:cNvPr id="4103" name="Text Box 13">
            <a:extLst>
              <a:ext uri="{FF2B5EF4-FFF2-40B4-BE49-F238E27FC236}">
                <a16:creationId xmlns:a16="http://schemas.microsoft.com/office/drawing/2014/main" id="{32513DBD-3242-4410-B457-3676A6147832}"/>
              </a:ext>
            </a:extLst>
          </p:cNvPr>
          <p:cNvSpPr txBox="1">
            <a:spLocks noChangeArrowheads="1"/>
          </p:cNvSpPr>
          <p:nvPr/>
        </p:nvSpPr>
        <p:spPr bwMode="auto">
          <a:xfrm>
            <a:off x="188913" y="6307138"/>
            <a:ext cx="840263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600" dirty="0"/>
              <a:t> </a:t>
            </a:r>
            <a:r>
              <a:rPr lang="en-US" altLang="en-US" sz="1600" dirty="0"/>
              <a:t>Human-Computer Interaction                                                </a:t>
            </a:r>
            <a:r>
              <a:rPr lang="pt-PT" altLang="en-US" sz="1600" dirty="0"/>
              <a:t>Beatriz Sousa Santos 2026</a:t>
            </a:r>
          </a:p>
        </p:txBody>
      </p:sp>
      <p:pic>
        <p:nvPicPr>
          <p:cNvPr id="4104" name="Picture 10">
            <a:extLst>
              <a:ext uri="{FF2B5EF4-FFF2-40B4-BE49-F238E27FC236}">
                <a16:creationId xmlns:a16="http://schemas.microsoft.com/office/drawing/2014/main" id="{457FD78A-FC14-4434-A02C-90B7AF2BA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7238" y="3068638"/>
            <a:ext cx="2365375" cy="3065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Footer Placeholder 1">
            <a:extLst>
              <a:ext uri="{FF2B5EF4-FFF2-40B4-BE49-F238E27FC236}">
                <a16:creationId xmlns:a16="http://schemas.microsoft.com/office/drawing/2014/main" id="{661DC992-42A4-407F-BCAA-2430597AA96B}"/>
              </a:ext>
            </a:extLst>
          </p:cNvPr>
          <p:cNvSpPr>
            <a:spLocks noGrp="1"/>
          </p:cNvSpPr>
          <p:nvPr>
            <p:ph type="ftr" sz="quarter" idx="11"/>
          </p:nvPr>
        </p:nvSpPr>
        <p:spPr>
          <a:xfrm>
            <a:off x="2886075" y="6110288"/>
            <a:ext cx="2895600" cy="365125"/>
          </a:xfrm>
        </p:spPr>
        <p:txBody>
          <a:bodyPr/>
          <a:lstStyle/>
          <a:p>
            <a:pPr>
              <a:defRPr/>
            </a:pPr>
            <a:r>
              <a:rPr lang="en-GB" sz="1200" dirty="0">
                <a:solidFill>
                  <a:schemeClr val="accent6">
                    <a:lumMod val="75000"/>
                  </a:schemeClr>
                </a:solidFill>
                <a:latin typeface="Liberation Sans"/>
                <a:hlinkClick r:id="rId3"/>
              </a:rPr>
              <a:t>https://www.id-book.com/</a:t>
            </a:r>
            <a:r>
              <a:rPr lang="en-GB" sz="1200" dirty="0">
                <a:solidFill>
                  <a:schemeClr val="accent6">
                    <a:lumMod val="75000"/>
                  </a:schemeClr>
                </a:solidFill>
                <a:latin typeface="Liberation Sans"/>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Group Of People Stock Photos, Images and Backgrounds for Free Download">
            <a:extLst>
              <a:ext uri="{FF2B5EF4-FFF2-40B4-BE49-F238E27FC236}">
                <a16:creationId xmlns:a16="http://schemas.microsoft.com/office/drawing/2014/main" id="{8236C045-304F-D7A9-99D4-B8EA90DED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46" b="15385"/>
          <a:stretch/>
        </p:blipFill>
        <p:spPr bwMode="auto">
          <a:xfrm>
            <a:off x="15" y="661275"/>
            <a:ext cx="9143985" cy="5143493"/>
          </a:xfrm>
          <a:prstGeom prst="rect">
            <a:avLst/>
          </a:prstGeom>
          <a:solidFill>
            <a:srgbClr val="FFFFFF"/>
          </a:solidFill>
        </p:spPr>
      </p:pic>
      <p:sp>
        <p:nvSpPr>
          <p:cNvPr id="4" name="Title 1">
            <a:extLst>
              <a:ext uri="{FF2B5EF4-FFF2-40B4-BE49-F238E27FC236}">
                <a16:creationId xmlns:a16="http://schemas.microsoft.com/office/drawing/2014/main" id="{EFBC542F-7D9F-AB77-F757-FD700D8158F0}"/>
              </a:ext>
            </a:extLst>
          </p:cNvPr>
          <p:cNvSpPr>
            <a:spLocks noGrp="1"/>
          </p:cNvSpPr>
          <p:nvPr>
            <p:ph type="title"/>
          </p:nvPr>
        </p:nvSpPr>
        <p:spPr>
          <a:xfrm>
            <a:off x="0" y="5805264"/>
            <a:ext cx="9144000" cy="980728"/>
          </a:xfrm>
          <a:solidFill>
            <a:schemeClr val="bg2">
              <a:lumMod val="10000"/>
              <a:alpha val="65000"/>
            </a:schemeClr>
          </a:solidFill>
        </p:spPr>
        <p:txBody>
          <a:bodyPr>
            <a:noAutofit/>
          </a:bodyPr>
          <a:lstStyle/>
          <a:p>
            <a:pPr>
              <a:spcBef>
                <a:spcPts val="600"/>
              </a:spcBef>
            </a:pPr>
            <a:r>
              <a:rPr lang="en-GB" sz="2400" dirty="0">
                <a:solidFill>
                  <a:schemeClr val="bg1"/>
                </a:solidFill>
              </a:rPr>
              <a:t>Interactive systems are meant to be used by people: the users</a:t>
            </a:r>
            <a:br>
              <a:rPr lang="en-GB" sz="2400" dirty="0">
                <a:solidFill>
                  <a:schemeClr val="bg1"/>
                </a:solidFill>
              </a:rPr>
            </a:br>
            <a:r>
              <a:rPr lang="en-GB" sz="2400" dirty="0">
                <a:solidFill>
                  <a:schemeClr val="bg1"/>
                </a:solidFill>
              </a:rPr>
              <a:t>and must be designed considering their characteristics</a:t>
            </a:r>
            <a:br>
              <a:rPr lang="en-GB" sz="2400" dirty="0">
                <a:solidFill>
                  <a:schemeClr val="bg1"/>
                </a:solidFill>
              </a:rPr>
            </a:br>
            <a:endParaRPr lang="en-GB" sz="2400" dirty="0">
              <a:solidFill>
                <a:schemeClr val="bg1"/>
              </a:solidFill>
            </a:endParaRPr>
          </a:p>
        </p:txBody>
      </p:sp>
    </p:spTree>
    <p:extLst>
      <p:ext uri="{BB962C8B-B14F-4D97-AF65-F5344CB8AC3E}">
        <p14:creationId xmlns:p14="http://schemas.microsoft.com/office/powerpoint/2010/main" val="377443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236A5F5-D3A5-41F6-B9E8-BC257933676E}"/>
              </a:ext>
            </a:extLst>
          </p:cNvPr>
          <p:cNvSpPr>
            <a:spLocks noGrp="1" noChangeArrowheads="1"/>
          </p:cNvSpPr>
          <p:nvPr>
            <p:ph type="title"/>
          </p:nvPr>
        </p:nvSpPr>
        <p:spPr/>
        <p:txBody>
          <a:bodyPr/>
          <a:lstStyle/>
          <a:p>
            <a:pPr algn="l"/>
            <a:r>
              <a:rPr lang="en-US" altLang="en-US" sz="2400" b="1" dirty="0"/>
              <a:t>Outline</a:t>
            </a:r>
          </a:p>
        </p:txBody>
      </p:sp>
      <p:sp>
        <p:nvSpPr>
          <p:cNvPr id="7171" name="Content Placeholder 2">
            <a:extLst>
              <a:ext uri="{FF2B5EF4-FFF2-40B4-BE49-F238E27FC236}">
                <a16:creationId xmlns:a16="http://schemas.microsoft.com/office/drawing/2014/main" id="{A62B4704-6639-4372-9F81-0C15EA59E4F9}"/>
              </a:ext>
            </a:extLst>
          </p:cNvPr>
          <p:cNvSpPr>
            <a:spLocks noGrp="1"/>
          </p:cNvSpPr>
          <p:nvPr>
            <p:ph idx="1"/>
          </p:nvPr>
        </p:nvSpPr>
        <p:spPr>
          <a:xfrm>
            <a:off x="395536" y="1417638"/>
            <a:ext cx="8579296" cy="4983162"/>
          </a:xfrm>
        </p:spPr>
        <p:txBody>
          <a:bodyPr/>
          <a:lstStyle/>
          <a:p>
            <a:pPr>
              <a:defRPr/>
            </a:pPr>
            <a:r>
              <a:rPr lang="en-US" altLang="en-US" sz="2000" dirty="0"/>
              <a:t>Users Profile – relevant characteristics for interactive systems design </a:t>
            </a:r>
          </a:p>
          <a:p>
            <a:pPr>
              <a:defRPr/>
            </a:pPr>
            <a:endParaRPr lang="en-US" altLang="en-US" sz="2000" dirty="0"/>
          </a:p>
          <a:p>
            <a:pPr>
              <a:defRPr/>
            </a:pPr>
            <a:r>
              <a:rPr lang="en-US" altLang="en-US" sz="2000" dirty="0"/>
              <a:t>Human Information Processing System (HIPS)</a:t>
            </a:r>
          </a:p>
          <a:p>
            <a:pPr lvl="1">
              <a:defRPr/>
            </a:pPr>
            <a:r>
              <a:rPr lang="en-US" altLang="en-US" sz="2000" dirty="0"/>
              <a:t>Perceptual sub system</a:t>
            </a:r>
          </a:p>
          <a:p>
            <a:pPr lvl="1">
              <a:defRPr/>
            </a:pPr>
            <a:r>
              <a:rPr lang="en-US" altLang="en-US" sz="2000" dirty="0"/>
              <a:t>Senses</a:t>
            </a:r>
          </a:p>
          <a:p>
            <a:pPr lvl="2">
              <a:defRPr/>
            </a:pPr>
            <a:r>
              <a:rPr lang="en-US" altLang="en-US" sz="2000" dirty="0"/>
              <a:t>Sight, Hearing, Touch, Smell, Taste </a:t>
            </a:r>
          </a:p>
          <a:p>
            <a:pPr marL="914400" lvl="2" indent="0">
              <a:buFontTx/>
              <a:buNone/>
              <a:defRPr/>
            </a:pPr>
            <a:r>
              <a:rPr lang="en-US" altLang="en-US" sz="2000" dirty="0"/>
              <a:t>                     + Proprioception, Kinesthesia  …</a:t>
            </a:r>
          </a:p>
          <a:p>
            <a:pPr lvl="1">
              <a:defRPr/>
            </a:pPr>
            <a:endParaRPr lang="en-US" altLang="en-US" sz="2000" dirty="0"/>
          </a:p>
          <a:p>
            <a:pPr lvl="1">
              <a:defRPr/>
            </a:pPr>
            <a:r>
              <a:rPr lang="en-US" altLang="en-US" sz="2000" dirty="0"/>
              <a:t>Cognitive sub-system</a:t>
            </a:r>
          </a:p>
          <a:p>
            <a:pPr lvl="1">
              <a:defRPr/>
            </a:pPr>
            <a:r>
              <a:rPr lang="en-US" altLang="en-US" sz="2000" dirty="0"/>
              <a:t>Memory</a:t>
            </a:r>
          </a:p>
          <a:p>
            <a:pPr lvl="1">
              <a:defRPr/>
            </a:pPr>
            <a:endParaRPr lang="en-US" altLang="en-US" sz="2000" dirty="0"/>
          </a:p>
          <a:p>
            <a:pPr>
              <a:defRPr/>
            </a:pPr>
            <a:r>
              <a:rPr lang="en-US" altLang="en-US" sz="2000" dirty="0"/>
              <a:t>Other relevant characteristics</a:t>
            </a:r>
          </a:p>
          <a:p>
            <a:pPr>
              <a:defRPr/>
            </a:pPr>
            <a:endParaRPr lang="en-US" altLang="en-US" sz="2000" dirty="0"/>
          </a:p>
          <a:p>
            <a:pPr>
              <a:defRPr/>
            </a:pPr>
            <a:r>
              <a:rPr lang="en-US" altLang="en-US" sz="2000" dirty="0"/>
              <a:t>Implications on the design of interactive systems </a:t>
            </a:r>
          </a:p>
          <a:p>
            <a:pPr>
              <a:defRPr/>
            </a:pPr>
            <a:endParaRPr lang="en-US" altLang="en-US" sz="2000" dirty="0"/>
          </a:p>
        </p:txBody>
      </p:sp>
      <p:sp>
        <p:nvSpPr>
          <p:cNvPr id="12292" name="Slide Number Placeholder 3">
            <a:extLst>
              <a:ext uri="{FF2B5EF4-FFF2-40B4-BE49-F238E27FC236}">
                <a16:creationId xmlns:a16="http://schemas.microsoft.com/office/drawing/2014/main" id="{C8005E32-41CF-429F-AEE0-23E4D7708E2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189E97F-522E-44B0-8FD1-40970D93024B}" type="slidenum">
              <a:rPr lang="en-US" altLang="en-US" sz="1400" smtClean="0"/>
              <a:pPr>
                <a:spcBef>
                  <a:spcPct val="0"/>
                </a:spcBef>
                <a:buFontTx/>
                <a:buNone/>
              </a:pPr>
              <a:t>3</a:t>
            </a:fld>
            <a:endParaRPr lang="en-US" altLang="en-US" sz="1400"/>
          </a:p>
        </p:txBody>
      </p:sp>
    </p:spTree>
    <p:extLst>
      <p:ext uri="{BB962C8B-B14F-4D97-AF65-F5344CB8AC3E}">
        <p14:creationId xmlns:p14="http://schemas.microsoft.com/office/powerpoint/2010/main" val="3620890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6C916849-17C5-49FB-8BC9-26377338EDE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3BF64E9-3413-47D7-8483-244C6DD2F214}" type="slidenum">
              <a:rPr lang="en-GB" altLang="en-US" sz="1400" smtClean="0"/>
              <a:pPr>
                <a:spcBef>
                  <a:spcPct val="0"/>
                </a:spcBef>
                <a:buFontTx/>
                <a:buNone/>
              </a:pPr>
              <a:t>4</a:t>
            </a:fld>
            <a:endParaRPr lang="en-GB" altLang="en-US" sz="1400"/>
          </a:p>
        </p:txBody>
      </p:sp>
      <p:pic>
        <p:nvPicPr>
          <p:cNvPr id="14339" name="Picture 2">
            <a:extLst>
              <a:ext uri="{FF2B5EF4-FFF2-40B4-BE49-F238E27FC236}">
                <a16:creationId xmlns:a16="http://schemas.microsoft.com/office/drawing/2014/main" id="{B25AE0CB-59BB-4BFF-8784-2F4B85EEC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1989138"/>
            <a:ext cx="5143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3">
            <a:extLst>
              <a:ext uri="{FF2B5EF4-FFF2-40B4-BE49-F238E27FC236}">
                <a16:creationId xmlns:a16="http://schemas.microsoft.com/office/drawing/2014/main" id="{B0FC6A47-9F04-42E6-AC37-12B2DF0D0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3573463"/>
            <a:ext cx="6096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4">
            <a:extLst>
              <a:ext uri="{FF2B5EF4-FFF2-40B4-BE49-F238E27FC236}">
                <a16:creationId xmlns:a16="http://schemas.microsoft.com/office/drawing/2014/main" id="{7279CE19-EEB2-4F0C-AE6E-5C5944684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3357563"/>
            <a:ext cx="3810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5">
            <a:extLst>
              <a:ext uri="{FF2B5EF4-FFF2-40B4-BE49-F238E27FC236}">
                <a16:creationId xmlns:a16="http://schemas.microsoft.com/office/drawing/2014/main" id="{1A745528-2FF1-4AA0-BE1D-3E77105D0D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1989138"/>
            <a:ext cx="43656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Oval 11">
            <a:extLst>
              <a:ext uri="{FF2B5EF4-FFF2-40B4-BE49-F238E27FC236}">
                <a16:creationId xmlns:a16="http://schemas.microsoft.com/office/drawing/2014/main" id="{B39F3BD9-804C-4F0A-8CFA-3A23C790B1BE}"/>
              </a:ext>
            </a:extLst>
          </p:cNvPr>
          <p:cNvSpPr>
            <a:spLocks noChangeArrowheads="1"/>
          </p:cNvSpPr>
          <p:nvPr/>
        </p:nvSpPr>
        <p:spPr bwMode="auto">
          <a:xfrm>
            <a:off x="1763713" y="2060575"/>
            <a:ext cx="1368425" cy="230505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pt-PT" altLang="en-US" sz="1800"/>
          </a:p>
        </p:txBody>
      </p:sp>
      <p:sp>
        <p:nvSpPr>
          <p:cNvPr id="14344" name="Oval 12">
            <a:extLst>
              <a:ext uri="{FF2B5EF4-FFF2-40B4-BE49-F238E27FC236}">
                <a16:creationId xmlns:a16="http://schemas.microsoft.com/office/drawing/2014/main" id="{9DD09990-3B06-4E92-BEE5-537AAE340D90}"/>
              </a:ext>
            </a:extLst>
          </p:cNvPr>
          <p:cNvSpPr>
            <a:spLocks noChangeArrowheads="1"/>
          </p:cNvSpPr>
          <p:nvPr/>
        </p:nvSpPr>
        <p:spPr bwMode="auto">
          <a:xfrm>
            <a:off x="2482850" y="1989138"/>
            <a:ext cx="1368425" cy="23764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pt-PT" altLang="en-US" sz="1800"/>
          </a:p>
        </p:txBody>
      </p:sp>
      <p:sp>
        <p:nvSpPr>
          <p:cNvPr id="14345" name="Text Box 13">
            <a:extLst>
              <a:ext uri="{FF2B5EF4-FFF2-40B4-BE49-F238E27FC236}">
                <a16:creationId xmlns:a16="http://schemas.microsoft.com/office/drawing/2014/main" id="{7BC88909-8641-4356-B6A0-36A817B9E412}"/>
              </a:ext>
            </a:extLst>
          </p:cNvPr>
          <p:cNvSpPr txBox="1">
            <a:spLocks noChangeArrowheads="1"/>
          </p:cNvSpPr>
          <p:nvPr/>
        </p:nvSpPr>
        <p:spPr bwMode="auto">
          <a:xfrm>
            <a:off x="2700338" y="2189163"/>
            <a:ext cx="287337" cy="2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400">
                <a:solidFill>
                  <a:schemeClr val="hlink"/>
                </a:solidFill>
              </a:rPr>
              <a:t>interface</a:t>
            </a:r>
          </a:p>
        </p:txBody>
      </p:sp>
      <p:sp>
        <p:nvSpPr>
          <p:cNvPr id="14346" name="Text Box 14">
            <a:extLst>
              <a:ext uri="{FF2B5EF4-FFF2-40B4-BE49-F238E27FC236}">
                <a16:creationId xmlns:a16="http://schemas.microsoft.com/office/drawing/2014/main" id="{EE43014A-8EFC-4118-9E94-860A7650EFAD}"/>
              </a:ext>
            </a:extLst>
          </p:cNvPr>
          <p:cNvSpPr txBox="1">
            <a:spLocks noChangeArrowheads="1"/>
          </p:cNvSpPr>
          <p:nvPr/>
        </p:nvSpPr>
        <p:spPr bwMode="auto">
          <a:xfrm>
            <a:off x="468313" y="3933825"/>
            <a:ext cx="1257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600" b="0"/>
              <a:t>computer</a:t>
            </a:r>
          </a:p>
        </p:txBody>
      </p:sp>
      <p:sp>
        <p:nvSpPr>
          <p:cNvPr id="14347" name="Text Box 15">
            <a:extLst>
              <a:ext uri="{FF2B5EF4-FFF2-40B4-BE49-F238E27FC236}">
                <a16:creationId xmlns:a16="http://schemas.microsoft.com/office/drawing/2014/main" id="{78A1D8AF-C8DB-4044-8462-046B8F409552}"/>
              </a:ext>
            </a:extLst>
          </p:cNvPr>
          <p:cNvSpPr txBox="1">
            <a:spLocks noChangeArrowheads="1"/>
          </p:cNvSpPr>
          <p:nvPr/>
        </p:nvSpPr>
        <p:spPr bwMode="auto">
          <a:xfrm>
            <a:off x="3995738" y="2420938"/>
            <a:ext cx="5842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600" b="0"/>
              <a:t>user</a:t>
            </a:r>
          </a:p>
        </p:txBody>
      </p:sp>
      <p:sp>
        <p:nvSpPr>
          <p:cNvPr id="14348" name="Text Box 17">
            <a:extLst>
              <a:ext uri="{FF2B5EF4-FFF2-40B4-BE49-F238E27FC236}">
                <a16:creationId xmlns:a16="http://schemas.microsoft.com/office/drawing/2014/main" id="{5828CA7E-7A03-49A2-9070-79C2B2366BBA}"/>
              </a:ext>
            </a:extLst>
          </p:cNvPr>
          <p:cNvSpPr txBox="1">
            <a:spLocks noChangeArrowheads="1"/>
          </p:cNvSpPr>
          <p:nvPr/>
        </p:nvSpPr>
        <p:spPr bwMode="auto">
          <a:xfrm>
            <a:off x="3903663" y="2851150"/>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b="0" i="1">
                <a:solidFill>
                  <a:srgbClr val="D60093"/>
                </a:solidFill>
              </a:rPr>
              <a:t>think</a:t>
            </a:r>
          </a:p>
        </p:txBody>
      </p:sp>
      <p:sp>
        <p:nvSpPr>
          <p:cNvPr id="14349" name="Text Box 18">
            <a:extLst>
              <a:ext uri="{FF2B5EF4-FFF2-40B4-BE49-F238E27FC236}">
                <a16:creationId xmlns:a16="http://schemas.microsoft.com/office/drawing/2014/main" id="{6C3101B4-7B9C-4852-8DEF-A3B1766B690B}"/>
              </a:ext>
            </a:extLst>
          </p:cNvPr>
          <p:cNvSpPr txBox="1">
            <a:spLocks noChangeArrowheads="1"/>
          </p:cNvSpPr>
          <p:nvPr/>
        </p:nvSpPr>
        <p:spPr bwMode="auto">
          <a:xfrm>
            <a:off x="1116013" y="3141663"/>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b="0" i="1">
                <a:solidFill>
                  <a:srgbClr val="D60093"/>
                </a:solidFill>
              </a:rPr>
              <a:t>think</a:t>
            </a:r>
          </a:p>
        </p:txBody>
      </p:sp>
      <p:sp>
        <p:nvSpPr>
          <p:cNvPr id="14350" name="Text Box 19">
            <a:extLst>
              <a:ext uri="{FF2B5EF4-FFF2-40B4-BE49-F238E27FC236}">
                <a16:creationId xmlns:a16="http://schemas.microsoft.com/office/drawing/2014/main" id="{40FD2528-72FD-4D28-A165-958524192838}"/>
              </a:ext>
            </a:extLst>
          </p:cNvPr>
          <p:cNvSpPr txBox="1">
            <a:spLocks noChangeArrowheads="1"/>
          </p:cNvSpPr>
          <p:nvPr/>
        </p:nvSpPr>
        <p:spPr bwMode="auto">
          <a:xfrm>
            <a:off x="1908175" y="4292600"/>
            <a:ext cx="2016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b="0" i="1">
                <a:solidFill>
                  <a:srgbClr val="D60093"/>
                </a:solidFill>
              </a:rPr>
              <a:t>read-scan     respond</a:t>
            </a:r>
          </a:p>
        </p:txBody>
      </p:sp>
      <p:sp>
        <p:nvSpPr>
          <p:cNvPr id="14351" name="Text Box 20">
            <a:extLst>
              <a:ext uri="{FF2B5EF4-FFF2-40B4-BE49-F238E27FC236}">
                <a16:creationId xmlns:a16="http://schemas.microsoft.com/office/drawing/2014/main" id="{29BFAE08-4A5B-4758-893D-C0A794C488C6}"/>
              </a:ext>
            </a:extLst>
          </p:cNvPr>
          <p:cNvSpPr txBox="1">
            <a:spLocks noChangeArrowheads="1"/>
          </p:cNvSpPr>
          <p:nvPr/>
        </p:nvSpPr>
        <p:spPr bwMode="auto">
          <a:xfrm>
            <a:off x="1835150" y="1700213"/>
            <a:ext cx="2016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b="0" i="1">
                <a:solidFill>
                  <a:srgbClr val="D60093"/>
                </a:solidFill>
              </a:rPr>
              <a:t>respond    read-scan</a:t>
            </a:r>
          </a:p>
        </p:txBody>
      </p:sp>
      <p:sp>
        <p:nvSpPr>
          <p:cNvPr id="14352" name="Text Box 21">
            <a:extLst>
              <a:ext uri="{FF2B5EF4-FFF2-40B4-BE49-F238E27FC236}">
                <a16:creationId xmlns:a16="http://schemas.microsoft.com/office/drawing/2014/main" id="{111D634C-01A6-4943-BB5C-53F53EE44E80}"/>
              </a:ext>
            </a:extLst>
          </p:cNvPr>
          <p:cNvSpPr txBox="1">
            <a:spLocks noChangeArrowheads="1"/>
          </p:cNvSpPr>
          <p:nvPr/>
        </p:nvSpPr>
        <p:spPr bwMode="auto">
          <a:xfrm>
            <a:off x="696913" y="549275"/>
            <a:ext cx="357028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a:t>Dialog in an interactive system</a:t>
            </a:r>
          </a:p>
        </p:txBody>
      </p:sp>
      <p:sp>
        <p:nvSpPr>
          <p:cNvPr id="14353" name="Text Box 22">
            <a:extLst>
              <a:ext uri="{FF2B5EF4-FFF2-40B4-BE49-F238E27FC236}">
                <a16:creationId xmlns:a16="http://schemas.microsoft.com/office/drawing/2014/main" id="{6D275994-235B-4815-BE45-D8B321213639}"/>
              </a:ext>
            </a:extLst>
          </p:cNvPr>
          <p:cNvSpPr txBox="1">
            <a:spLocks noChangeArrowheads="1"/>
          </p:cNvSpPr>
          <p:nvPr/>
        </p:nvSpPr>
        <p:spPr bwMode="auto">
          <a:xfrm>
            <a:off x="5219700" y="2781300"/>
            <a:ext cx="2390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Cognitive sub-system</a:t>
            </a:r>
          </a:p>
        </p:txBody>
      </p:sp>
      <p:sp>
        <p:nvSpPr>
          <p:cNvPr id="14354" name="Text Box 23">
            <a:extLst>
              <a:ext uri="{FF2B5EF4-FFF2-40B4-BE49-F238E27FC236}">
                <a16:creationId xmlns:a16="http://schemas.microsoft.com/office/drawing/2014/main" id="{077D5580-DC97-4AE0-A3AF-DBE76A2B1FC0}"/>
              </a:ext>
            </a:extLst>
          </p:cNvPr>
          <p:cNvSpPr txBox="1">
            <a:spLocks noChangeArrowheads="1"/>
          </p:cNvSpPr>
          <p:nvPr/>
        </p:nvSpPr>
        <p:spPr bwMode="auto">
          <a:xfrm>
            <a:off x="4408488" y="4240213"/>
            <a:ext cx="20177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Motor sub-system</a:t>
            </a:r>
          </a:p>
        </p:txBody>
      </p:sp>
      <p:sp>
        <p:nvSpPr>
          <p:cNvPr id="14355" name="Text Box 24">
            <a:extLst>
              <a:ext uri="{FF2B5EF4-FFF2-40B4-BE49-F238E27FC236}">
                <a16:creationId xmlns:a16="http://schemas.microsoft.com/office/drawing/2014/main" id="{71D328A3-F1FC-43F4-A012-19DB2DB07737}"/>
              </a:ext>
            </a:extLst>
          </p:cNvPr>
          <p:cNvSpPr txBox="1">
            <a:spLocks noChangeArrowheads="1"/>
          </p:cNvSpPr>
          <p:nvPr/>
        </p:nvSpPr>
        <p:spPr bwMode="auto">
          <a:xfrm>
            <a:off x="4572000" y="1628775"/>
            <a:ext cx="25320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Perceptual sub-system</a:t>
            </a:r>
          </a:p>
        </p:txBody>
      </p:sp>
    </p:spTree>
    <p:extLst>
      <p:ext uri="{BB962C8B-B14F-4D97-AF65-F5344CB8AC3E}">
        <p14:creationId xmlns:p14="http://schemas.microsoft.com/office/powerpoint/2010/main" val="2002284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D816870B-4DCD-4FB6-8EE0-B648E3668FA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29E1D4B-17B5-4DDA-BFB1-5529E0204C63}" type="slidenum">
              <a:rPr lang="en-GB" altLang="en-US" sz="1400" smtClean="0"/>
              <a:pPr>
                <a:spcBef>
                  <a:spcPct val="0"/>
                </a:spcBef>
                <a:buFontTx/>
                <a:buNone/>
              </a:pPr>
              <a:t>5</a:t>
            </a:fld>
            <a:endParaRPr lang="en-GB" altLang="en-US" sz="1400"/>
          </a:p>
        </p:txBody>
      </p:sp>
      <p:sp>
        <p:nvSpPr>
          <p:cNvPr id="13315" name="Rectangle 2">
            <a:extLst>
              <a:ext uri="{FF2B5EF4-FFF2-40B4-BE49-F238E27FC236}">
                <a16:creationId xmlns:a16="http://schemas.microsoft.com/office/drawing/2014/main" id="{8B2674CE-1203-45A3-87ED-BA2639B7BD8C}"/>
              </a:ext>
            </a:extLst>
          </p:cNvPr>
          <p:cNvSpPr>
            <a:spLocks noGrp="1" noChangeArrowheads="1"/>
          </p:cNvSpPr>
          <p:nvPr>
            <p:ph type="title"/>
          </p:nvPr>
        </p:nvSpPr>
        <p:spPr/>
        <p:txBody>
          <a:bodyPr/>
          <a:lstStyle/>
          <a:p>
            <a:pPr algn="l" eaLnBrk="1" hangingPunct="1"/>
            <a:r>
              <a:rPr lang="en-US" altLang="en-US" sz="2400" b="1" dirty="0"/>
              <a:t>User profile</a:t>
            </a:r>
          </a:p>
        </p:txBody>
      </p:sp>
      <p:sp>
        <p:nvSpPr>
          <p:cNvPr id="13316" name="Rectangle 3">
            <a:extLst>
              <a:ext uri="{FF2B5EF4-FFF2-40B4-BE49-F238E27FC236}">
                <a16:creationId xmlns:a16="http://schemas.microsoft.com/office/drawing/2014/main" id="{99D9FE4D-2277-4647-996D-0DB30F653484}"/>
              </a:ext>
            </a:extLst>
          </p:cNvPr>
          <p:cNvSpPr>
            <a:spLocks noGrp="1" noChangeArrowheads="1"/>
          </p:cNvSpPr>
          <p:nvPr>
            <p:ph type="body" idx="1"/>
          </p:nvPr>
        </p:nvSpPr>
        <p:spPr>
          <a:xfrm>
            <a:off x="539750" y="1412875"/>
            <a:ext cx="8496300" cy="4608513"/>
          </a:xfrm>
        </p:spPr>
        <p:txBody>
          <a:bodyPr/>
          <a:lstStyle/>
          <a:p>
            <a:pPr eaLnBrk="1" hangingPunct="1">
              <a:buFontTx/>
              <a:buNone/>
            </a:pPr>
            <a:r>
              <a:rPr lang="pt-PT" altLang="en-US" sz="1800" dirty="0"/>
              <a:t>- </a:t>
            </a:r>
            <a:r>
              <a:rPr lang="en-US" altLang="en-US" sz="1800" dirty="0"/>
              <a:t>Human Information Processing System (HIPS)</a:t>
            </a:r>
          </a:p>
          <a:p>
            <a:pPr eaLnBrk="1" hangingPunct="1">
              <a:buFontTx/>
              <a:buNone/>
            </a:pPr>
            <a:endParaRPr lang="en-US" altLang="en-US" sz="1800" dirty="0"/>
          </a:p>
          <a:p>
            <a:pPr eaLnBrk="1" hangingPunct="1">
              <a:buFontTx/>
              <a:buNone/>
            </a:pPr>
            <a:r>
              <a:rPr lang="en-US" altLang="en-US" sz="1800" dirty="0"/>
              <a:t>- Knowledge and experience</a:t>
            </a:r>
          </a:p>
          <a:p>
            <a:pPr eaLnBrk="1" hangingPunct="1">
              <a:buFontTx/>
              <a:buNone/>
            </a:pPr>
            <a:endParaRPr lang="en-US" altLang="en-US" sz="1800" dirty="0"/>
          </a:p>
          <a:p>
            <a:pPr eaLnBrk="1" hangingPunct="1">
              <a:buFontTx/>
              <a:buNone/>
            </a:pPr>
            <a:r>
              <a:rPr lang="en-US" altLang="en-US" sz="1800" dirty="0"/>
              <a:t>- Work and task</a:t>
            </a:r>
          </a:p>
          <a:p>
            <a:pPr eaLnBrk="1" hangingPunct="1">
              <a:buFontTx/>
              <a:buNone/>
            </a:pPr>
            <a:endParaRPr lang="en-US" altLang="en-US" sz="1800" dirty="0"/>
          </a:p>
          <a:p>
            <a:pPr eaLnBrk="1" hangingPunct="1">
              <a:buFontTx/>
              <a:buNone/>
            </a:pPr>
            <a:r>
              <a:rPr lang="en-US" altLang="en-US" sz="1800" dirty="0"/>
              <a:t>- Physical characteristics			</a:t>
            </a:r>
          </a:p>
          <a:p>
            <a:pPr eaLnBrk="1" hangingPunct="1">
              <a:buFontTx/>
              <a:buNone/>
            </a:pPr>
            <a:endParaRPr lang="en-US" altLang="en-US" sz="1800" dirty="0"/>
          </a:p>
          <a:p>
            <a:pPr eaLnBrk="1" hangingPunct="1">
              <a:buFontTx/>
              <a:buNone/>
            </a:pPr>
            <a:r>
              <a:rPr lang="en-US" altLang="en-US" sz="1800" dirty="0"/>
              <a:t>- Environment/context</a:t>
            </a:r>
          </a:p>
          <a:p>
            <a:pPr eaLnBrk="1" hangingPunct="1">
              <a:buFontTx/>
              <a:buNone/>
            </a:pPr>
            <a:endParaRPr lang="en-US" altLang="en-US" sz="1800" dirty="0"/>
          </a:p>
          <a:p>
            <a:pPr eaLnBrk="1" hangingPunct="1">
              <a:buFontTx/>
              <a:buNone/>
            </a:pPr>
            <a:endParaRPr lang="pt-PT" altLang="pt-PT" sz="1800" dirty="0"/>
          </a:p>
          <a:p>
            <a:pPr eaLnBrk="1" hangingPunct="1">
              <a:buFontTx/>
              <a:buNone/>
            </a:pPr>
            <a:endParaRPr lang="pt-PT" altLang="en-US" sz="1800" dirty="0"/>
          </a:p>
        </p:txBody>
      </p:sp>
      <p:sp>
        <p:nvSpPr>
          <p:cNvPr id="13317" name="Text Box 4">
            <a:extLst>
              <a:ext uri="{FF2B5EF4-FFF2-40B4-BE49-F238E27FC236}">
                <a16:creationId xmlns:a16="http://schemas.microsoft.com/office/drawing/2014/main" id="{D4A77C73-8BB1-44CB-8C03-F161D8A6391C}"/>
              </a:ext>
            </a:extLst>
          </p:cNvPr>
          <p:cNvSpPr txBox="1">
            <a:spLocks noChangeArrowheads="1"/>
          </p:cNvSpPr>
          <p:nvPr/>
        </p:nvSpPr>
        <p:spPr bwMode="auto">
          <a:xfrm>
            <a:off x="4572000" y="3141663"/>
            <a:ext cx="29003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600">
                <a:solidFill>
                  <a:srgbClr val="D60093"/>
                </a:solidFill>
              </a:rPr>
              <a:t>More  variable among users</a:t>
            </a:r>
          </a:p>
        </p:txBody>
      </p:sp>
      <p:sp>
        <p:nvSpPr>
          <p:cNvPr id="3078" name="Line 5">
            <a:extLst>
              <a:ext uri="{FF2B5EF4-FFF2-40B4-BE49-F238E27FC236}">
                <a16:creationId xmlns:a16="http://schemas.microsoft.com/office/drawing/2014/main" id="{C8EEEFB5-8D18-4DFF-9AE5-634A330123CE}"/>
              </a:ext>
            </a:extLst>
          </p:cNvPr>
          <p:cNvSpPr>
            <a:spLocks noChangeShapeType="1"/>
          </p:cNvSpPr>
          <p:nvPr/>
        </p:nvSpPr>
        <p:spPr bwMode="auto">
          <a:xfrm flipH="1">
            <a:off x="3335497" y="3598863"/>
            <a:ext cx="1956583" cy="765968"/>
          </a:xfrm>
          <a:prstGeom prst="line">
            <a:avLst/>
          </a:prstGeom>
          <a:ln>
            <a:headEnd/>
            <a:tailEnd type="triangle" w="med" len="med"/>
          </a:ln>
        </p:spPr>
        <p:style>
          <a:lnRef idx="2">
            <a:schemeClr val="accent4"/>
          </a:lnRef>
          <a:fillRef idx="0">
            <a:schemeClr val="accent4"/>
          </a:fillRef>
          <a:effectRef idx="1">
            <a:schemeClr val="accent4"/>
          </a:effectRef>
          <a:fontRef idx="minor">
            <a:schemeClr val="tx1"/>
          </a:fontRef>
        </p:style>
        <p:txBody>
          <a:bodyPr/>
          <a:lstStyle/>
          <a:p>
            <a:pPr eaLnBrk="1" hangingPunct="1">
              <a:defRPr/>
            </a:pPr>
            <a:endParaRPr lang="pt-PT"/>
          </a:p>
        </p:txBody>
      </p:sp>
      <p:sp>
        <p:nvSpPr>
          <p:cNvPr id="3079" name="Line 6">
            <a:extLst>
              <a:ext uri="{FF2B5EF4-FFF2-40B4-BE49-F238E27FC236}">
                <a16:creationId xmlns:a16="http://schemas.microsoft.com/office/drawing/2014/main" id="{6D442603-8274-4E70-96F1-118A14CA6CD5}"/>
              </a:ext>
            </a:extLst>
          </p:cNvPr>
          <p:cNvSpPr>
            <a:spLocks noChangeShapeType="1"/>
          </p:cNvSpPr>
          <p:nvPr/>
        </p:nvSpPr>
        <p:spPr bwMode="auto">
          <a:xfrm flipH="1" flipV="1">
            <a:off x="3851275" y="2276475"/>
            <a:ext cx="1296988" cy="792163"/>
          </a:xfrm>
          <a:prstGeom prst="line">
            <a:avLst/>
          </a:prstGeom>
          <a:ln>
            <a:headEnd/>
            <a:tailEnd type="triangle" w="med" len="med"/>
          </a:ln>
        </p:spPr>
        <p:style>
          <a:lnRef idx="2">
            <a:schemeClr val="accent4"/>
          </a:lnRef>
          <a:fillRef idx="0">
            <a:schemeClr val="accent4"/>
          </a:fillRef>
          <a:effectRef idx="1">
            <a:schemeClr val="accent4"/>
          </a:effectRef>
          <a:fontRef idx="minor">
            <a:schemeClr val="tx1"/>
          </a:fontRef>
        </p:style>
        <p:txBody>
          <a:bodyPr/>
          <a:lstStyle/>
          <a:p>
            <a:pPr eaLnBrk="1" hangingPunct="1">
              <a:defRPr/>
            </a:pPr>
            <a:endParaRPr lang="pt-PT"/>
          </a:p>
        </p:txBody>
      </p:sp>
      <p:sp>
        <p:nvSpPr>
          <p:cNvPr id="13320" name="Rectângulo 1">
            <a:extLst>
              <a:ext uri="{FF2B5EF4-FFF2-40B4-BE49-F238E27FC236}">
                <a16:creationId xmlns:a16="http://schemas.microsoft.com/office/drawing/2014/main" id="{68E6609C-6F7C-4A21-9855-64284D76D2A3}"/>
              </a:ext>
            </a:extLst>
          </p:cNvPr>
          <p:cNvSpPr>
            <a:spLocks noChangeArrowheads="1"/>
          </p:cNvSpPr>
          <p:nvPr/>
        </p:nvSpPr>
        <p:spPr bwMode="auto">
          <a:xfrm>
            <a:off x="331788" y="5301208"/>
            <a:ext cx="8704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a:t>There are many user models to be used in the design of Interactive systems</a:t>
            </a:r>
          </a:p>
          <a:p>
            <a:pPr eaLnBrk="1" hangingPunct="1">
              <a:spcBef>
                <a:spcPct val="0"/>
              </a:spcBef>
              <a:buFontTx/>
              <a:buNone/>
            </a:pPr>
            <a:r>
              <a:rPr lang="pt-PT" altLang="pt-PT" sz="1800"/>
              <a:t>(e.g. personas, GOMS, KLM, …)</a:t>
            </a:r>
            <a:endParaRPr lang="en-US" altLang="pt-PT" sz="1800"/>
          </a:p>
        </p:txBody>
      </p:sp>
    </p:spTree>
    <p:extLst>
      <p:ext uri="{BB962C8B-B14F-4D97-AF65-F5344CB8AC3E}">
        <p14:creationId xmlns:p14="http://schemas.microsoft.com/office/powerpoint/2010/main" val="2085689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ottom-Up Visual Perception: What Saccadic Eye Movements Suggest For  Designers - Vanseo Design">
            <a:extLst>
              <a:ext uri="{FF2B5EF4-FFF2-40B4-BE49-F238E27FC236}">
                <a16:creationId xmlns:a16="http://schemas.microsoft.com/office/drawing/2014/main" id="{2F0AE0F0-A4E2-B0DE-5F58-C7A2CD50E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1913" y="2220517"/>
            <a:ext cx="4714875" cy="29646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ED386CB-02A9-E6D3-A49D-11316381B178}"/>
              </a:ext>
            </a:extLst>
          </p:cNvPr>
          <p:cNvSpPr txBox="1"/>
          <p:nvPr/>
        </p:nvSpPr>
        <p:spPr>
          <a:xfrm>
            <a:off x="7572375" y="5588407"/>
            <a:ext cx="1476375" cy="300082"/>
          </a:xfrm>
          <a:prstGeom prst="rect">
            <a:avLst/>
          </a:prstGeom>
          <a:noFill/>
        </p:spPr>
        <p:txBody>
          <a:bodyPr wrap="square">
            <a:spAutoFit/>
          </a:bodyPr>
          <a:lstStyle/>
          <a:p>
            <a:pPr defTabSz="342900" eaLnBrk="1" fontAlgn="auto" hangingPunct="1">
              <a:spcBef>
                <a:spcPts val="0"/>
              </a:spcBef>
              <a:spcAft>
                <a:spcPts val="0"/>
              </a:spcAft>
              <a:defRPr/>
            </a:pPr>
            <a:r>
              <a:rPr lang="en-GB" sz="1350" b="0" dirty="0">
                <a:solidFill>
                  <a:schemeClr val="bg1">
                    <a:lumMod val="85000"/>
                  </a:schemeClr>
                </a:solidFill>
                <a:latin typeface="Montserrat"/>
                <a:cs typeface="+mn-cs"/>
              </a:rPr>
              <a:t>Vanseo Design</a:t>
            </a:r>
          </a:p>
        </p:txBody>
      </p:sp>
      <p:sp>
        <p:nvSpPr>
          <p:cNvPr id="7" name="TextBox 6">
            <a:extLst>
              <a:ext uri="{FF2B5EF4-FFF2-40B4-BE49-F238E27FC236}">
                <a16:creationId xmlns:a16="http://schemas.microsoft.com/office/drawing/2014/main" id="{2857F4DF-9BC6-CBD9-5733-B3D530F9C79E}"/>
              </a:ext>
            </a:extLst>
          </p:cNvPr>
          <p:cNvSpPr txBox="1"/>
          <p:nvPr/>
        </p:nvSpPr>
        <p:spPr>
          <a:xfrm>
            <a:off x="628650" y="2698723"/>
            <a:ext cx="3138488" cy="2031325"/>
          </a:xfrm>
          <a:prstGeom prst="rect">
            <a:avLst/>
          </a:prstGeom>
          <a:noFill/>
        </p:spPr>
        <p:txBody>
          <a:bodyPr wrap="square" rtlCol="0">
            <a:spAutoFit/>
          </a:bodyPr>
          <a:lstStyle/>
          <a:p>
            <a:r>
              <a:rPr lang="en-GB" sz="2100" b="0" dirty="0"/>
              <a:t>Human senses and cognition have characteristics that determine or limit what we can perceive and process</a:t>
            </a:r>
          </a:p>
        </p:txBody>
      </p:sp>
    </p:spTree>
    <p:extLst>
      <p:ext uri="{BB962C8B-B14F-4D97-AF65-F5344CB8AC3E}">
        <p14:creationId xmlns:p14="http://schemas.microsoft.com/office/powerpoint/2010/main" val="3164912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7F62BDD1-A190-4FE8-9BB4-449C5593EB10}"/>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61483FF-92F8-4B73-A23D-86E722A7F48F}" type="slidenum">
              <a:rPr lang="en-GB" altLang="en-US" sz="1400" smtClean="0"/>
              <a:pPr>
                <a:spcBef>
                  <a:spcPct val="0"/>
                </a:spcBef>
                <a:buFontTx/>
                <a:buNone/>
              </a:pPr>
              <a:t>7</a:t>
            </a:fld>
            <a:endParaRPr lang="en-GB" altLang="en-US" sz="1400"/>
          </a:p>
        </p:txBody>
      </p:sp>
      <p:sp>
        <p:nvSpPr>
          <p:cNvPr id="8195" name="Rectangle 13">
            <a:extLst>
              <a:ext uri="{FF2B5EF4-FFF2-40B4-BE49-F238E27FC236}">
                <a16:creationId xmlns:a16="http://schemas.microsoft.com/office/drawing/2014/main" id="{7496156F-F44F-42FB-ACB0-E600DAE57569}"/>
              </a:ext>
            </a:extLst>
          </p:cNvPr>
          <p:cNvSpPr>
            <a:spLocks noChangeArrowheads="1"/>
          </p:cNvSpPr>
          <p:nvPr/>
        </p:nvSpPr>
        <p:spPr bwMode="auto">
          <a:xfrm>
            <a:off x="5784850" y="5267325"/>
            <a:ext cx="33591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dirty="0">
                <a:hlinkClick r:id="rId3"/>
              </a:rPr>
              <a:t>https://michaelbach.de/ot/lum-adelsonCheckShadow/index.html</a:t>
            </a:r>
            <a:endParaRPr lang="en-US" altLang="en-US" sz="1200" b="0" dirty="0"/>
          </a:p>
        </p:txBody>
      </p:sp>
      <p:pic>
        <p:nvPicPr>
          <p:cNvPr id="8196" name="Picture 14">
            <a:extLst>
              <a:ext uri="{FF2B5EF4-FFF2-40B4-BE49-F238E27FC236}">
                <a16:creationId xmlns:a16="http://schemas.microsoft.com/office/drawing/2014/main" id="{32280818-1318-4F0D-88DF-754DBC7B13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0400" y="2635250"/>
            <a:ext cx="305435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9503" name="Picture 15">
            <a:extLst>
              <a:ext uri="{FF2B5EF4-FFF2-40B4-BE49-F238E27FC236}">
                <a16:creationId xmlns:a16="http://schemas.microsoft.com/office/drawing/2014/main" id="{6BB51602-5F39-4813-BC67-E37B1C262D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4713" y="3841750"/>
            <a:ext cx="5810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a:extLst>
              <a:ext uri="{FF2B5EF4-FFF2-40B4-BE49-F238E27FC236}">
                <a16:creationId xmlns:a16="http://schemas.microsoft.com/office/drawing/2014/main" id="{68D6BCA5-92ED-479A-983C-902ACF25C30E}"/>
              </a:ext>
            </a:extLst>
          </p:cNvPr>
          <p:cNvSpPr>
            <a:spLocks noChangeArrowheads="1"/>
          </p:cNvSpPr>
          <p:nvPr/>
        </p:nvSpPr>
        <p:spPr bwMode="auto">
          <a:xfrm>
            <a:off x="7253288" y="3586163"/>
            <a:ext cx="344487" cy="457200"/>
          </a:xfrm>
          <a:prstGeom prst="ellipse">
            <a:avLst/>
          </a:prstGeom>
          <a:noFill/>
          <a:ln w="9525" algn="ctr">
            <a:solidFill>
              <a:srgbClr val="D6009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14" name="Oval 13">
            <a:extLst>
              <a:ext uri="{FF2B5EF4-FFF2-40B4-BE49-F238E27FC236}">
                <a16:creationId xmlns:a16="http://schemas.microsoft.com/office/drawing/2014/main" id="{3D17EF18-DC7D-48B0-8EAA-65EF9D5ED50A}"/>
              </a:ext>
            </a:extLst>
          </p:cNvPr>
          <p:cNvSpPr>
            <a:spLocks noChangeArrowheads="1"/>
          </p:cNvSpPr>
          <p:nvPr/>
        </p:nvSpPr>
        <p:spPr bwMode="auto">
          <a:xfrm>
            <a:off x="7253288" y="3028950"/>
            <a:ext cx="344487" cy="457200"/>
          </a:xfrm>
          <a:prstGeom prst="ellipse">
            <a:avLst/>
          </a:prstGeom>
          <a:noFill/>
          <a:ln w="9525" algn="ctr">
            <a:solidFill>
              <a:srgbClr val="D6009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8200" name="Title 1">
            <a:extLst>
              <a:ext uri="{FF2B5EF4-FFF2-40B4-BE49-F238E27FC236}">
                <a16:creationId xmlns:a16="http://schemas.microsoft.com/office/drawing/2014/main" id="{CBED705B-CEE7-4C1D-BD9F-E4CD164E1439}"/>
              </a:ext>
            </a:extLst>
          </p:cNvPr>
          <p:cNvSpPr>
            <a:spLocks noGrp="1" noChangeArrowheads="1"/>
          </p:cNvSpPr>
          <p:nvPr>
            <p:ph type="title"/>
          </p:nvPr>
        </p:nvSpPr>
        <p:spPr>
          <a:xfrm>
            <a:off x="323850" y="66675"/>
            <a:ext cx="8229600" cy="1143000"/>
          </a:xfrm>
        </p:spPr>
        <p:txBody>
          <a:bodyPr/>
          <a:lstStyle/>
          <a:p>
            <a:pPr algn="l"/>
            <a:r>
              <a:rPr lang="en-US" altLang="en-US" sz="2400" dirty="0"/>
              <a:t>What we see does not depend only of the stimuli!</a:t>
            </a:r>
          </a:p>
        </p:txBody>
      </p:sp>
      <p:sp>
        <p:nvSpPr>
          <p:cNvPr id="8201" name="CaixaDeTexto 2">
            <a:extLst>
              <a:ext uri="{FF2B5EF4-FFF2-40B4-BE49-F238E27FC236}">
                <a16:creationId xmlns:a16="http://schemas.microsoft.com/office/drawing/2014/main" id="{5CC9DC8F-0E93-44E9-84B2-F5030B4C4022}"/>
              </a:ext>
            </a:extLst>
          </p:cNvPr>
          <p:cNvSpPr txBox="1">
            <a:spLocks noChangeArrowheads="1"/>
          </p:cNvSpPr>
          <p:nvPr/>
        </p:nvSpPr>
        <p:spPr bwMode="auto">
          <a:xfrm>
            <a:off x="539750" y="1384300"/>
            <a:ext cx="364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Two very powerful visual illusions:</a:t>
            </a:r>
          </a:p>
        </p:txBody>
      </p:sp>
      <p:pic>
        <p:nvPicPr>
          <p:cNvPr id="8202" name="Picture 2">
            <a:extLst>
              <a:ext uri="{FF2B5EF4-FFF2-40B4-BE49-F238E27FC236}">
                <a16:creationId xmlns:a16="http://schemas.microsoft.com/office/drawing/2014/main" id="{E1689440-A8F8-47AB-9A4F-297D3B120E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 y="2468563"/>
            <a:ext cx="5540375" cy="2982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203" name="CaixaDeTexto 3">
            <a:extLst>
              <a:ext uri="{FF2B5EF4-FFF2-40B4-BE49-F238E27FC236}">
                <a16:creationId xmlns:a16="http://schemas.microsoft.com/office/drawing/2014/main" id="{A6B1145C-6EFA-4234-96F2-8A49965A9043}"/>
              </a:ext>
            </a:extLst>
          </p:cNvPr>
          <p:cNvSpPr txBox="1">
            <a:spLocks noChangeArrowheads="1"/>
          </p:cNvSpPr>
          <p:nvPr/>
        </p:nvSpPr>
        <p:spPr bwMode="auto">
          <a:xfrm>
            <a:off x="525463" y="1989138"/>
            <a:ext cx="8413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The Ames’ room					       The Adelson´s  illusion</a:t>
            </a:r>
          </a:p>
          <a:p>
            <a:pPr eaLnBrk="1" hangingPunct="1">
              <a:spcBef>
                <a:spcPct val="0"/>
              </a:spcBef>
              <a:buFontTx/>
              <a:buNone/>
            </a:pPr>
            <a:endParaRPr lang="en-US" altLang="en-US" sz="1800"/>
          </a:p>
        </p:txBody>
      </p:sp>
      <p:sp>
        <p:nvSpPr>
          <p:cNvPr id="8204" name="Rectângulo 4">
            <a:extLst>
              <a:ext uri="{FF2B5EF4-FFF2-40B4-BE49-F238E27FC236}">
                <a16:creationId xmlns:a16="http://schemas.microsoft.com/office/drawing/2014/main" id="{E04C713B-69E4-4F4D-86FF-3B187019F5AF}"/>
              </a:ext>
            </a:extLst>
          </p:cNvPr>
          <p:cNvSpPr>
            <a:spLocks noChangeArrowheads="1"/>
          </p:cNvSpPr>
          <p:nvPr/>
        </p:nvSpPr>
        <p:spPr bwMode="auto">
          <a:xfrm>
            <a:off x="171450" y="5513388"/>
            <a:ext cx="5403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dirty="0">
                <a:hlinkClick r:id="rId7"/>
              </a:rPr>
              <a:t>https://www.youtube.com/shorts/IP-okkvbvwg</a:t>
            </a:r>
            <a:endParaRPr lang="en-US" altLang="en-US" sz="1600" b="0" dirty="0"/>
          </a:p>
          <a:p>
            <a:pPr eaLnBrk="1" hangingPunct="1">
              <a:spcBef>
                <a:spcPct val="0"/>
              </a:spcBef>
              <a:buFontTx/>
              <a:buNone/>
            </a:pPr>
            <a:endParaRPr lang="en-US" altLang="en-US" sz="1600" b="0" dirty="0"/>
          </a:p>
        </p:txBody>
      </p:sp>
    </p:spTree>
    <p:extLst>
      <p:ext uri="{BB962C8B-B14F-4D97-AF65-F5344CB8AC3E}">
        <p14:creationId xmlns:p14="http://schemas.microsoft.com/office/powerpoint/2010/main" val="1685628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19503"/>
                                        </p:tgtEl>
                                        <p:attrNameLst>
                                          <p:attrName>style.visibility</p:attrName>
                                        </p:attrNameLst>
                                      </p:cBhvr>
                                      <p:to>
                                        <p:strVal val="visible"/>
                                      </p:to>
                                    </p:set>
                                    <p:anim calcmode="lin" valueType="num">
                                      <p:cBhvr additive="base">
                                        <p:cTn id="13" dur="500" fill="hold"/>
                                        <p:tgtEl>
                                          <p:spTgt spid="319503"/>
                                        </p:tgtEl>
                                        <p:attrNameLst>
                                          <p:attrName>ppt_x</p:attrName>
                                        </p:attrNameLst>
                                      </p:cBhvr>
                                      <p:tavLst>
                                        <p:tav tm="0">
                                          <p:val>
                                            <p:strVal val="#ppt_x"/>
                                          </p:val>
                                        </p:tav>
                                        <p:tav tm="100000">
                                          <p:val>
                                            <p:strVal val="#ppt_x"/>
                                          </p:val>
                                        </p:tav>
                                      </p:tavLst>
                                    </p:anim>
                                    <p:anim calcmode="lin" valueType="num">
                                      <p:cBhvr additive="base">
                                        <p:cTn id="14" dur="500" fill="hold"/>
                                        <p:tgtEl>
                                          <p:spTgt spid="3195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60E184F7-A4BB-481D-8C2D-A4E70617CA1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427BF6D-B0F7-4339-B61D-378B00E27DB1}" type="slidenum">
              <a:rPr lang="en-GB" altLang="en-US" sz="1400" smtClean="0"/>
              <a:pPr>
                <a:spcBef>
                  <a:spcPct val="0"/>
                </a:spcBef>
                <a:buFontTx/>
                <a:buNone/>
              </a:pPr>
              <a:t>8</a:t>
            </a:fld>
            <a:endParaRPr lang="en-GB" altLang="en-US" sz="1400" dirty="0"/>
          </a:p>
        </p:txBody>
      </p:sp>
      <p:sp>
        <p:nvSpPr>
          <p:cNvPr id="10243" name="Rectangle 13">
            <a:extLst>
              <a:ext uri="{FF2B5EF4-FFF2-40B4-BE49-F238E27FC236}">
                <a16:creationId xmlns:a16="http://schemas.microsoft.com/office/drawing/2014/main" id="{D650BEAC-507E-4FC6-A996-D9F62456DE97}"/>
              </a:ext>
            </a:extLst>
          </p:cNvPr>
          <p:cNvSpPr>
            <a:spLocks noChangeArrowheads="1"/>
          </p:cNvSpPr>
          <p:nvPr/>
        </p:nvSpPr>
        <p:spPr bwMode="auto">
          <a:xfrm>
            <a:off x="5784850" y="5267325"/>
            <a:ext cx="33591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a:hlinkClick r:id="rId3"/>
              </a:rPr>
              <a:t>https://michaelbach.de/ot/lum-adelsonCheckShadow/index.html</a:t>
            </a:r>
            <a:endParaRPr lang="en-US" altLang="en-US" sz="1200" b="0"/>
          </a:p>
        </p:txBody>
      </p:sp>
      <p:sp>
        <p:nvSpPr>
          <p:cNvPr id="10245" name="CaixaDeTexto 2">
            <a:extLst>
              <a:ext uri="{FF2B5EF4-FFF2-40B4-BE49-F238E27FC236}">
                <a16:creationId xmlns:a16="http://schemas.microsoft.com/office/drawing/2014/main" id="{A4C22CB0-6693-4930-AD97-239CD07B5723}"/>
              </a:ext>
            </a:extLst>
          </p:cNvPr>
          <p:cNvSpPr txBox="1">
            <a:spLocks noChangeArrowheads="1"/>
          </p:cNvSpPr>
          <p:nvPr/>
        </p:nvSpPr>
        <p:spPr bwMode="auto">
          <a:xfrm>
            <a:off x="539750" y="1384300"/>
            <a:ext cx="364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Two very powerful visual illusions:</a:t>
            </a:r>
          </a:p>
        </p:txBody>
      </p:sp>
      <p:pic>
        <p:nvPicPr>
          <p:cNvPr id="10246" name="Picture 2">
            <a:extLst>
              <a:ext uri="{FF2B5EF4-FFF2-40B4-BE49-F238E27FC236}">
                <a16:creationId xmlns:a16="http://schemas.microsoft.com/office/drawing/2014/main" id="{59E33A8E-7293-4906-90F1-A00DED382E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 y="2468563"/>
            <a:ext cx="5540375" cy="2982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7" name="CaixaDeTexto 3">
            <a:extLst>
              <a:ext uri="{FF2B5EF4-FFF2-40B4-BE49-F238E27FC236}">
                <a16:creationId xmlns:a16="http://schemas.microsoft.com/office/drawing/2014/main" id="{9706362D-7747-4D96-BCD8-3B5A2DD728C0}"/>
              </a:ext>
            </a:extLst>
          </p:cNvPr>
          <p:cNvSpPr txBox="1">
            <a:spLocks noChangeArrowheads="1"/>
          </p:cNvSpPr>
          <p:nvPr/>
        </p:nvSpPr>
        <p:spPr bwMode="auto">
          <a:xfrm>
            <a:off x="525463" y="1989138"/>
            <a:ext cx="8413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The Ames’ room					       The Adelson´s  illusion</a:t>
            </a:r>
          </a:p>
          <a:p>
            <a:pPr eaLnBrk="1" hangingPunct="1">
              <a:spcBef>
                <a:spcPct val="0"/>
              </a:spcBef>
              <a:buFontTx/>
              <a:buNone/>
            </a:pPr>
            <a:endParaRPr lang="en-US" altLang="en-US" sz="1800"/>
          </a:p>
        </p:txBody>
      </p:sp>
      <p:sp>
        <p:nvSpPr>
          <p:cNvPr id="10248" name="Rectângulo 4">
            <a:extLst>
              <a:ext uri="{FF2B5EF4-FFF2-40B4-BE49-F238E27FC236}">
                <a16:creationId xmlns:a16="http://schemas.microsoft.com/office/drawing/2014/main" id="{628B4B42-1395-49EB-B95C-D061100539A8}"/>
              </a:ext>
            </a:extLst>
          </p:cNvPr>
          <p:cNvSpPr>
            <a:spLocks noChangeArrowheads="1"/>
          </p:cNvSpPr>
          <p:nvPr/>
        </p:nvSpPr>
        <p:spPr bwMode="auto">
          <a:xfrm>
            <a:off x="171450" y="5513388"/>
            <a:ext cx="5403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dirty="0">
                <a:hlinkClick r:id="rId5"/>
              </a:rPr>
              <a:t>https://www.youtube.com/watch?v=-IWk5NkxQF8&amp;t=33s</a:t>
            </a:r>
            <a:endParaRPr lang="en-US" altLang="en-US" sz="1600" b="0" dirty="0"/>
          </a:p>
          <a:p>
            <a:pPr eaLnBrk="1" hangingPunct="1">
              <a:spcBef>
                <a:spcPct val="0"/>
              </a:spcBef>
              <a:buFontTx/>
              <a:buNone/>
            </a:pPr>
            <a:endParaRPr lang="en-US" altLang="en-US" sz="1600" b="0" dirty="0"/>
          </a:p>
        </p:txBody>
      </p:sp>
      <p:pic>
        <p:nvPicPr>
          <p:cNvPr id="10249" name="Picture 2">
            <a:extLst>
              <a:ext uri="{FF2B5EF4-FFF2-40B4-BE49-F238E27FC236}">
                <a16:creationId xmlns:a16="http://schemas.microsoft.com/office/drawing/2014/main" id="{34FF287A-C585-4004-B61A-4E1FF7CCF3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4763" y="2846388"/>
            <a:ext cx="25304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471B8421-02DA-4F78-9A8F-5F5561844127}"/>
              </a:ext>
            </a:extLst>
          </p:cNvPr>
          <p:cNvSpPr>
            <a:spLocks noGrp="1" noChangeArrowheads="1"/>
          </p:cNvSpPr>
          <p:nvPr>
            <p:ph type="title"/>
          </p:nvPr>
        </p:nvSpPr>
        <p:spPr>
          <a:xfrm>
            <a:off x="323850" y="66675"/>
            <a:ext cx="8229600" cy="1143000"/>
          </a:xfrm>
        </p:spPr>
        <p:txBody>
          <a:bodyPr/>
          <a:lstStyle/>
          <a:p>
            <a:pPr algn="l"/>
            <a:r>
              <a:rPr lang="en-US" altLang="en-US" sz="2400" dirty="0"/>
              <a:t>What we see does not depend only of the stimuli!</a:t>
            </a:r>
          </a:p>
        </p:txBody>
      </p:sp>
    </p:spTree>
    <p:extLst>
      <p:ext uri="{BB962C8B-B14F-4D97-AF65-F5344CB8AC3E}">
        <p14:creationId xmlns:p14="http://schemas.microsoft.com/office/powerpoint/2010/main" val="392007976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6BDBF47A-F03E-46D2-A938-77956DFD14C7}"/>
              </a:ext>
            </a:extLst>
          </p:cNvPr>
          <p:cNvSpPr>
            <a:spLocks noGrp="1" noChangeArrowheads="1"/>
          </p:cNvSpPr>
          <p:nvPr>
            <p:ph type="title"/>
          </p:nvPr>
        </p:nvSpPr>
        <p:spPr/>
        <p:txBody>
          <a:bodyPr/>
          <a:lstStyle/>
          <a:p>
            <a:pPr algn="l" eaLnBrk="1" hangingPunct="1"/>
            <a:r>
              <a:rPr lang="en-US" altLang="en-US" sz="2400" b="1"/>
              <a:t>Human Information Processing System (HIPS)</a:t>
            </a:r>
          </a:p>
        </p:txBody>
      </p:sp>
      <p:sp>
        <p:nvSpPr>
          <p:cNvPr id="8195" name="Content Placeholder 2">
            <a:extLst>
              <a:ext uri="{FF2B5EF4-FFF2-40B4-BE49-F238E27FC236}">
                <a16:creationId xmlns:a16="http://schemas.microsoft.com/office/drawing/2014/main" id="{C2E57504-1DE8-47FF-8A14-98284DD80D25}"/>
              </a:ext>
            </a:extLst>
          </p:cNvPr>
          <p:cNvSpPr>
            <a:spLocks noGrp="1"/>
          </p:cNvSpPr>
          <p:nvPr>
            <p:ph idx="1"/>
          </p:nvPr>
        </p:nvSpPr>
        <p:spPr/>
        <p:txBody>
          <a:bodyPr/>
          <a:lstStyle/>
          <a:p>
            <a:pPr>
              <a:defRPr/>
            </a:pPr>
            <a:r>
              <a:rPr lang="en-GB" altLang="en-US" sz="2000" dirty="0"/>
              <a:t>Humans have different capabilities that might be considered when designing interactive systems</a:t>
            </a:r>
          </a:p>
          <a:p>
            <a:pPr marL="0" indent="0">
              <a:buFontTx/>
              <a:buNone/>
              <a:defRPr/>
            </a:pPr>
            <a:endParaRPr lang="en-GB" altLang="en-US" sz="2000" dirty="0"/>
          </a:p>
          <a:p>
            <a:pPr>
              <a:defRPr/>
            </a:pPr>
            <a:r>
              <a:rPr lang="en-GB" altLang="en-US" sz="2000" dirty="0"/>
              <a:t>Information is received through various </a:t>
            </a:r>
            <a:r>
              <a:rPr lang="pt-PT" altLang="en-US" sz="2000" dirty="0"/>
              <a:t>input </a:t>
            </a:r>
            <a:r>
              <a:rPr lang="en-GB" altLang="en-US" sz="2000" dirty="0"/>
              <a:t>channels (senses)</a:t>
            </a:r>
          </a:p>
          <a:p>
            <a:pPr>
              <a:defRPr/>
            </a:pPr>
            <a:endParaRPr lang="en-GB" altLang="en-US" sz="2000" dirty="0"/>
          </a:p>
          <a:p>
            <a:pPr>
              <a:defRPr/>
            </a:pPr>
            <a:r>
              <a:rPr lang="en-GB" altLang="en-US" sz="2000" dirty="0"/>
              <a:t>Information is stored in memory</a:t>
            </a:r>
          </a:p>
          <a:p>
            <a:pPr>
              <a:defRPr/>
            </a:pPr>
            <a:endParaRPr lang="en-GB" altLang="en-US" sz="2000" dirty="0"/>
          </a:p>
          <a:p>
            <a:pPr>
              <a:defRPr/>
            </a:pPr>
            <a:r>
              <a:rPr lang="pt-PT" altLang="en-US" sz="2000" dirty="0"/>
              <a:t>E</a:t>
            </a:r>
            <a:r>
              <a:rPr lang="en-GB" altLang="en-US" sz="2000" dirty="0"/>
              <a:t>motions may influence capabilities</a:t>
            </a:r>
          </a:p>
          <a:p>
            <a:pPr>
              <a:defRPr/>
            </a:pPr>
            <a:endParaRPr lang="en-GB" altLang="en-US" sz="2000" dirty="0"/>
          </a:p>
          <a:p>
            <a:pPr>
              <a:defRPr/>
            </a:pPr>
            <a:r>
              <a:rPr lang="en-US" altLang="en-US" sz="2000" dirty="0"/>
              <a:t>Users </a:t>
            </a:r>
            <a:r>
              <a:rPr lang="en-GB" altLang="en-US" sz="2000" dirty="0"/>
              <a:t>share common characteristics but differences cannot be ignored</a:t>
            </a:r>
          </a:p>
        </p:txBody>
      </p:sp>
      <p:sp>
        <p:nvSpPr>
          <p:cNvPr id="15364" name="Slide Number Placeholder 3">
            <a:extLst>
              <a:ext uri="{FF2B5EF4-FFF2-40B4-BE49-F238E27FC236}">
                <a16:creationId xmlns:a16="http://schemas.microsoft.com/office/drawing/2014/main" id="{4890D548-2C44-4D17-A4DB-C920CCA967B9}"/>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44F1A34-3AD1-4E16-983C-1FF5C6B30609}" type="slidenum">
              <a:rPr lang="en-US" altLang="en-US" sz="1400" smtClean="0"/>
              <a:pPr>
                <a:spcBef>
                  <a:spcPct val="0"/>
                </a:spcBef>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CC21A4C6-FD9A-455F-8CA1-B9A8EC35B2A6}"/>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FE33FDA-EB78-47B0-8D79-57D426B84932}" type="slidenum">
              <a:rPr lang="en-GB" altLang="en-US" sz="1400" smtClean="0"/>
              <a:pPr>
                <a:spcBef>
                  <a:spcPct val="0"/>
                </a:spcBef>
                <a:buFontTx/>
                <a:buNone/>
              </a:pPr>
              <a:t>10</a:t>
            </a:fld>
            <a:endParaRPr lang="en-GB" altLang="en-US" sz="1400"/>
          </a:p>
        </p:txBody>
      </p:sp>
      <p:sp>
        <p:nvSpPr>
          <p:cNvPr id="16387" name="Rectangle 2">
            <a:extLst>
              <a:ext uri="{FF2B5EF4-FFF2-40B4-BE49-F238E27FC236}">
                <a16:creationId xmlns:a16="http://schemas.microsoft.com/office/drawing/2014/main" id="{9293E490-B2E5-4556-A695-169BEAE2E399}"/>
              </a:ext>
            </a:extLst>
          </p:cNvPr>
          <p:cNvSpPr>
            <a:spLocks noGrp="1" noChangeArrowheads="1"/>
          </p:cNvSpPr>
          <p:nvPr>
            <p:ph type="title"/>
          </p:nvPr>
        </p:nvSpPr>
        <p:spPr/>
        <p:txBody>
          <a:bodyPr/>
          <a:lstStyle/>
          <a:p>
            <a:pPr algn="l" eaLnBrk="1" hangingPunct="1"/>
            <a:r>
              <a:rPr lang="en-US" altLang="en-US" sz="2400" b="1"/>
              <a:t>Human Information Processing System (HIPS):</a:t>
            </a:r>
            <a:br>
              <a:rPr lang="en-US" altLang="en-US" sz="2400" b="1"/>
            </a:br>
            <a:r>
              <a:rPr lang="en-US" altLang="en-US" sz="2400"/>
              <a:t>main aspects relevant to interactive systems design</a:t>
            </a:r>
            <a:br>
              <a:rPr lang="pt-PT" altLang="en-US" sz="2400"/>
            </a:br>
            <a:endParaRPr lang="pt-PT" altLang="en-US" sz="2400"/>
          </a:p>
        </p:txBody>
      </p:sp>
      <p:sp>
        <p:nvSpPr>
          <p:cNvPr id="16388" name="Rectangle 3">
            <a:extLst>
              <a:ext uri="{FF2B5EF4-FFF2-40B4-BE49-F238E27FC236}">
                <a16:creationId xmlns:a16="http://schemas.microsoft.com/office/drawing/2014/main" id="{5B4FA1EA-B1C7-47BE-B40A-4C60B50D95DA}"/>
              </a:ext>
            </a:extLst>
          </p:cNvPr>
          <p:cNvSpPr>
            <a:spLocks noGrp="1" noChangeArrowheads="1"/>
          </p:cNvSpPr>
          <p:nvPr>
            <p:ph type="body" idx="1"/>
          </p:nvPr>
        </p:nvSpPr>
        <p:spPr>
          <a:xfrm>
            <a:off x="457200" y="1600200"/>
            <a:ext cx="8507413" cy="4525963"/>
          </a:xfrm>
        </p:spPr>
        <p:txBody>
          <a:bodyPr/>
          <a:lstStyle/>
          <a:p>
            <a:pPr eaLnBrk="1" hangingPunct="1">
              <a:lnSpc>
                <a:spcPct val="90000"/>
              </a:lnSpc>
              <a:buFontTx/>
              <a:buNone/>
            </a:pPr>
            <a:r>
              <a:rPr lang="en-US" altLang="en-US" sz="1800"/>
              <a:t>Perceptual sub-system       memory – perceptual buffer  (iconic, echoic, …)</a:t>
            </a:r>
          </a:p>
          <a:p>
            <a:pPr eaLnBrk="1" hangingPunct="1">
              <a:lnSpc>
                <a:spcPct val="90000"/>
              </a:lnSpc>
              <a:buFontTx/>
              <a:buNone/>
            </a:pPr>
            <a:endParaRPr lang="en-US" altLang="en-US" sz="1800"/>
          </a:p>
          <a:p>
            <a:pPr eaLnBrk="1" hangingPunct="1">
              <a:lnSpc>
                <a:spcPct val="90000"/>
              </a:lnSpc>
              <a:buFontTx/>
              <a:buNone/>
            </a:pPr>
            <a:r>
              <a:rPr lang="en-US" altLang="en-US" sz="1800"/>
              <a:t>				process – pattern recognition</a:t>
            </a:r>
          </a:p>
          <a:p>
            <a:pPr eaLnBrk="1" hangingPunct="1">
              <a:lnSpc>
                <a:spcPct val="90000"/>
              </a:lnSpc>
              <a:buFontTx/>
              <a:buNone/>
            </a:pPr>
            <a:endParaRPr lang="en-US" altLang="en-US" sz="1800"/>
          </a:p>
          <a:p>
            <a:pPr eaLnBrk="1" hangingPunct="1">
              <a:lnSpc>
                <a:spcPct val="90000"/>
              </a:lnSpc>
              <a:buFontTx/>
              <a:buNone/>
            </a:pPr>
            <a:r>
              <a:rPr lang="en-US" altLang="en-US" sz="1800"/>
              <a:t>					     short term/working memory  (STM)</a:t>
            </a:r>
            <a:endParaRPr lang="en-US" altLang="en-US" sz="1400" i="1"/>
          </a:p>
          <a:p>
            <a:pPr eaLnBrk="1" hangingPunct="1">
              <a:lnSpc>
                <a:spcPct val="90000"/>
              </a:lnSpc>
              <a:buFontTx/>
              <a:buNone/>
            </a:pPr>
            <a:r>
              <a:rPr lang="en-US" altLang="en-US" sz="1800"/>
              <a:t>				memory - </a:t>
            </a:r>
          </a:p>
          <a:p>
            <a:pPr eaLnBrk="1" hangingPunct="1">
              <a:lnSpc>
                <a:spcPct val="90000"/>
              </a:lnSpc>
              <a:buFontTx/>
              <a:buNone/>
            </a:pPr>
            <a:r>
              <a:rPr lang="en-US" altLang="en-US" sz="1800"/>
              <a:t>					     long term memory (LTM)</a:t>
            </a:r>
          </a:p>
          <a:p>
            <a:pPr eaLnBrk="1" hangingPunct="1">
              <a:lnSpc>
                <a:spcPct val="90000"/>
              </a:lnSpc>
              <a:buFontTx/>
              <a:buNone/>
            </a:pPr>
            <a:r>
              <a:rPr lang="en-US" altLang="en-US" sz="1800"/>
              <a:t>Cognitive sub-system </a:t>
            </a:r>
          </a:p>
          <a:p>
            <a:pPr eaLnBrk="1" hangingPunct="1">
              <a:lnSpc>
                <a:spcPct val="90000"/>
              </a:lnSpc>
              <a:buFontTx/>
              <a:buNone/>
            </a:pPr>
            <a:r>
              <a:rPr lang="en-US" altLang="en-US" sz="1800"/>
              <a:t>					       selective attention </a:t>
            </a:r>
          </a:p>
          <a:p>
            <a:pPr eaLnBrk="1" hangingPunct="1">
              <a:lnSpc>
                <a:spcPct val="90000"/>
              </a:lnSpc>
              <a:buFontTx/>
              <a:buNone/>
            </a:pPr>
            <a:r>
              <a:rPr lang="en-US" altLang="en-US" sz="1800"/>
              <a:t>				processes -   problem resolution  					       	                      learning</a:t>
            </a:r>
          </a:p>
          <a:p>
            <a:pPr eaLnBrk="1" hangingPunct="1">
              <a:lnSpc>
                <a:spcPct val="90000"/>
              </a:lnSpc>
              <a:buFontTx/>
              <a:buNone/>
            </a:pPr>
            <a:r>
              <a:rPr lang="en-US" altLang="en-US" sz="1800"/>
              <a:t>						…</a:t>
            </a:r>
          </a:p>
          <a:p>
            <a:pPr eaLnBrk="1" hangingPunct="1">
              <a:lnSpc>
                <a:spcPct val="90000"/>
              </a:lnSpc>
              <a:buFontTx/>
              <a:buNone/>
            </a:pPr>
            <a:endParaRPr lang="en-US" altLang="en-US" sz="1800"/>
          </a:p>
          <a:p>
            <a:pPr eaLnBrk="1" hangingPunct="1">
              <a:lnSpc>
                <a:spcPct val="90000"/>
              </a:lnSpc>
              <a:buFontTx/>
              <a:buNone/>
            </a:pPr>
            <a:r>
              <a:rPr lang="en-US" altLang="en-US" sz="1800"/>
              <a:t>Motor sub-system    </a:t>
            </a:r>
          </a:p>
          <a:p>
            <a:pPr eaLnBrk="1" hangingPunct="1">
              <a:lnSpc>
                <a:spcPct val="90000"/>
              </a:lnSpc>
              <a:buFontTx/>
              <a:buNone/>
            </a:pPr>
            <a:endParaRPr lang="pt-PT" altLang="en-US" sz="1800"/>
          </a:p>
          <a:p>
            <a:pPr eaLnBrk="1" hangingPunct="1">
              <a:lnSpc>
                <a:spcPct val="90000"/>
              </a:lnSpc>
              <a:buFontTx/>
              <a:buNone/>
            </a:pPr>
            <a:endParaRPr lang="pt-PT" altLang="en-US" sz="1800"/>
          </a:p>
        </p:txBody>
      </p:sp>
      <p:pic>
        <p:nvPicPr>
          <p:cNvPr id="16389" name="Picture 5">
            <a:extLst>
              <a:ext uri="{FF2B5EF4-FFF2-40B4-BE49-F238E27FC236}">
                <a16:creationId xmlns:a16="http://schemas.microsoft.com/office/drawing/2014/main" id="{489274D6-70BA-41D6-99EE-0FBBF5044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3141663"/>
            <a:ext cx="1333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8">
            <a:extLst>
              <a:ext uri="{FF2B5EF4-FFF2-40B4-BE49-F238E27FC236}">
                <a16:creationId xmlns:a16="http://schemas.microsoft.com/office/drawing/2014/main" id="{0B14E2A1-CB21-453D-9F82-115CFC03A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1557338"/>
            <a:ext cx="13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Line 9">
            <a:extLst>
              <a:ext uri="{FF2B5EF4-FFF2-40B4-BE49-F238E27FC236}">
                <a16:creationId xmlns:a16="http://schemas.microsoft.com/office/drawing/2014/main" id="{72E90701-ADA7-4A82-85DB-AD1E9FBB0E39}"/>
              </a:ext>
            </a:extLst>
          </p:cNvPr>
          <p:cNvSpPr>
            <a:spLocks noChangeShapeType="1"/>
          </p:cNvSpPr>
          <p:nvPr/>
        </p:nvSpPr>
        <p:spPr bwMode="auto">
          <a:xfrm flipH="1" flipV="1">
            <a:off x="8101013" y="2994025"/>
            <a:ext cx="322262" cy="419100"/>
          </a:xfrm>
          <a:prstGeom prst="line">
            <a:avLst/>
          </a:prstGeom>
          <a:noFill/>
          <a:ln w="381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2" name="Text Box 10">
            <a:extLst>
              <a:ext uri="{FF2B5EF4-FFF2-40B4-BE49-F238E27FC236}">
                <a16:creationId xmlns:a16="http://schemas.microsoft.com/office/drawing/2014/main" id="{FFCC4DA5-D0AB-4F8F-B4F1-40C493AF3E17}"/>
              </a:ext>
            </a:extLst>
          </p:cNvPr>
          <p:cNvSpPr txBox="1">
            <a:spLocks noChangeArrowheads="1"/>
          </p:cNvSpPr>
          <p:nvPr/>
        </p:nvSpPr>
        <p:spPr bwMode="auto">
          <a:xfrm>
            <a:off x="8029575" y="3236913"/>
            <a:ext cx="12588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D60093"/>
                </a:solidFill>
              </a:rPr>
              <a:t>        HIPS bottleneck</a:t>
            </a:r>
          </a:p>
        </p:txBody>
      </p:sp>
      <p:pic>
        <p:nvPicPr>
          <p:cNvPr id="16393" name="Picture 11">
            <a:extLst>
              <a:ext uri="{FF2B5EF4-FFF2-40B4-BE49-F238E27FC236}">
                <a16:creationId xmlns:a16="http://schemas.microsoft.com/office/drawing/2014/main" id="{0ED0425F-DEFC-4001-ADAA-E45FB91B1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2924175"/>
            <a:ext cx="13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12">
            <a:extLst>
              <a:ext uri="{FF2B5EF4-FFF2-40B4-BE49-F238E27FC236}">
                <a16:creationId xmlns:a16="http://schemas.microsoft.com/office/drawing/2014/main" id="{06E476A3-143D-43CC-AADD-37A3B346E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4005263"/>
            <a:ext cx="1333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327CBA5-45D2-48A8-AC73-1FEC53703A5B}"/>
              </a:ext>
            </a:extLst>
          </p:cNvPr>
          <p:cNvSpPr>
            <a:spLocks noGrp="1" noChangeArrowheads="1"/>
          </p:cNvSpPr>
          <p:nvPr>
            <p:ph type="title"/>
          </p:nvPr>
        </p:nvSpPr>
        <p:spPr/>
        <p:txBody>
          <a:bodyPr/>
          <a:lstStyle/>
          <a:p>
            <a:pPr algn="l"/>
            <a:r>
              <a:rPr lang="en-US" altLang="en-US" sz="2400" b="1"/>
              <a:t>Perceptual sub-system </a:t>
            </a:r>
            <a:r>
              <a:rPr lang="pt-PT" altLang="en-US" sz="2400" b="1"/>
              <a:t>– I/O</a:t>
            </a:r>
          </a:p>
        </p:txBody>
      </p:sp>
      <p:sp>
        <p:nvSpPr>
          <p:cNvPr id="11267" name="Content Placeholder 2">
            <a:extLst>
              <a:ext uri="{FF2B5EF4-FFF2-40B4-BE49-F238E27FC236}">
                <a16:creationId xmlns:a16="http://schemas.microsoft.com/office/drawing/2014/main" id="{A380B969-7234-42B7-A7A3-4DDA5E061559}"/>
              </a:ext>
            </a:extLst>
          </p:cNvPr>
          <p:cNvSpPr>
            <a:spLocks noGrp="1"/>
          </p:cNvSpPr>
          <p:nvPr>
            <p:ph idx="1"/>
          </p:nvPr>
        </p:nvSpPr>
        <p:spPr>
          <a:xfrm>
            <a:off x="395288" y="1581150"/>
            <a:ext cx="8675687" cy="4525963"/>
          </a:xfrm>
        </p:spPr>
        <p:txBody>
          <a:bodyPr/>
          <a:lstStyle/>
          <a:p>
            <a:pPr>
              <a:defRPr/>
            </a:pPr>
            <a:r>
              <a:rPr lang="en-US" altLang="en-US" sz="2000" b="1" dirty="0"/>
              <a:t>Input</a:t>
            </a:r>
            <a:r>
              <a:rPr lang="en-US" altLang="en-US" sz="2000" dirty="0"/>
              <a:t>: 5+ senses</a:t>
            </a:r>
            <a:endParaRPr lang="en-US" sz="2000" dirty="0"/>
          </a:p>
          <a:p>
            <a:pPr marL="0" indent="0">
              <a:buFontTx/>
              <a:buNone/>
              <a:defRPr/>
            </a:pPr>
            <a:r>
              <a:rPr lang="en-US" sz="2000" dirty="0"/>
              <a:t>      Sense  is a physiological capacity </a:t>
            </a:r>
          </a:p>
          <a:p>
            <a:pPr marL="0" indent="0">
              <a:buFontTx/>
              <a:buNone/>
              <a:defRPr/>
            </a:pPr>
            <a:r>
              <a:rPr lang="en-US" sz="2000" dirty="0"/>
              <a:t>      of organisms that provides data </a:t>
            </a:r>
          </a:p>
          <a:p>
            <a:pPr marL="0" indent="0">
              <a:buFontTx/>
              <a:buNone/>
              <a:defRPr/>
            </a:pPr>
            <a:r>
              <a:rPr lang="en-US" sz="2000" dirty="0"/>
              <a:t>      for perception</a:t>
            </a:r>
            <a:endParaRPr lang="en-US" altLang="en-US" sz="2000" dirty="0"/>
          </a:p>
          <a:p>
            <a:pPr lvl="1">
              <a:defRPr/>
            </a:pPr>
            <a:r>
              <a:rPr lang="en-US" altLang="en-US" sz="2000" dirty="0"/>
              <a:t>Some more relevant than other</a:t>
            </a:r>
          </a:p>
          <a:p>
            <a:pPr marL="457200" lvl="1" indent="0">
              <a:buFontTx/>
              <a:buNone/>
              <a:defRPr/>
            </a:pPr>
            <a:endParaRPr lang="en-US" altLang="en-US" sz="2000" dirty="0"/>
          </a:p>
          <a:p>
            <a:pPr lvl="1">
              <a:defRPr/>
            </a:pPr>
            <a:r>
              <a:rPr lang="en-US" altLang="en-US" sz="2000" dirty="0"/>
              <a:t>For HCI, vision is preferred, </a:t>
            </a:r>
          </a:p>
          <a:p>
            <a:pPr marL="457200" lvl="1" indent="0">
              <a:buFontTx/>
              <a:buNone/>
              <a:defRPr/>
            </a:pPr>
            <a:r>
              <a:rPr lang="en-US" altLang="en-US" sz="2000" dirty="0"/>
              <a:t>                        but hearing and touch are more and more important …</a:t>
            </a:r>
            <a:endParaRPr lang="pt-PT" altLang="en-US" sz="2000" dirty="0"/>
          </a:p>
          <a:p>
            <a:pPr>
              <a:defRPr/>
            </a:pPr>
            <a:endParaRPr lang="pt-PT" altLang="en-US" sz="2000" dirty="0"/>
          </a:p>
          <a:p>
            <a:pPr>
              <a:defRPr/>
            </a:pPr>
            <a:r>
              <a:rPr lang="en-US" altLang="en-US" sz="2000" dirty="0"/>
              <a:t>Proprioception (more important in some types of systems: Virtual reality)</a:t>
            </a:r>
          </a:p>
          <a:p>
            <a:pPr>
              <a:defRPr/>
            </a:pPr>
            <a:endParaRPr lang="pt-PT" altLang="en-US" sz="2000" dirty="0"/>
          </a:p>
          <a:p>
            <a:pPr>
              <a:defRPr/>
            </a:pPr>
            <a:r>
              <a:rPr lang="en-US" altLang="en-US" sz="2000" b="1" dirty="0"/>
              <a:t>Output</a:t>
            </a:r>
            <a:r>
              <a:rPr lang="en-US" altLang="en-US" sz="2000" dirty="0"/>
              <a:t>: communication system</a:t>
            </a:r>
          </a:p>
          <a:p>
            <a:pPr lvl="1">
              <a:defRPr/>
            </a:pPr>
            <a:r>
              <a:rPr lang="en-US" altLang="en-US" sz="2000" dirty="0"/>
              <a:t>vocal, gestures, eye gaze, </a:t>
            </a:r>
            <a:r>
              <a:rPr lang="pt-PT" altLang="en-US" sz="2000" dirty="0"/>
              <a:t>,…</a:t>
            </a:r>
          </a:p>
        </p:txBody>
      </p:sp>
      <p:sp>
        <p:nvSpPr>
          <p:cNvPr id="17412" name="Slide Number Placeholder 3">
            <a:extLst>
              <a:ext uri="{FF2B5EF4-FFF2-40B4-BE49-F238E27FC236}">
                <a16:creationId xmlns:a16="http://schemas.microsoft.com/office/drawing/2014/main" id="{1DCBF79E-CBC5-4CB8-BF48-B4A118113F2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4DF838A-B48F-4205-B43E-0644B6107BAB}" type="slidenum">
              <a:rPr lang="en-US" altLang="en-US" sz="1400" smtClean="0">
                <a:solidFill>
                  <a:schemeClr val="bg1"/>
                </a:solidFill>
              </a:rPr>
              <a:pPr>
                <a:spcBef>
                  <a:spcPct val="0"/>
                </a:spcBef>
                <a:buFontTx/>
                <a:buNone/>
              </a:pPr>
              <a:t>11</a:t>
            </a:fld>
            <a:endParaRPr lang="en-US" altLang="en-US" sz="1400">
              <a:solidFill>
                <a:schemeClr val="bg1"/>
              </a:solidFill>
            </a:endParaRPr>
          </a:p>
        </p:txBody>
      </p:sp>
      <p:pic>
        <p:nvPicPr>
          <p:cNvPr id="17413" name="Picture 6">
            <a:extLst>
              <a:ext uri="{FF2B5EF4-FFF2-40B4-BE49-F238E27FC236}">
                <a16:creationId xmlns:a16="http://schemas.microsoft.com/office/drawing/2014/main" id="{367913C9-93D9-4BB1-A620-C441996EE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7973"/>
          <a:stretch>
            <a:fillRect/>
          </a:stretch>
        </p:blipFill>
        <p:spPr bwMode="auto">
          <a:xfrm>
            <a:off x="5867400" y="115888"/>
            <a:ext cx="2927350" cy="1465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4" name="Picture 7">
            <a:extLst>
              <a:ext uri="{FF2B5EF4-FFF2-40B4-BE49-F238E27FC236}">
                <a16:creationId xmlns:a16="http://schemas.microsoft.com/office/drawing/2014/main" id="{3D231E99-4819-46F1-9F88-15268C64E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5138" y="1608138"/>
            <a:ext cx="1352550" cy="1060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CaixaDeTexto 1">
            <a:extLst>
              <a:ext uri="{FF2B5EF4-FFF2-40B4-BE49-F238E27FC236}">
                <a16:creationId xmlns:a16="http://schemas.microsoft.com/office/drawing/2014/main" id="{E045494C-4C0F-48FB-B17E-6F59C88D3105}"/>
              </a:ext>
            </a:extLst>
          </p:cNvPr>
          <p:cNvSpPr txBox="1"/>
          <p:nvPr/>
        </p:nvSpPr>
        <p:spPr>
          <a:xfrm>
            <a:off x="5867400" y="2844800"/>
            <a:ext cx="2993192" cy="646331"/>
          </a:xfrm>
          <a:prstGeom prst="rect">
            <a:avLst/>
          </a:prstGeom>
          <a:noFill/>
        </p:spPr>
        <p:txBody>
          <a:bodyPr wrap="none">
            <a:spAutoFit/>
          </a:bodyPr>
          <a:lstStyle/>
          <a:p>
            <a:pPr eaLnBrk="1" hangingPunct="1">
              <a:defRPr/>
            </a:pPr>
            <a:r>
              <a:rPr lang="en-US" b="0" dirty="0">
                <a:solidFill>
                  <a:schemeClr val="bg2">
                    <a:lumMod val="75000"/>
                  </a:schemeClr>
                </a:solidFill>
              </a:rPr>
              <a:t>The five Aristotelian senses</a:t>
            </a:r>
          </a:p>
          <a:p>
            <a:pPr eaLnBrk="1" hangingPunct="1">
              <a:defRPr/>
            </a:pPr>
            <a:r>
              <a:rPr lang="pt-PT" b="0" dirty="0">
                <a:solidFill>
                  <a:schemeClr val="bg2">
                    <a:lumMod val="75000"/>
                  </a:schemeClr>
                </a:solidFill>
              </a:rPr>
              <a:t>   </a:t>
            </a:r>
            <a:r>
              <a:rPr lang="en-US" b="0" dirty="0">
                <a:solidFill>
                  <a:schemeClr val="bg2">
                    <a:lumMod val="75000"/>
                  </a:schemeClr>
                </a:solidFill>
              </a:rPr>
              <a:t>(but there are other…)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D4E2277-35D1-496E-9BC2-1486FFF9A4EE}"/>
              </a:ext>
            </a:extLst>
          </p:cNvPr>
          <p:cNvSpPr>
            <a:spLocks noGrp="1" noChangeArrowheads="1"/>
          </p:cNvSpPr>
          <p:nvPr>
            <p:ph type="title"/>
          </p:nvPr>
        </p:nvSpPr>
        <p:spPr>
          <a:xfrm>
            <a:off x="76200" y="188913"/>
            <a:ext cx="7885113" cy="620712"/>
          </a:xfrm>
        </p:spPr>
        <p:txBody>
          <a:bodyPr/>
          <a:lstStyle/>
          <a:p>
            <a:pPr algn="l"/>
            <a:r>
              <a:rPr lang="en-GB" altLang="en-US" sz="2400"/>
              <a:t>Why vision is preferred</a:t>
            </a:r>
          </a:p>
        </p:txBody>
      </p:sp>
      <p:sp>
        <p:nvSpPr>
          <p:cNvPr id="18435" name="Slide Number Placeholder 3">
            <a:extLst>
              <a:ext uri="{FF2B5EF4-FFF2-40B4-BE49-F238E27FC236}">
                <a16:creationId xmlns:a16="http://schemas.microsoft.com/office/drawing/2014/main" id="{59397C04-93A1-4C36-A35F-423C9D105078}"/>
              </a:ext>
            </a:extLst>
          </p:cNvPr>
          <p:cNvSpPr>
            <a:spLocks noGrp="1"/>
          </p:cNvSpPr>
          <p:nvPr>
            <p:ph type="sldNum" sz="quarter" idx="12"/>
          </p:nvPr>
        </p:nvSpPr>
        <p:spPr>
          <a:xfrm>
            <a:off x="8316913" y="6548438"/>
            <a:ext cx="647700" cy="309562"/>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7D5E7B7-2A0B-4172-AA91-60A5CA3C3100}" type="slidenum">
              <a:rPr lang="en-US" altLang="en-US" sz="1400" smtClean="0"/>
              <a:pPr>
                <a:spcBef>
                  <a:spcPct val="0"/>
                </a:spcBef>
                <a:buFontTx/>
                <a:buNone/>
              </a:pPr>
              <a:t>12</a:t>
            </a:fld>
            <a:endParaRPr lang="en-US" altLang="en-US" sz="1400"/>
          </a:p>
        </p:txBody>
      </p:sp>
      <p:pic>
        <p:nvPicPr>
          <p:cNvPr id="18436" name="Picture 2" descr="https://qph.ec.quoracdn.net/main-qimg-00d2c60fcd90af2d72cc650692acadcb">
            <a:extLst>
              <a:ext uri="{FF2B5EF4-FFF2-40B4-BE49-F238E27FC236}">
                <a16:creationId xmlns:a16="http://schemas.microsoft.com/office/drawing/2014/main" id="{F69993A3-BB5F-4A69-9C08-7E2840F6F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833563"/>
            <a:ext cx="5400675" cy="385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4">
            <a:extLst>
              <a:ext uri="{FF2B5EF4-FFF2-40B4-BE49-F238E27FC236}">
                <a16:creationId xmlns:a16="http://schemas.microsoft.com/office/drawing/2014/main" id="{3283D37D-16B7-4B72-BFE8-A9CEE96CFF28}"/>
              </a:ext>
            </a:extLst>
          </p:cNvPr>
          <p:cNvSpPr>
            <a:spLocks noChangeArrowheads="1"/>
          </p:cNvSpPr>
          <p:nvPr/>
        </p:nvSpPr>
        <p:spPr bwMode="auto">
          <a:xfrm>
            <a:off x="-36513" y="5743575"/>
            <a:ext cx="788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solidFill>
                  <a:srgbClr val="333333"/>
                </a:solidFill>
                <a:latin typeface="q_serif"/>
              </a:rPr>
              <a:t> </a:t>
            </a:r>
            <a:r>
              <a:rPr lang="en-GB" altLang="en-US" sz="1800" b="0" dirty="0">
                <a:solidFill>
                  <a:srgbClr val="333333"/>
                </a:solidFill>
                <a:latin typeface="q_serif"/>
              </a:rPr>
              <a:t>Bandwidth of our senses proposed by Danish Physicist - Tor </a:t>
            </a:r>
            <a:r>
              <a:rPr lang="en-GB" altLang="en-US" sz="1800" b="0" dirty="0" err="1">
                <a:solidFill>
                  <a:srgbClr val="333333"/>
                </a:solidFill>
                <a:latin typeface="q_serif"/>
              </a:rPr>
              <a:t>Nørretranders</a:t>
            </a:r>
            <a:endParaRPr lang="en-GB" altLang="en-US" sz="1800" b="0" dirty="0"/>
          </a:p>
        </p:txBody>
      </p:sp>
      <p:sp>
        <p:nvSpPr>
          <p:cNvPr id="18438" name="TextBox 5">
            <a:extLst>
              <a:ext uri="{FF2B5EF4-FFF2-40B4-BE49-F238E27FC236}">
                <a16:creationId xmlns:a16="http://schemas.microsoft.com/office/drawing/2014/main" id="{44F234C5-6C37-4DE7-8704-74C68686EB6C}"/>
              </a:ext>
            </a:extLst>
          </p:cNvPr>
          <p:cNvSpPr txBox="1">
            <a:spLocks noChangeArrowheads="1"/>
          </p:cNvSpPr>
          <p:nvPr/>
        </p:nvSpPr>
        <p:spPr bwMode="auto">
          <a:xfrm>
            <a:off x="7502525" y="5948363"/>
            <a:ext cx="15335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600" b="0">
                <a:solidFill>
                  <a:srgbClr val="FF0000"/>
                </a:solidFill>
              </a:rPr>
              <a:t>we are aware of only 0.7%</a:t>
            </a:r>
          </a:p>
          <a:p>
            <a:pPr algn="ctr" eaLnBrk="1" hangingPunct="1">
              <a:spcBef>
                <a:spcPct val="0"/>
              </a:spcBef>
              <a:buFontTx/>
              <a:buNone/>
            </a:pPr>
            <a:r>
              <a:rPr lang="en-GB" altLang="en-US" sz="1600" b="0">
                <a:solidFill>
                  <a:srgbClr val="FF0000"/>
                </a:solidFill>
              </a:rPr>
              <a:t>of reality</a:t>
            </a:r>
          </a:p>
        </p:txBody>
      </p:sp>
      <p:pic>
        <p:nvPicPr>
          <p:cNvPr id="18439" name="Picture 7">
            <a:extLst>
              <a:ext uri="{FF2B5EF4-FFF2-40B4-BE49-F238E27FC236}">
                <a16:creationId xmlns:a16="http://schemas.microsoft.com/office/drawing/2014/main" id="{CA7DFAD6-9B5C-43A3-8B70-370A7C09DF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8786"/>
          <a:stretch>
            <a:fillRect/>
          </a:stretch>
        </p:blipFill>
        <p:spPr bwMode="auto">
          <a:xfrm>
            <a:off x="127000" y="1485900"/>
            <a:ext cx="8302625" cy="423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440" name="Conexão recta unidireccional 2">
            <a:extLst>
              <a:ext uri="{FF2B5EF4-FFF2-40B4-BE49-F238E27FC236}">
                <a16:creationId xmlns:a16="http://schemas.microsoft.com/office/drawing/2014/main" id="{0F319502-3857-482D-867F-ED0F9FF82CFA}"/>
              </a:ext>
            </a:extLst>
          </p:cNvPr>
          <p:cNvCxnSpPr>
            <a:cxnSpLocks noChangeShapeType="1"/>
          </p:cNvCxnSpPr>
          <p:nvPr/>
        </p:nvCxnSpPr>
        <p:spPr bwMode="auto">
          <a:xfrm flipV="1">
            <a:off x="8388350" y="5692775"/>
            <a:ext cx="0" cy="41910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6E5DCDA-6AAF-4D90-815A-E2B62EBC8D58}"/>
              </a:ext>
            </a:extLst>
          </p:cNvPr>
          <p:cNvSpPr>
            <a:spLocks noGrp="1" noChangeArrowheads="1"/>
          </p:cNvSpPr>
          <p:nvPr>
            <p:ph type="title"/>
          </p:nvPr>
        </p:nvSpPr>
        <p:spPr>
          <a:xfrm>
            <a:off x="421349" y="29633"/>
            <a:ext cx="8229600" cy="1143000"/>
          </a:xfrm>
        </p:spPr>
        <p:txBody>
          <a:bodyPr/>
          <a:lstStyle/>
          <a:p>
            <a:pPr algn="l"/>
            <a:r>
              <a:rPr lang="en-US" altLang="en-US" sz="2400" b="1" dirty="0"/>
              <a:t>Vision</a:t>
            </a:r>
          </a:p>
        </p:txBody>
      </p:sp>
      <p:sp>
        <p:nvSpPr>
          <p:cNvPr id="20483" name="Content Placeholder 2">
            <a:extLst>
              <a:ext uri="{FF2B5EF4-FFF2-40B4-BE49-F238E27FC236}">
                <a16:creationId xmlns:a16="http://schemas.microsoft.com/office/drawing/2014/main" id="{3A0285EB-4F08-4EA7-B502-F0D510919400}"/>
              </a:ext>
            </a:extLst>
          </p:cNvPr>
          <p:cNvSpPr>
            <a:spLocks noGrp="1" noChangeArrowheads="1"/>
          </p:cNvSpPr>
          <p:nvPr>
            <p:ph idx="1"/>
          </p:nvPr>
        </p:nvSpPr>
        <p:spPr>
          <a:xfrm>
            <a:off x="457200" y="1239914"/>
            <a:ext cx="8578850" cy="4525963"/>
          </a:xfrm>
        </p:spPr>
        <p:txBody>
          <a:bodyPr/>
          <a:lstStyle/>
          <a:p>
            <a:r>
              <a:rPr lang="en-US" altLang="en-US" sz="2000" dirty="0"/>
              <a:t>Relevant for HCI:</a:t>
            </a:r>
          </a:p>
          <a:p>
            <a:pPr lvl="1"/>
            <a:r>
              <a:rPr lang="pt-PT" altLang="en-US" sz="2000" dirty="0"/>
              <a:t>Color </a:t>
            </a:r>
            <a:r>
              <a:rPr lang="en-US" altLang="en-US" sz="2000" dirty="0"/>
              <a:t>perception and peripheral vision </a:t>
            </a:r>
          </a:p>
          <a:p>
            <a:pPr lvl="1"/>
            <a:endParaRPr lang="en-US" altLang="en-US" sz="2000" dirty="0"/>
          </a:p>
          <a:p>
            <a:pPr lvl="1"/>
            <a:r>
              <a:rPr lang="en-US" altLang="en-US" sz="2000" dirty="0"/>
              <a:t>Compensation of movements and illumination changes</a:t>
            </a:r>
          </a:p>
          <a:p>
            <a:pPr lvl="1"/>
            <a:endParaRPr lang="en-US" altLang="en-US" sz="2000" dirty="0"/>
          </a:p>
          <a:p>
            <a:pPr lvl="1"/>
            <a:r>
              <a:rPr lang="en-US" altLang="en-US" sz="2000" dirty="0"/>
              <a:t>Context used to solve ambiguities</a:t>
            </a:r>
          </a:p>
          <a:p>
            <a:pPr lvl="1"/>
            <a:endParaRPr lang="en-US" altLang="en-US" sz="2000" dirty="0"/>
          </a:p>
          <a:p>
            <a:pPr lvl="1"/>
            <a:r>
              <a:rPr lang="en-US" altLang="en-US" sz="2000" dirty="0"/>
              <a:t>May be tricked: Visual illusions come from excessive compensation.</a:t>
            </a:r>
          </a:p>
          <a:p>
            <a:pPr lvl="1"/>
            <a:endParaRPr lang="en-US" altLang="en-US" sz="2000" dirty="0"/>
          </a:p>
        </p:txBody>
      </p:sp>
      <p:sp>
        <p:nvSpPr>
          <p:cNvPr id="20484" name="Slide Number Placeholder 3">
            <a:extLst>
              <a:ext uri="{FF2B5EF4-FFF2-40B4-BE49-F238E27FC236}">
                <a16:creationId xmlns:a16="http://schemas.microsoft.com/office/drawing/2014/main" id="{AB4B3AE7-C10E-45A9-A5F6-8526206570C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C042FE4-9F6D-4379-9975-4CBAE5DBA4E5}" type="slidenum">
              <a:rPr lang="en-US" altLang="en-US" sz="1400" smtClean="0">
                <a:solidFill>
                  <a:schemeClr val="bg1"/>
                </a:solidFill>
              </a:rPr>
              <a:pPr>
                <a:spcBef>
                  <a:spcPct val="0"/>
                </a:spcBef>
                <a:buFontTx/>
                <a:buNone/>
              </a:pPr>
              <a:t>13</a:t>
            </a:fld>
            <a:endParaRPr lang="en-US" altLang="en-US" sz="1400" dirty="0">
              <a:solidFill>
                <a:schemeClr val="bg1"/>
              </a:solidFill>
            </a:endParaRPr>
          </a:p>
        </p:txBody>
      </p:sp>
      <p:pic>
        <p:nvPicPr>
          <p:cNvPr id="20485" name="Picture 6">
            <a:extLst>
              <a:ext uri="{FF2B5EF4-FFF2-40B4-BE49-F238E27FC236}">
                <a16:creationId xmlns:a16="http://schemas.microsoft.com/office/drawing/2014/main" id="{BFA52AE3-9074-460A-9D92-62B609976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4756150"/>
            <a:ext cx="3257550" cy="180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ixaDeTexto 2">
            <a:extLst>
              <a:ext uri="{FF2B5EF4-FFF2-40B4-BE49-F238E27FC236}">
                <a16:creationId xmlns:a16="http://schemas.microsoft.com/office/drawing/2014/main" id="{BA4CEC94-BB4F-4DAF-93DB-FEB97C1EA4B1}"/>
              </a:ext>
            </a:extLst>
          </p:cNvPr>
          <p:cNvSpPr txBox="1"/>
          <p:nvPr/>
        </p:nvSpPr>
        <p:spPr>
          <a:xfrm>
            <a:off x="584200" y="4327525"/>
            <a:ext cx="1838325" cy="368300"/>
          </a:xfrm>
          <a:prstGeom prst="rect">
            <a:avLst/>
          </a:prstGeom>
          <a:noFill/>
        </p:spPr>
        <p:txBody>
          <a:bodyPr wrap="none">
            <a:spAutoFit/>
          </a:bodyPr>
          <a:lstStyle/>
          <a:p>
            <a:pPr eaLnBrk="1" hangingPunct="1">
              <a:defRPr/>
            </a:pPr>
            <a:r>
              <a:rPr lang="en-US" b="0" dirty="0">
                <a:solidFill>
                  <a:schemeClr val="accent6">
                    <a:lumMod val="60000"/>
                    <a:lumOff val="40000"/>
                  </a:schemeClr>
                </a:solidFill>
              </a:rPr>
              <a:t>The sensor: eye</a:t>
            </a:r>
          </a:p>
        </p:txBody>
      </p:sp>
      <p:pic>
        <p:nvPicPr>
          <p:cNvPr id="20487" name="Picture 7">
            <a:extLst>
              <a:ext uri="{FF2B5EF4-FFF2-40B4-BE49-F238E27FC236}">
                <a16:creationId xmlns:a16="http://schemas.microsoft.com/office/drawing/2014/main" id="{A8458C02-24EF-4E24-9FCD-D2B78459D3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327525"/>
            <a:ext cx="4159250" cy="253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488" name="CaixaDeTexto 3">
            <a:extLst>
              <a:ext uri="{FF2B5EF4-FFF2-40B4-BE49-F238E27FC236}">
                <a16:creationId xmlns:a16="http://schemas.microsoft.com/office/drawing/2014/main" id="{FBA63040-6775-4E88-B587-6925C7B86372}"/>
              </a:ext>
            </a:extLst>
          </p:cNvPr>
          <p:cNvSpPr txBox="1">
            <a:spLocks noChangeArrowheads="1"/>
          </p:cNvSpPr>
          <p:nvPr/>
        </p:nvSpPr>
        <p:spPr bwMode="auto">
          <a:xfrm>
            <a:off x="5292725" y="4868863"/>
            <a:ext cx="19415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Eye – sensor</a:t>
            </a:r>
          </a:p>
          <a:p>
            <a:pPr eaLnBrk="1" hangingPunct="1">
              <a:spcBef>
                <a:spcPct val="0"/>
              </a:spcBef>
              <a:buFontTx/>
              <a:buNone/>
            </a:pPr>
            <a:endParaRPr lang="en-US" altLang="en-US" sz="1800" b="0"/>
          </a:p>
          <a:p>
            <a:pPr eaLnBrk="1" hangingPunct="1">
              <a:spcBef>
                <a:spcPct val="0"/>
              </a:spcBef>
              <a:buFontTx/>
              <a:buNone/>
            </a:pPr>
            <a:r>
              <a:rPr lang="en-US" altLang="en-US" sz="1800" b="0"/>
              <a:t>Brain - processor</a:t>
            </a:r>
          </a:p>
        </p:txBody>
      </p:sp>
      <p:sp>
        <p:nvSpPr>
          <p:cNvPr id="5" name="CaixaDeTexto 4">
            <a:extLst>
              <a:ext uri="{FF2B5EF4-FFF2-40B4-BE49-F238E27FC236}">
                <a16:creationId xmlns:a16="http://schemas.microsoft.com/office/drawing/2014/main" id="{8A372795-2A3D-4E5F-9CF9-6AF06F584C75}"/>
              </a:ext>
            </a:extLst>
          </p:cNvPr>
          <p:cNvSpPr txBox="1"/>
          <p:nvPr/>
        </p:nvSpPr>
        <p:spPr>
          <a:xfrm>
            <a:off x="5295900" y="6092825"/>
            <a:ext cx="1426994" cy="338554"/>
          </a:xfrm>
          <a:prstGeom prst="rect">
            <a:avLst/>
          </a:prstGeom>
          <a:noFill/>
        </p:spPr>
        <p:txBody>
          <a:bodyPr wrap="none">
            <a:spAutoFit/>
          </a:bodyPr>
          <a:lstStyle/>
          <a:p>
            <a:pPr eaLnBrk="1" hangingPunct="1">
              <a:defRPr/>
            </a:pPr>
            <a:r>
              <a:rPr lang="pt-PT" sz="1600" b="0" dirty="0">
                <a:solidFill>
                  <a:schemeClr val="accent6">
                    <a:lumMod val="60000"/>
                    <a:lumOff val="40000"/>
                  </a:schemeClr>
                </a:solidFill>
              </a:rPr>
              <a:t>(Hubel, 1988)</a:t>
            </a:r>
            <a:endParaRPr lang="en-US" sz="1600" b="0" dirty="0">
              <a:solidFill>
                <a:schemeClr val="accent6">
                  <a:lumMod val="60000"/>
                  <a:lumOff val="4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7">
            <a:extLst>
              <a:ext uri="{FF2B5EF4-FFF2-40B4-BE49-F238E27FC236}">
                <a16:creationId xmlns:a16="http://schemas.microsoft.com/office/drawing/2014/main" id="{1EDBEEE8-0A30-4A0A-A969-40E4145B4753}"/>
              </a:ext>
            </a:extLst>
          </p:cNvPr>
          <p:cNvSpPr>
            <a:spLocks noGrp="1"/>
          </p:cNvSpPr>
          <p:nvPr>
            <p:ph type="sldNum" sz="quarter" idx="12"/>
          </p:nvPr>
        </p:nvSpPr>
        <p:spPr/>
        <p:txBody>
          <a:bodyPr/>
          <a:lstStyle/>
          <a:p>
            <a:fld id="{D85EFE2C-577E-4445-80B9-C3BF4B3A9242}" type="slidenum">
              <a:rPr lang="en-GB" altLang="en-US"/>
              <a:pPr/>
              <a:t>14</a:t>
            </a:fld>
            <a:endParaRPr lang="en-GB" altLang="en-US"/>
          </a:p>
        </p:txBody>
      </p:sp>
      <p:sp>
        <p:nvSpPr>
          <p:cNvPr id="94210" name="Rectangle 2">
            <a:extLst>
              <a:ext uri="{FF2B5EF4-FFF2-40B4-BE49-F238E27FC236}">
                <a16:creationId xmlns:a16="http://schemas.microsoft.com/office/drawing/2014/main" id="{2F099F26-98A8-4C18-917C-B4CB5CC9E7DC}"/>
              </a:ext>
            </a:extLst>
          </p:cNvPr>
          <p:cNvSpPr>
            <a:spLocks noGrp="1" noChangeArrowheads="1"/>
          </p:cNvSpPr>
          <p:nvPr>
            <p:ph type="title"/>
          </p:nvPr>
        </p:nvSpPr>
        <p:spPr/>
        <p:txBody>
          <a:bodyPr/>
          <a:lstStyle/>
          <a:p>
            <a:pPr algn="l"/>
            <a:r>
              <a:rPr lang="en-GB" altLang="en-US" sz="2400" b="1" dirty="0"/>
              <a:t> </a:t>
            </a:r>
          </a:p>
        </p:txBody>
      </p:sp>
      <p:sp>
        <p:nvSpPr>
          <p:cNvPr id="94211" name="Rectangle 3">
            <a:extLst>
              <a:ext uri="{FF2B5EF4-FFF2-40B4-BE49-F238E27FC236}">
                <a16:creationId xmlns:a16="http://schemas.microsoft.com/office/drawing/2014/main" id="{80F5456D-2F3D-4AAE-914D-D05D25E0004B}"/>
              </a:ext>
            </a:extLst>
          </p:cNvPr>
          <p:cNvSpPr>
            <a:spLocks noGrp="1" noChangeArrowheads="1"/>
          </p:cNvSpPr>
          <p:nvPr>
            <p:ph type="body" sz="half" idx="1"/>
          </p:nvPr>
        </p:nvSpPr>
        <p:spPr>
          <a:xfrm>
            <a:off x="251520" y="846138"/>
            <a:ext cx="4969247" cy="4897437"/>
          </a:xfrm>
        </p:spPr>
        <p:txBody>
          <a:bodyPr/>
          <a:lstStyle/>
          <a:p>
            <a:pPr>
              <a:lnSpc>
                <a:spcPct val="90000"/>
              </a:lnSpc>
            </a:pPr>
            <a:r>
              <a:rPr lang="en-US" altLang="en-US" sz="2000" dirty="0"/>
              <a:t>The Human Visual system is sensitive only to a small part of the electromagnetic spectrum</a:t>
            </a:r>
          </a:p>
          <a:p>
            <a:pPr>
              <a:lnSpc>
                <a:spcPct val="90000"/>
              </a:lnSpc>
            </a:pPr>
            <a:endParaRPr lang="en-GB" altLang="en-US" sz="2000" dirty="0"/>
          </a:p>
          <a:p>
            <a:pPr>
              <a:lnSpc>
                <a:spcPct val="90000"/>
              </a:lnSpc>
            </a:pPr>
            <a:endParaRPr lang="en-GB" altLang="en-US" sz="2000" dirty="0"/>
          </a:p>
          <a:p>
            <a:pPr>
              <a:lnSpc>
                <a:spcPct val="90000"/>
              </a:lnSpc>
            </a:pPr>
            <a:r>
              <a:rPr lang="en-GB" altLang="en-US" sz="2000" dirty="0"/>
              <a:t>Two types of vision:</a:t>
            </a:r>
          </a:p>
          <a:p>
            <a:pPr>
              <a:lnSpc>
                <a:spcPct val="90000"/>
              </a:lnSpc>
            </a:pPr>
            <a:endParaRPr lang="en-GB" altLang="en-US" sz="2000" dirty="0"/>
          </a:p>
          <a:p>
            <a:pPr>
              <a:lnSpc>
                <a:spcPct val="90000"/>
              </a:lnSpc>
            </a:pPr>
            <a:r>
              <a:rPr lang="en-GB" altLang="en-US" sz="2000" dirty="0"/>
              <a:t>Scotopic – </a:t>
            </a:r>
            <a:r>
              <a:rPr lang="en-GB" altLang="en-US" sz="1800" dirty="0"/>
              <a:t>works at low illumination levels; not sensitive to wave length </a:t>
            </a:r>
          </a:p>
          <a:p>
            <a:pPr>
              <a:lnSpc>
                <a:spcPct val="90000"/>
              </a:lnSpc>
            </a:pPr>
            <a:endParaRPr lang="en-GB" altLang="en-US" sz="1800" dirty="0"/>
          </a:p>
          <a:p>
            <a:pPr>
              <a:lnSpc>
                <a:spcPct val="90000"/>
              </a:lnSpc>
            </a:pPr>
            <a:r>
              <a:rPr lang="en-US" altLang="en-US" sz="2000" dirty="0"/>
              <a:t>Photopic – </a:t>
            </a:r>
            <a:r>
              <a:rPr lang="en-US" altLang="en-US" sz="1800" dirty="0"/>
              <a:t>works at higher illumination levels;  sensitive to wave length </a:t>
            </a:r>
          </a:p>
          <a:p>
            <a:pPr marL="0" indent="0">
              <a:lnSpc>
                <a:spcPct val="90000"/>
              </a:lnSpc>
              <a:buNone/>
            </a:pPr>
            <a:r>
              <a:rPr lang="en-US" altLang="en-US" sz="1800" dirty="0"/>
              <a:t>       -&gt; color perception</a:t>
            </a:r>
          </a:p>
          <a:p>
            <a:pPr marL="0" indent="0">
              <a:lnSpc>
                <a:spcPct val="90000"/>
              </a:lnSpc>
              <a:buNone/>
            </a:pPr>
            <a:endParaRPr lang="pt-PT" altLang="en-US" sz="2000" dirty="0"/>
          </a:p>
          <a:p>
            <a:pPr marL="0" indent="0">
              <a:lnSpc>
                <a:spcPct val="90000"/>
              </a:lnSpc>
              <a:buNone/>
            </a:pPr>
            <a:r>
              <a:rPr lang="pt-PT" altLang="en-US" sz="2000" dirty="0"/>
              <a:t>(</a:t>
            </a:r>
            <a:r>
              <a:rPr lang="en-US" altLang="en-US" sz="2000" dirty="0"/>
              <a:t>in low intensity light there is no color)</a:t>
            </a:r>
          </a:p>
        </p:txBody>
      </p:sp>
      <p:graphicFrame>
        <p:nvGraphicFramePr>
          <p:cNvPr id="94212" name="Object 4">
            <a:extLst>
              <a:ext uri="{FF2B5EF4-FFF2-40B4-BE49-F238E27FC236}">
                <a16:creationId xmlns:a16="http://schemas.microsoft.com/office/drawing/2014/main" id="{B9CEF75F-E6BF-472A-91E1-0719957FC3AB}"/>
              </a:ext>
            </a:extLst>
          </p:cNvPr>
          <p:cNvGraphicFramePr>
            <a:graphicFrameLocks noGrp="1" noChangeAspect="1"/>
          </p:cNvGraphicFramePr>
          <p:nvPr>
            <p:ph sz="quarter" idx="2"/>
          </p:nvPr>
        </p:nvGraphicFramePr>
        <p:xfrm>
          <a:off x="5795963" y="2781300"/>
          <a:ext cx="2513012" cy="3529013"/>
        </p:xfrm>
        <a:graphic>
          <a:graphicData uri="http://schemas.openxmlformats.org/presentationml/2006/ole">
            <mc:AlternateContent xmlns:mc="http://schemas.openxmlformats.org/markup-compatibility/2006">
              <mc:Choice xmlns:v="urn:schemas-microsoft-com:vml" Requires="v">
                <p:oleObj spid="_x0000_s1026" name="Imagem de mapa de bits" r:id="rId3" imgW="2172003" imgH="3048426" progId="Paint.Picture">
                  <p:embed/>
                </p:oleObj>
              </mc:Choice>
              <mc:Fallback>
                <p:oleObj name="Imagem de mapa de bits" r:id="rId3" imgW="2172003" imgH="3048426" progId="Paint.Picture">
                  <p:embed/>
                  <p:pic>
                    <p:nvPicPr>
                      <p:cNvPr id="94212" name="Object 4">
                        <a:extLst>
                          <a:ext uri="{FF2B5EF4-FFF2-40B4-BE49-F238E27FC236}">
                            <a16:creationId xmlns:a16="http://schemas.microsoft.com/office/drawing/2014/main" id="{B9CEF75F-E6BF-472A-91E1-0719957FC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2781300"/>
                        <a:ext cx="2513012" cy="352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13" name="Object 5">
            <a:extLst>
              <a:ext uri="{FF2B5EF4-FFF2-40B4-BE49-F238E27FC236}">
                <a16:creationId xmlns:a16="http://schemas.microsoft.com/office/drawing/2014/main" id="{5AB85362-0C80-472E-9114-BDFF18D217AE}"/>
              </a:ext>
            </a:extLst>
          </p:cNvPr>
          <p:cNvGraphicFramePr>
            <a:graphicFrameLocks noGrp="1" noChangeAspect="1"/>
          </p:cNvGraphicFramePr>
          <p:nvPr>
            <p:ph sz="quarter" idx="3"/>
            <p:extLst>
              <p:ext uri="{D42A27DB-BD31-4B8C-83A1-F6EECF244321}">
                <p14:modId xmlns:p14="http://schemas.microsoft.com/office/powerpoint/2010/main" val="3997721612"/>
              </p:ext>
            </p:extLst>
          </p:nvPr>
        </p:nvGraphicFramePr>
        <p:xfrm>
          <a:off x="5392612" y="293688"/>
          <a:ext cx="3733800" cy="2095500"/>
        </p:xfrm>
        <a:graphic>
          <a:graphicData uri="http://schemas.openxmlformats.org/presentationml/2006/ole">
            <mc:AlternateContent xmlns:mc="http://schemas.openxmlformats.org/markup-compatibility/2006">
              <mc:Choice xmlns:v="urn:schemas-microsoft-com:vml" Requires="v">
                <p:oleObj spid="_x0000_s1027" name="Imagem de mapa de bits" r:id="rId5" imgW="3734321" imgH="2095793" progId="Paint.Picture">
                  <p:embed/>
                </p:oleObj>
              </mc:Choice>
              <mc:Fallback>
                <p:oleObj name="Imagem de mapa de bits" r:id="rId5" imgW="3734321" imgH="2095793" progId="Paint.Picture">
                  <p:embed/>
                  <p:pic>
                    <p:nvPicPr>
                      <p:cNvPr id="94213" name="Object 5">
                        <a:extLst>
                          <a:ext uri="{FF2B5EF4-FFF2-40B4-BE49-F238E27FC236}">
                            <a16:creationId xmlns:a16="http://schemas.microsoft.com/office/drawing/2014/main" id="{5AB85362-0C80-472E-9114-BDFF18D217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2612" y="293688"/>
                        <a:ext cx="37338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a:extLst>
              <a:ext uri="{FF2B5EF4-FFF2-40B4-BE49-F238E27FC236}">
                <a16:creationId xmlns:a16="http://schemas.microsoft.com/office/drawing/2014/main" id="{F13C37A2-5F42-41C6-B21E-DDCBD6DD30D7}"/>
              </a:ext>
            </a:extLst>
          </p:cNvPr>
          <p:cNvSpPr>
            <a:spLocks noGrp="1"/>
          </p:cNvSpPr>
          <p:nvPr>
            <p:ph type="sldNum" sz="quarter" idx="12"/>
          </p:nvPr>
        </p:nvSpPr>
        <p:spPr/>
        <p:txBody>
          <a:bodyPr/>
          <a:lstStyle/>
          <a:p>
            <a:fld id="{C705C651-B25D-4ACA-A489-ED855B6FF588}" type="slidenum">
              <a:rPr lang="en-GB" altLang="en-US"/>
              <a:pPr/>
              <a:t>15</a:t>
            </a:fld>
            <a:endParaRPr lang="en-GB" altLang="en-US"/>
          </a:p>
        </p:txBody>
      </p:sp>
      <p:sp>
        <p:nvSpPr>
          <p:cNvPr id="47113" name="Rectangle 9">
            <a:extLst>
              <a:ext uri="{FF2B5EF4-FFF2-40B4-BE49-F238E27FC236}">
                <a16:creationId xmlns:a16="http://schemas.microsoft.com/office/drawing/2014/main" id="{5B49BF89-AB67-4D02-8014-D512B9AEF5EB}"/>
              </a:ext>
            </a:extLst>
          </p:cNvPr>
          <p:cNvSpPr>
            <a:spLocks noGrp="1" noChangeArrowheads="1"/>
          </p:cNvSpPr>
          <p:nvPr>
            <p:ph sz="half" idx="1"/>
          </p:nvPr>
        </p:nvSpPr>
        <p:spPr>
          <a:xfrm>
            <a:off x="179512" y="330927"/>
            <a:ext cx="8507288" cy="4750842"/>
          </a:xfrm>
        </p:spPr>
        <p:txBody>
          <a:bodyPr/>
          <a:lstStyle/>
          <a:p>
            <a:r>
              <a:rPr lang="en-GB" altLang="en-US" sz="2000" dirty="0"/>
              <a:t>The light passes through the iris, is focused by the lens and projected on the retina</a:t>
            </a:r>
          </a:p>
          <a:p>
            <a:pPr marL="0" indent="0">
              <a:buNone/>
            </a:pPr>
            <a:endParaRPr lang="en-GB" altLang="en-US" sz="2000" dirty="0"/>
          </a:p>
          <a:p>
            <a:r>
              <a:rPr lang="en-US" altLang="en-US" sz="2000" dirty="0"/>
              <a:t>Two types of sensor cells:</a:t>
            </a:r>
          </a:p>
          <a:p>
            <a:endParaRPr lang="en-US" altLang="en-US" sz="2000" dirty="0"/>
          </a:p>
          <a:p>
            <a:pPr lvl="1"/>
            <a:r>
              <a:rPr lang="en-US" altLang="en-US" sz="1800" dirty="0"/>
              <a:t>Rods – scotopic vision</a:t>
            </a:r>
          </a:p>
          <a:p>
            <a:pPr lvl="1"/>
            <a:endParaRPr lang="en-US" altLang="en-US" sz="1800" dirty="0"/>
          </a:p>
          <a:p>
            <a:pPr lvl="1"/>
            <a:r>
              <a:rPr lang="en-US" altLang="en-US" sz="1800" dirty="0"/>
              <a:t>Cones – photopic vision</a:t>
            </a:r>
          </a:p>
          <a:p>
            <a:pPr lvl="1"/>
            <a:endParaRPr lang="en-US" altLang="en-US" sz="1800" dirty="0"/>
          </a:p>
          <a:p>
            <a:pPr lvl="1"/>
            <a:endParaRPr lang="en-US" altLang="en-US" sz="1800" dirty="0"/>
          </a:p>
          <a:p>
            <a:pPr lvl="1"/>
            <a:r>
              <a:rPr lang="en-US" altLang="en-US" sz="1800" dirty="0"/>
              <a:t>Some people have abnormal cones and do not see color as most people</a:t>
            </a:r>
          </a:p>
          <a:p>
            <a:pPr lvl="1"/>
            <a:endParaRPr lang="en-US" altLang="en-US" sz="1800" dirty="0"/>
          </a:p>
          <a:p>
            <a:pPr lvl="1"/>
            <a:r>
              <a:rPr lang="en-US" altLang="en-US" sz="1800" dirty="0"/>
              <a:t>Color vision is mostly in the center</a:t>
            </a:r>
          </a:p>
          <a:p>
            <a:pPr lvl="1"/>
            <a:endParaRPr lang="en-US" altLang="en-US" sz="1800" dirty="0"/>
          </a:p>
          <a:p>
            <a:pPr lvl="1"/>
            <a:r>
              <a:rPr lang="en-US" altLang="en-US" sz="1800" dirty="0"/>
              <a:t>Three types of cones:</a:t>
            </a:r>
          </a:p>
          <a:p>
            <a:pPr lvl="1"/>
            <a:r>
              <a:rPr lang="en-US" altLang="en-US" sz="1800" dirty="0"/>
              <a:t>Green - 64%</a:t>
            </a:r>
          </a:p>
          <a:p>
            <a:pPr lvl="1"/>
            <a:r>
              <a:rPr lang="en-US" altLang="en-US" sz="1800" dirty="0"/>
              <a:t>Red - 33% </a:t>
            </a:r>
          </a:p>
          <a:p>
            <a:pPr lvl="1"/>
            <a:r>
              <a:rPr lang="en-US" altLang="en-US" sz="1800" dirty="0"/>
              <a:t>Blue  - 2% (less sensitive)</a:t>
            </a:r>
          </a:p>
          <a:p>
            <a:pPr lvl="1"/>
            <a:endParaRPr lang="en-GB" altLang="en-US" sz="1800" dirty="0"/>
          </a:p>
          <a:p>
            <a:endParaRPr lang="en-GB" altLang="en-US" sz="2000" dirty="0"/>
          </a:p>
        </p:txBody>
      </p:sp>
      <p:pic>
        <p:nvPicPr>
          <p:cNvPr id="4" name="Picture 3">
            <a:extLst>
              <a:ext uri="{FF2B5EF4-FFF2-40B4-BE49-F238E27FC236}">
                <a16:creationId xmlns:a16="http://schemas.microsoft.com/office/drawing/2014/main" id="{4B58EEB9-6EA2-428A-9953-FF265CC683F2}"/>
              </a:ext>
            </a:extLst>
          </p:cNvPr>
          <p:cNvPicPr>
            <a:picLocks noChangeAspect="1"/>
          </p:cNvPicPr>
          <p:nvPr/>
        </p:nvPicPr>
        <p:blipFill>
          <a:blip r:embed="rId3"/>
          <a:stretch>
            <a:fillRect/>
          </a:stretch>
        </p:blipFill>
        <p:spPr>
          <a:xfrm>
            <a:off x="4211960" y="723117"/>
            <a:ext cx="4193232" cy="3138034"/>
          </a:xfrm>
          <a:prstGeom prst="rect">
            <a:avLst/>
          </a:prstGeom>
        </p:spPr>
      </p:pic>
      <p:sp>
        <p:nvSpPr>
          <p:cNvPr id="47114" name="Text Box 10">
            <a:extLst>
              <a:ext uri="{FF2B5EF4-FFF2-40B4-BE49-F238E27FC236}">
                <a16:creationId xmlns:a16="http://schemas.microsoft.com/office/drawing/2014/main" id="{BC8AE0D5-7C3D-45C4-A0CF-8810E9400776}"/>
              </a:ext>
            </a:extLst>
          </p:cNvPr>
          <p:cNvSpPr txBox="1">
            <a:spLocks noChangeArrowheads="1"/>
          </p:cNvSpPr>
          <p:nvPr/>
        </p:nvSpPr>
        <p:spPr bwMode="auto">
          <a:xfrm>
            <a:off x="7117520" y="908720"/>
            <a:ext cx="11400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400" b="1" dirty="0"/>
              <a:t>Human eye</a:t>
            </a:r>
          </a:p>
        </p:txBody>
      </p:sp>
      <p:grpSp>
        <p:nvGrpSpPr>
          <p:cNvPr id="9" name="Group 9">
            <a:extLst>
              <a:ext uri="{FF2B5EF4-FFF2-40B4-BE49-F238E27FC236}">
                <a16:creationId xmlns:a16="http://schemas.microsoft.com/office/drawing/2014/main" id="{3659EC39-0638-409E-8443-01DFA0B45845}"/>
              </a:ext>
            </a:extLst>
          </p:cNvPr>
          <p:cNvGrpSpPr>
            <a:grpSpLocks/>
          </p:cNvGrpSpPr>
          <p:nvPr/>
        </p:nvGrpSpPr>
        <p:grpSpPr bwMode="auto">
          <a:xfrm>
            <a:off x="5157578" y="4460969"/>
            <a:ext cx="3528705" cy="1728148"/>
            <a:chOff x="7668" y="789"/>
            <a:chExt cx="3399" cy="2554"/>
          </a:xfrm>
        </p:grpSpPr>
        <p:graphicFrame>
          <p:nvGraphicFramePr>
            <p:cNvPr id="10" name="Object 10">
              <a:extLst>
                <a:ext uri="{FF2B5EF4-FFF2-40B4-BE49-F238E27FC236}">
                  <a16:creationId xmlns:a16="http://schemas.microsoft.com/office/drawing/2014/main" id="{FC33673C-7F2E-4D00-9BAC-EB834C38D9FC}"/>
                </a:ext>
              </a:extLst>
            </p:cNvPr>
            <p:cNvGraphicFramePr>
              <a:graphicFrameLocks noChangeAspect="1"/>
            </p:cNvGraphicFramePr>
            <p:nvPr>
              <p:extLst>
                <p:ext uri="{D42A27DB-BD31-4B8C-83A1-F6EECF244321}">
                  <p14:modId xmlns:p14="http://schemas.microsoft.com/office/powerpoint/2010/main" val="264544028"/>
                </p:ext>
              </p:extLst>
            </p:nvPr>
          </p:nvGraphicFramePr>
          <p:xfrm>
            <a:off x="7936" y="1112"/>
            <a:ext cx="3131" cy="1797"/>
          </p:xfrm>
          <a:graphic>
            <a:graphicData uri="http://schemas.openxmlformats.org/presentationml/2006/ole">
              <mc:AlternateContent xmlns:mc="http://schemas.openxmlformats.org/markup-compatibility/2006">
                <mc:Choice xmlns:v="urn:schemas-microsoft-com:vml" Requires="v">
                  <p:oleObj spid="_x0000_s2050" name="Imagem de mapa de bits" r:id="rId4" imgW="2505425" imgH="1438095" progId="Paint.Picture">
                    <p:embed/>
                  </p:oleObj>
                </mc:Choice>
                <mc:Fallback>
                  <p:oleObj name="Imagem de mapa de bits" r:id="rId4" imgW="2505425" imgH="1438095" progId="Paint.Picture">
                    <p:embed/>
                    <p:pic>
                      <p:nvPicPr>
                        <p:cNvPr id="10" name="Object 10">
                          <a:extLst>
                            <a:ext uri="{FF2B5EF4-FFF2-40B4-BE49-F238E27FC236}">
                              <a16:creationId xmlns:a16="http://schemas.microsoft.com/office/drawing/2014/main" id="{FC33673C-7F2E-4D00-9BAC-EB834C38D9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6" y="1112"/>
                          <a:ext cx="3131" cy="1797"/>
                        </a:xfrm>
                        <a:prstGeom prst="rect">
                          <a:avLst/>
                        </a:prstGeom>
                        <a:noFill/>
                        <a:ln>
                          <a:noFill/>
                        </a:ln>
                        <a:effectLst/>
                      </p:spPr>
                    </p:pic>
                  </p:oleObj>
                </mc:Fallback>
              </mc:AlternateContent>
            </a:graphicData>
          </a:graphic>
        </p:graphicFrame>
        <p:sp>
          <p:nvSpPr>
            <p:cNvPr id="11" name="Text Box 11">
              <a:extLst>
                <a:ext uri="{FF2B5EF4-FFF2-40B4-BE49-F238E27FC236}">
                  <a16:creationId xmlns:a16="http://schemas.microsoft.com/office/drawing/2014/main" id="{32CFDDCC-1EC3-4C2D-BE74-BB4E2EE4F1A2}"/>
                </a:ext>
              </a:extLst>
            </p:cNvPr>
            <p:cNvSpPr txBox="1">
              <a:spLocks noChangeArrowheads="1"/>
            </p:cNvSpPr>
            <p:nvPr/>
          </p:nvSpPr>
          <p:spPr bwMode="auto">
            <a:xfrm>
              <a:off x="8782" y="2934"/>
              <a:ext cx="1600" cy="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200" b="1" dirty="0"/>
                <a:t>Degrees from fovea </a:t>
              </a:r>
            </a:p>
          </p:txBody>
        </p:sp>
        <p:sp>
          <p:nvSpPr>
            <p:cNvPr id="12" name="Text Box 12">
              <a:extLst>
                <a:ext uri="{FF2B5EF4-FFF2-40B4-BE49-F238E27FC236}">
                  <a16:creationId xmlns:a16="http://schemas.microsoft.com/office/drawing/2014/main" id="{8DA093B4-7931-45E6-8CA9-4B562082EA02}"/>
                </a:ext>
              </a:extLst>
            </p:cNvPr>
            <p:cNvSpPr txBox="1">
              <a:spLocks noChangeArrowheads="1"/>
            </p:cNvSpPr>
            <p:nvPr/>
          </p:nvSpPr>
          <p:spPr bwMode="auto">
            <a:xfrm rot="16200000">
              <a:off x="6726" y="1731"/>
              <a:ext cx="2152"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1200" dirty="0"/>
                <a:t>n.</a:t>
              </a:r>
              <a:r>
                <a:rPr lang="en-GB" altLang="en-US" sz="1200" b="1" dirty="0"/>
                <a:t> sensors/mm</a:t>
              </a:r>
              <a:r>
                <a:rPr lang="en-GB" altLang="en-US" sz="1200" b="1" baseline="30000" dirty="0"/>
                <a:t>2</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E0AE-904A-4C67-A9A1-9FB1E82572A5}"/>
              </a:ext>
            </a:extLst>
          </p:cNvPr>
          <p:cNvSpPr>
            <a:spLocks noGrp="1"/>
          </p:cNvSpPr>
          <p:nvPr>
            <p:ph type="title"/>
          </p:nvPr>
        </p:nvSpPr>
        <p:spPr/>
        <p:txBody>
          <a:bodyPr/>
          <a:lstStyle/>
          <a:p>
            <a:pPr algn="l"/>
            <a:r>
              <a:rPr lang="en-US" sz="2200" dirty="0"/>
              <a:t>Colour blindness affects a significant percentage of users</a:t>
            </a:r>
          </a:p>
        </p:txBody>
      </p:sp>
      <p:sp>
        <p:nvSpPr>
          <p:cNvPr id="5" name="Slide Number Placeholder 4">
            <a:extLst>
              <a:ext uri="{FF2B5EF4-FFF2-40B4-BE49-F238E27FC236}">
                <a16:creationId xmlns:a16="http://schemas.microsoft.com/office/drawing/2014/main" id="{67F693D3-13DC-4141-8966-72A741F5685B}"/>
              </a:ext>
            </a:extLst>
          </p:cNvPr>
          <p:cNvSpPr>
            <a:spLocks noGrp="1"/>
          </p:cNvSpPr>
          <p:nvPr>
            <p:ph type="sldNum" sz="quarter" idx="12"/>
          </p:nvPr>
        </p:nvSpPr>
        <p:spPr/>
        <p:txBody>
          <a:bodyPr/>
          <a:lstStyle/>
          <a:p>
            <a:pPr>
              <a:defRPr/>
            </a:pPr>
            <a:fld id="{80FCC0E3-77D8-4675-82F7-18127E3EB66E}" type="slidenum">
              <a:rPr lang="en-GB" altLang="en-US" smtClean="0"/>
              <a:pPr>
                <a:defRPr/>
              </a:pPr>
              <a:t>16</a:t>
            </a:fld>
            <a:endParaRPr lang="en-GB" altLang="en-US" dirty="0"/>
          </a:p>
        </p:txBody>
      </p:sp>
      <p:sp>
        <p:nvSpPr>
          <p:cNvPr id="7" name="Rectangle 6">
            <a:extLst>
              <a:ext uri="{FF2B5EF4-FFF2-40B4-BE49-F238E27FC236}">
                <a16:creationId xmlns:a16="http://schemas.microsoft.com/office/drawing/2014/main" id="{91D6223A-B452-4A86-A7A8-BD24DBB3B358}"/>
              </a:ext>
            </a:extLst>
          </p:cNvPr>
          <p:cNvSpPr/>
          <p:nvPr/>
        </p:nvSpPr>
        <p:spPr>
          <a:xfrm>
            <a:off x="3995936" y="6144796"/>
            <a:ext cx="4176463" cy="338554"/>
          </a:xfrm>
          <a:prstGeom prst="rect">
            <a:avLst/>
          </a:prstGeom>
        </p:spPr>
        <p:txBody>
          <a:bodyPr wrap="square">
            <a:spAutoFit/>
          </a:bodyPr>
          <a:lstStyle/>
          <a:p>
            <a:r>
              <a:rPr lang="en-US" sz="1600" b="0" dirty="0" err="1">
                <a:hlinkClick r:id="rId2"/>
              </a:rPr>
              <a:t>daltonism</a:t>
            </a:r>
            <a:r>
              <a:rPr lang="en-US" sz="1600" b="0" dirty="0">
                <a:hlinkClick r:id="rId2"/>
              </a:rPr>
              <a:t>-correction-</a:t>
            </a:r>
            <a:r>
              <a:rPr lang="en-US" sz="1600" b="0" dirty="0" err="1">
                <a:hlinkClick r:id="rId2"/>
              </a:rPr>
              <a:t>daltonizer</a:t>
            </a:r>
            <a:r>
              <a:rPr lang="en-US" sz="1600" b="0" dirty="0">
                <a:hlinkClick r:id="rId2"/>
              </a:rPr>
              <a:t>-app</a:t>
            </a:r>
            <a:r>
              <a:rPr lang="en-US" sz="1600" b="0" dirty="0"/>
              <a:t> </a:t>
            </a:r>
          </a:p>
        </p:txBody>
      </p:sp>
      <p:pic>
        <p:nvPicPr>
          <p:cNvPr id="8" name="Picture 7">
            <a:extLst>
              <a:ext uri="{FF2B5EF4-FFF2-40B4-BE49-F238E27FC236}">
                <a16:creationId xmlns:a16="http://schemas.microsoft.com/office/drawing/2014/main" id="{265FB77C-30BB-45AD-9191-1B1E2F6A8CA7}"/>
              </a:ext>
            </a:extLst>
          </p:cNvPr>
          <p:cNvPicPr>
            <a:picLocks noChangeAspect="1"/>
          </p:cNvPicPr>
          <p:nvPr/>
        </p:nvPicPr>
        <p:blipFill>
          <a:blip r:embed="rId3"/>
          <a:stretch>
            <a:fillRect/>
          </a:stretch>
        </p:blipFill>
        <p:spPr>
          <a:xfrm>
            <a:off x="697268" y="1522927"/>
            <a:ext cx="7749463" cy="4147914"/>
          </a:xfrm>
          <a:prstGeom prst="rect">
            <a:avLst/>
          </a:prstGeom>
        </p:spPr>
      </p:pic>
    </p:spTree>
    <p:extLst>
      <p:ext uri="{BB962C8B-B14F-4D97-AF65-F5344CB8AC3E}">
        <p14:creationId xmlns:p14="http://schemas.microsoft.com/office/powerpoint/2010/main" val="1274754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20516ABD-3030-4591-B3E8-306AB61BE31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54DDDD3-7F06-4C90-8D0C-498A343E4C39}" type="slidenum">
              <a:rPr lang="pt-PT" altLang="en-US" sz="1400" smtClean="0"/>
              <a:pPr>
                <a:spcBef>
                  <a:spcPct val="0"/>
                </a:spcBef>
                <a:buFontTx/>
                <a:buNone/>
              </a:pPr>
              <a:t>17</a:t>
            </a:fld>
            <a:endParaRPr lang="pt-PT" altLang="en-US" sz="1400"/>
          </a:p>
        </p:txBody>
      </p:sp>
      <p:sp>
        <p:nvSpPr>
          <p:cNvPr id="70659" name="Rectangle 2">
            <a:extLst>
              <a:ext uri="{FF2B5EF4-FFF2-40B4-BE49-F238E27FC236}">
                <a16:creationId xmlns:a16="http://schemas.microsoft.com/office/drawing/2014/main" id="{34A48A7A-8BAA-437E-9E9E-6A0857FB2388}"/>
              </a:ext>
            </a:extLst>
          </p:cNvPr>
          <p:cNvSpPr>
            <a:spLocks noGrp="1" noChangeArrowheads="1"/>
          </p:cNvSpPr>
          <p:nvPr>
            <p:ph type="title"/>
          </p:nvPr>
        </p:nvSpPr>
        <p:spPr/>
        <p:txBody>
          <a:bodyPr/>
          <a:lstStyle/>
          <a:p>
            <a:pPr algn="l"/>
            <a:r>
              <a:rPr lang="en-US" altLang="en-US" sz="2200" dirty="0"/>
              <a:t>Color blindness </a:t>
            </a:r>
            <a:br>
              <a:rPr lang="en-US" altLang="en-US" sz="2400" dirty="0"/>
            </a:br>
            <a:r>
              <a:rPr lang="en-US" altLang="en-US" sz="2000" dirty="0"/>
              <a:t>Ishihara test for red-green blindness </a:t>
            </a:r>
            <a:br>
              <a:rPr lang="en-US" altLang="en-US" sz="2000" dirty="0"/>
            </a:br>
            <a:r>
              <a:rPr lang="en-US" altLang="en-US" sz="2000" dirty="0"/>
              <a:t>(daltonism or deuteranopia)</a:t>
            </a:r>
          </a:p>
        </p:txBody>
      </p:sp>
      <p:pic>
        <p:nvPicPr>
          <p:cNvPr id="70660" name="Picture 3">
            <a:extLst>
              <a:ext uri="{FF2B5EF4-FFF2-40B4-BE49-F238E27FC236}">
                <a16:creationId xmlns:a16="http://schemas.microsoft.com/office/drawing/2014/main" id="{6D5AEFC3-4EDC-41DF-9BB1-2E31E3DF6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4646593"/>
            <a:ext cx="2376066" cy="211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4">
            <a:extLst>
              <a:ext uri="{FF2B5EF4-FFF2-40B4-BE49-F238E27FC236}">
                <a16:creationId xmlns:a16="http://schemas.microsoft.com/office/drawing/2014/main" id="{B2CD58FC-35F2-4CF0-ACAF-86A4A65E9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2854" y="178696"/>
            <a:ext cx="2142028" cy="211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9" name="Rectangle 5">
            <a:extLst>
              <a:ext uri="{FF2B5EF4-FFF2-40B4-BE49-F238E27FC236}">
                <a16:creationId xmlns:a16="http://schemas.microsoft.com/office/drawing/2014/main" id="{33CDBCE2-E3ED-42F1-A95A-44111B4295B5}"/>
              </a:ext>
            </a:extLst>
          </p:cNvPr>
          <p:cNvSpPr>
            <a:spLocks noChangeArrowheads="1"/>
          </p:cNvSpPr>
          <p:nvPr/>
        </p:nvSpPr>
        <p:spPr bwMode="auto">
          <a:xfrm>
            <a:off x="107504" y="5829299"/>
            <a:ext cx="3143250" cy="86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1600" b="0" dirty="0">
                <a:latin typeface="Arial" charset="0"/>
                <a:cs typeface="+mn-cs"/>
              </a:rPr>
              <a:t>(Shinobu Ishihara,1917)</a:t>
            </a:r>
          </a:p>
          <a:p>
            <a:pPr eaLnBrk="1" hangingPunct="1">
              <a:defRPr/>
            </a:pPr>
            <a:endParaRPr lang="en-US" altLang="en-US" sz="1600" dirty="0">
              <a:latin typeface="Arial" charset="0"/>
              <a:cs typeface="+mn-cs"/>
            </a:endParaRPr>
          </a:p>
          <a:p>
            <a:pPr eaLnBrk="1" hangingPunct="1">
              <a:defRPr/>
            </a:pPr>
            <a:r>
              <a:rPr lang="en-US" altLang="en-US" b="0" dirty="0">
                <a:latin typeface="Arial" charset="0"/>
                <a:cs typeface="+mn-cs"/>
              </a:rPr>
              <a:t>- </a:t>
            </a:r>
            <a:r>
              <a:rPr lang="en-US" altLang="en-US" b="0" dirty="0">
                <a:latin typeface="+mn-lt"/>
                <a:cs typeface="+mn-cs"/>
              </a:rPr>
              <a:t>The test includes 38 figures</a:t>
            </a:r>
            <a:endParaRPr lang="pt-PT" altLang="en-US" b="0" dirty="0">
              <a:latin typeface="+mn-lt"/>
              <a:cs typeface="+mn-cs"/>
            </a:endParaRPr>
          </a:p>
        </p:txBody>
      </p:sp>
      <p:pic>
        <p:nvPicPr>
          <p:cNvPr id="70663" name="Picture 6">
            <a:extLst>
              <a:ext uri="{FF2B5EF4-FFF2-40B4-BE49-F238E27FC236}">
                <a16:creationId xmlns:a16="http://schemas.microsoft.com/office/drawing/2014/main" id="{C7952638-747E-46FB-8592-75EC96DFA1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2319153"/>
            <a:ext cx="2284257" cy="2219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a:extLst>
              <a:ext uri="{FF2B5EF4-FFF2-40B4-BE49-F238E27FC236}">
                <a16:creationId xmlns:a16="http://schemas.microsoft.com/office/drawing/2014/main" id="{E66AEC85-8CF7-42BC-91A5-5B78BE3DE222}"/>
              </a:ext>
            </a:extLst>
          </p:cNvPr>
          <p:cNvGrpSpPr/>
          <p:nvPr/>
        </p:nvGrpSpPr>
        <p:grpSpPr>
          <a:xfrm>
            <a:off x="539750" y="1582536"/>
            <a:ext cx="3787476" cy="4071461"/>
            <a:chOff x="0" y="0"/>
            <a:chExt cx="4352925" cy="5642880"/>
          </a:xfrm>
        </p:grpSpPr>
        <p:pic>
          <p:nvPicPr>
            <p:cNvPr id="9" name="Picture 8">
              <a:extLst>
                <a:ext uri="{FF2B5EF4-FFF2-40B4-BE49-F238E27FC236}">
                  <a16:creationId xmlns:a16="http://schemas.microsoft.com/office/drawing/2014/main" id="{8A80975F-0E60-4E0C-A4E6-6074B78702D2}"/>
                </a:ext>
              </a:extLst>
            </p:cNvPr>
            <p:cNvPicPr>
              <a:picLocks noChangeAspect="1"/>
            </p:cNvPicPr>
            <p:nvPr/>
          </p:nvPicPr>
          <p:blipFill>
            <a:blip r:embed="rId6"/>
            <a:stretch>
              <a:fillRect/>
            </a:stretch>
          </p:blipFill>
          <p:spPr>
            <a:xfrm>
              <a:off x="0" y="1299480"/>
              <a:ext cx="4352925" cy="4343400"/>
            </a:xfrm>
            <a:prstGeom prst="rect">
              <a:avLst/>
            </a:prstGeom>
          </p:spPr>
        </p:pic>
        <p:pic>
          <p:nvPicPr>
            <p:cNvPr id="10" name="Picture 9">
              <a:extLst>
                <a:ext uri="{FF2B5EF4-FFF2-40B4-BE49-F238E27FC236}">
                  <a16:creationId xmlns:a16="http://schemas.microsoft.com/office/drawing/2014/main" id="{981165BB-23EA-4B08-BE5B-F64968870E93}"/>
                </a:ext>
              </a:extLst>
            </p:cNvPr>
            <p:cNvPicPr>
              <a:picLocks noChangeAspect="1"/>
            </p:cNvPicPr>
            <p:nvPr/>
          </p:nvPicPr>
          <p:blipFill>
            <a:blip r:embed="rId7"/>
            <a:stretch>
              <a:fillRect/>
            </a:stretch>
          </p:blipFill>
          <p:spPr>
            <a:xfrm>
              <a:off x="0" y="0"/>
              <a:ext cx="4333875" cy="1095375"/>
            </a:xfrm>
            <a:prstGeom prst="rect">
              <a:avLst/>
            </a:prstGeom>
          </p:spPr>
        </p:pic>
      </p:grpSp>
    </p:spTree>
    <p:extLst>
      <p:ext uri="{BB962C8B-B14F-4D97-AF65-F5344CB8AC3E}">
        <p14:creationId xmlns:p14="http://schemas.microsoft.com/office/powerpoint/2010/main" val="1106147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1746C21E-64F1-4388-BEC9-783640FEDC1C}"/>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FD65435-ECB1-46EA-996C-B1466FF2AD61}" type="slidenum">
              <a:rPr lang="en-GB" altLang="en-US" sz="1400" smtClean="0"/>
              <a:pPr>
                <a:spcBef>
                  <a:spcPct val="0"/>
                </a:spcBef>
                <a:buFontTx/>
                <a:buNone/>
              </a:pPr>
              <a:t>18</a:t>
            </a:fld>
            <a:endParaRPr lang="en-GB" altLang="en-US" sz="1400"/>
          </a:p>
        </p:txBody>
      </p:sp>
      <p:sp>
        <p:nvSpPr>
          <p:cNvPr id="22531" name="Rectangle 2">
            <a:extLst>
              <a:ext uri="{FF2B5EF4-FFF2-40B4-BE49-F238E27FC236}">
                <a16:creationId xmlns:a16="http://schemas.microsoft.com/office/drawing/2014/main" id="{650ED8EF-869D-4963-8B57-BE13E8CF2E02}"/>
              </a:ext>
            </a:extLst>
          </p:cNvPr>
          <p:cNvSpPr>
            <a:spLocks noGrp="1" noChangeArrowheads="1"/>
          </p:cNvSpPr>
          <p:nvPr>
            <p:ph type="title"/>
          </p:nvPr>
        </p:nvSpPr>
        <p:spPr>
          <a:xfrm>
            <a:off x="457200" y="260350"/>
            <a:ext cx="8229600" cy="1143000"/>
          </a:xfrm>
        </p:spPr>
        <p:txBody>
          <a:bodyPr/>
          <a:lstStyle/>
          <a:p>
            <a:pPr algn="l" eaLnBrk="1" hangingPunct="1"/>
            <a:r>
              <a:rPr lang="en-US" altLang="en-US" sz="2400" b="1"/>
              <a:t>Pattern Recognition</a:t>
            </a:r>
            <a:br>
              <a:rPr lang="en-US" altLang="en-US" sz="2400" b="1"/>
            </a:br>
            <a:endParaRPr lang="en-US" altLang="en-US" sz="2000"/>
          </a:p>
        </p:txBody>
      </p:sp>
      <p:sp>
        <p:nvSpPr>
          <p:cNvPr id="6148" name="Rectangle 3">
            <a:extLst>
              <a:ext uri="{FF2B5EF4-FFF2-40B4-BE49-F238E27FC236}">
                <a16:creationId xmlns:a16="http://schemas.microsoft.com/office/drawing/2014/main" id="{DC0E14B9-FFF3-4475-85DC-F27E9D1EDEF7}"/>
              </a:ext>
            </a:extLst>
          </p:cNvPr>
          <p:cNvSpPr>
            <a:spLocks noGrp="1" noChangeArrowheads="1"/>
          </p:cNvSpPr>
          <p:nvPr>
            <p:ph type="body" idx="1"/>
          </p:nvPr>
        </p:nvSpPr>
        <p:spPr>
          <a:xfrm>
            <a:off x="457200" y="1600200"/>
            <a:ext cx="4691063" cy="4525963"/>
          </a:xfrm>
        </p:spPr>
        <p:txBody>
          <a:bodyPr/>
          <a:lstStyle/>
          <a:p>
            <a:pPr marL="0" indent="0" eaLnBrk="1" hangingPunct="1">
              <a:buFontTx/>
              <a:buNone/>
              <a:defRPr/>
            </a:pPr>
            <a:r>
              <a:rPr lang="en-US" altLang="en-US" sz="2000" dirty="0"/>
              <a:t>Process that matches information from a stimulus with information retrieved from memory </a:t>
            </a:r>
          </a:p>
          <a:p>
            <a:pPr eaLnBrk="1" hangingPunct="1">
              <a:buFontTx/>
              <a:buNone/>
              <a:defRPr/>
            </a:pPr>
            <a:endParaRPr lang="pt-PT" altLang="en-US" sz="2000" dirty="0"/>
          </a:p>
          <a:p>
            <a:pPr eaLnBrk="1" hangingPunct="1">
              <a:buFontTx/>
              <a:buNone/>
              <a:defRPr/>
            </a:pPr>
            <a:r>
              <a:rPr lang="pt-PT" altLang="en-US" sz="2000" dirty="0"/>
              <a:t>- </a:t>
            </a:r>
            <a:r>
              <a:rPr lang="en-US" altLang="en-US" sz="2000" dirty="0"/>
              <a:t>It is a very powerful process</a:t>
            </a:r>
          </a:p>
          <a:p>
            <a:pPr eaLnBrk="1" hangingPunct="1">
              <a:buFontTx/>
              <a:buNone/>
              <a:defRPr/>
            </a:pPr>
            <a:endParaRPr lang="en-US" altLang="en-US" sz="2000" dirty="0"/>
          </a:p>
          <a:p>
            <a:pPr eaLnBrk="1" hangingPunct="1">
              <a:buFontTx/>
              <a:buNone/>
              <a:defRPr/>
            </a:pPr>
            <a:r>
              <a:rPr lang="en-US" altLang="en-US" sz="2000" dirty="0"/>
              <a:t>- It is subconscious</a:t>
            </a:r>
          </a:p>
          <a:p>
            <a:pPr eaLnBrk="1" hangingPunct="1">
              <a:buFontTx/>
              <a:buNone/>
              <a:defRPr/>
            </a:pPr>
            <a:endParaRPr lang="en-US" altLang="en-US" sz="2000" dirty="0"/>
          </a:p>
          <a:p>
            <a:pPr eaLnBrk="1" hangingPunct="1">
              <a:buFontTx/>
              <a:buNone/>
              <a:defRPr/>
            </a:pPr>
            <a:r>
              <a:rPr lang="en-US" altLang="en-US" sz="2000" dirty="0"/>
              <a:t>- It does not use only current data</a:t>
            </a:r>
          </a:p>
          <a:p>
            <a:pPr eaLnBrk="1" hangingPunct="1">
              <a:buFontTx/>
              <a:buNone/>
              <a:defRPr/>
            </a:pPr>
            <a:endParaRPr lang="en-US" altLang="en-US" sz="2000" dirty="0"/>
          </a:p>
          <a:p>
            <a:pPr eaLnBrk="1" hangingPunct="1">
              <a:buFontTx/>
              <a:buNone/>
              <a:defRPr/>
            </a:pPr>
            <a:r>
              <a:rPr lang="en-US" altLang="en-US" sz="2000" dirty="0"/>
              <a:t>- It solves ambiguities </a:t>
            </a:r>
          </a:p>
          <a:p>
            <a:pPr eaLnBrk="1" hangingPunct="1">
              <a:buFontTx/>
              <a:buNone/>
              <a:defRPr/>
            </a:pPr>
            <a:endParaRPr lang="pt-PT" altLang="en-US" sz="2000" dirty="0"/>
          </a:p>
          <a:p>
            <a:pPr eaLnBrk="1" hangingPunct="1">
              <a:buFontTx/>
              <a:buNone/>
              <a:defRPr/>
            </a:pPr>
            <a:r>
              <a:rPr lang="pt-PT" altLang="en-US" sz="2000" dirty="0"/>
              <a:t>- </a:t>
            </a:r>
            <a:r>
              <a:rPr lang="en-US" altLang="en-US" sz="2000" dirty="0"/>
              <a:t>Occurs also in other senses</a:t>
            </a:r>
          </a:p>
          <a:p>
            <a:pPr eaLnBrk="1" hangingPunct="1">
              <a:buFontTx/>
              <a:buNone/>
              <a:defRPr/>
            </a:pPr>
            <a:endParaRPr lang="en-US" altLang="en-US" sz="2000" dirty="0"/>
          </a:p>
          <a:p>
            <a:pPr eaLnBrk="1" hangingPunct="1">
              <a:buFontTx/>
              <a:buNone/>
              <a:defRPr/>
            </a:pPr>
            <a:endParaRPr lang="en-US" altLang="en-US" sz="2000" dirty="0"/>
          </a:p>
          <a:p>
            <a:pPr eaLnBrk="1" hangingPunct="1">
              <a:buFontTx/>
              <a:buNone/>
              <a:defRPr/>
            </a:pPr>
            <a:endParaRPr lang="pt-PT" altLang="en-US" sz="1800" dirty="0"/>
          </a:p>
          <a:p>
            <a:pPr eaLnBrk="1" hangingPunct="1">
              <a:buFontTx/>
              <a:buNone/>
              <a:defRPr/>
            </a:pPr>
            <a:endParaRPr lang="pt-PT" altLang="en-US" sz="1800" dirty="0"/>
          </a:p>
          <a:p>
            <a:pPr eaLnBrk="1" hangingPunct="1">
              <a:defRPr/>
            </a:pPr>
            <a:endParaRPr lang="pt-PT" altLang="en-US" sz="1800" dirty="0"/>
          </a:p>
        </p:txBody>
      </p:sp>
      <p:pic>
        <p:nvPicPr>
          <p:cNvPr id="22533" name="Picture 4">
            <a:extLst>
              <a:ext uri="{FF2B5EF4-FFF2-40B4-BE49-F238E27FC236}">
                <a16:creationId xmlns:a16="http://schemas.microsoft.com/office/drawing/2014/main" id="{843E9DF5-C2B7-4BE4-8FF8-F38E2906B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8650" y="908050"/>
            <a:ext cx="2446338"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7">
            <a:extLst>
              <a:ext uri="{FF2B5EF4-FFF2-40B4-BE49-F238E27FC236}">
                <a16:creationId xmlns:a16="http://schemas.microsoft.com/office/drawing/2014/main" id="{34F863BA-0798-4C26-82CF-7CCDCC76CC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3284538"/>
            <a:ext cx="2416175" cy="24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TextBox 1">
            <a:extLst>
              <a:ext uri="{FF2B5EF4-FFF2-40B4-BE49-F238E27FC236}">
                <a16:creationId xmlns:a16="http://schemas.microsoft.com/office/drawing/2014/main" id="{8F91E698-D9EF-4BC7-BDD3-A0C7A51C0A49}"/>
              </a:ext>
            </a:extLst>
          </p:cNvPr>
          <p:cNvSpPr txBox="1">
            <a:spLocks noChangeArrowheads="1"/>
          </p:cNvSpPr>
          <p:nvPr/>
        </p:nvSpPr>
        <p:spPr bwMode="auto">
          <a:xfrm>
            <a:off x="5737225" y="5924550"/>
            <a:ext cx="26987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600" b="0"/>
              <a:t>(Kaniza illusion, Wikepedia)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5401" name="Picture 9">
            <a:extLst>
              <a:ext uri="{FF2B5EF4-FFF2-40B4-BE49-F238E27FC236}">
                <a16:creationId xmlns:a16="http://schemas.microsoft.com/office/drawing/2014/main" id="{87778644-BE07-448B-80AE-9161EB296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1665288"/>
            <a:ext cx="21336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5">
            <a:extLst>
              <a:ext uri="{FF2B5EF4-FFF2-40B4-BE49-F238E27FC236}">
                <a16:creationId xmlns:a16="http://schemas.microsoft.com/office/drawing/2014/main" id="{FC1854DD-14FE-409F-861D-24648F85F2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63" y="4038600"/>
            <a:ext cx="1728787"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Slide Number Placeholder 5">
            <a:extLst>
              <a:ext uri="{FF2B5EF4-FFF2-40B4-BE49-F238E27FC236}">
                <a16:creationId xmlns:a16="http://schemas.microsoft.com/office/drawing/2014/main" id="{0103DBD1-7693-4AF6-B267-F3348B1FECC4}"/>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DBE4C80-23AE-4239-888C-DE3063BF256A}" type="slidenum">
              <a:rPr lang="en-GB" altLang="en-US" sz="1400" smtClean="0"/>
              <a:pPr>
                <a:spcBef>
                  <a:spcPct val="0"/>
                </a:spcBef>
                <a:buFontTx/>
                <a:buNone/>
              </a:pPr>
              <a:t>19</a:t>
            </a:fld>
            <a:endParaRPr lang="en-GB" altLang="en-US" sz="1400"/>
          </a:p>
        </p:txBody>
      </p:sp>
      <p:pic>
        <p:nvPicPr>
          <p:cNvPr id="24581" name="Picture 13">
            <a:extLst>
              <a:ext uri="{FF2B5EF4-FFF2-40B4-BE49-F238E27FC236}">
                <a16:creationId xmlns:a16="http://schemas.microsoft.com/office/drawing/2014/main" id="{AC2403B2-7B61-45FE-92D0-F32CDD2F35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600" y="1665288"/>
            <a:ext cx="216217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Rectangle 2">
            <a:extLst>
              <a:ext uri="{FF2B5EF4-FFF2-40B4-BE49-F238E27FC236}">
                <a16:creationId xmlns:a16="http://schemas.microsoft.com/office/drawing/2014/main" id="{46D6F7B7-2AF6-4E7F-A040-DA2C1483E443}"/>
              </a:ext>
            </a:extLst>
          </p:cNvPr>
          <p:cNvSpPr>
            <a:spLocks noGrp="1" noChangeArrowheads="1"/>
          </p:cNvSpPr>
          <p:nvPr>
            <p:ph type="title"/>
          </p:nvPr>
        </p:nvSpPr>
        <p:spPr>
          <a:xfrm>
            <a:off x="395288" y="260350"/>
            <a:ext cx="8464550" cy="1143000"/>
          </a:xfrm>
        </p:spPr>
        <p:txBody>
          <a:bodyPr/>
          <a:lstStyle/>
          <a:p>
            <a:pPr algn="l" eaLnBrk="1" hangingPunct="1"/>
            <a:r>
              <a:rPr lang="en-US" altLang="en-US" sz="2000"/>
              <a:t>Visual Illusions illustrate that </a:t>
            </a:r>
            <a:r>
              <a:rPr lang="en-US" altLang="en-US" sz="2000" b="1"/>
              <a:t>what we see does not depend only of the stimulus</a:t>
            </a:r>
            <a:br>
              <a:rPr lang="pt-PT" altLang="en-US" sz="2000" b="1"/>
            </a:br>
            <a:endParaRPr lang="en-US" altLang="en-US" sz="1600" b="1"/>
          </a:p>
        </p:txBody>
      </p:sp>
      <p:pic>
        <p:nvPicPr>
          <p:cNvPr id="24583" name="Picture 3">
            <a:extLst>
              <a:ext uri="{FF2B5EF4-FFF2-40B4-BE49-F238E27FC236}">
                <a16:creationId xmlns:a16="http://schemas.microsoft.com/office/drawing/2014/main" id="{67F678C2-2D41-441A-B1C1-D98F910252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2938" y="4090988"/>
            <a:ext cx="1481137"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Rectangle 4">
            <a:extLst>
              <a:ext uri="{FF2B5EF4-FFF2-40B4-BE49-F238E27FC236}">
                <a16:creationId xmlns:a16="http://schemas.microsoft.com/office/drawing/2014/main" id="{26F84F55-AACA-4644-8BBB-20DCDBA57FEA}"/>
              </a:ext>
            </a:extLst>
          </p:cNvPr>
          <p:cNvSpPr>
            <a:spLocks noChangeArrowheads="1"/>
          </p:cNvSpPr>
          <p:nvPr/>
        </p:nvSpPr>
        <p:spPr bwMode="auto">
          <a:xfrm>
            <a:off x="4140200" y="5700713"/>
            <a:ext cx="175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Kanizsa illusion</a:t>
            </a:r>
          </a:p>
        </p:txBody>
      </p:sp>
      <p:pic>
        <p:nvPicPr>
          <p:cNvPr id="24585" name="Picture 6">
            <a:extLst>
              <a:ext uri="{FF2B5EF4-FFF2-40B4-BE49-F238E27FC236}">
                <a16:creationId xmlns:a16="http://schemas.microsoft.com/office/drawing/2014/main" id="{9A141CE4-8D80-47B3-A318-C504219DBC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0175" y="4243388"/>
            <a:ext cx="2249488"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6" name="Text Box 8">
            <a:extLst>
              <a:ext uri="{FF2B5EF4-FFF2-40B4-BE49-F238E27FC236}">
                <a16:creationId xmlns:a16="http://schemas.microsoft.com/office/drawing/2014/main" id="{2E413CCD-48E9-439C-A52A-CDD03FD3F9F4}"/>
              </a:ext>
            </a:extLst>
          </p:cNvPr>
          <p:cNvSpPr txBox="1">
            <a:spLocks noChangeArrowheads="1"/>
          </p:cNvSpPr>
          <p:nvPr/>
        </p:nvSpPr>
        <p:spPr bwMode="auto">
          <a:xfrm>
            <a:off x="6784975" y="6400800"/>
            <a:ext cx="1466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Necker cube</a:t>
            </a:r>
            <a:endParaRPr lang="en-US" altLang="en-US" sz="1800" b="0"/>
          </a:p>
        </p:txBody>
      </p:sp>
      <p:pic>
        <p:nvPicPr>
          <p:cNvPr id="24587" name="Picture 10">
            <a:extLst>
              <a:ext uri="{FF2B5EF4-FFF2-40B4-BE49-F238E27FC236}">
                <a16:creationId xmlns:a16="http://schemas.microsoft.com/office/drawing/2014/main" id="{66186EE7-B779-47EA-8643-5A772F27C9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3600" y="4076700"/>
            <a:ext cx="22002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8" name="Text Box 12">
            <a:extLst>
              <a:ext uri="{FF2B5EF4-FFF2-40B4-BE49-F238E27FC236}">
                <a16:creationId xmlns:a16="http://schemas.microsoft.com/office/drawing/2014/main" id="{5998ECB1-6828-400C-AEC7-6B1E5C47112B}"/>
              </a:ext>
            </a:extLst>
          </p:cNvPr>
          <p:cNvSpPr txBox="1">
            <a:spLocks noChangeArrowheads="1"/>
          </p:cNvSpPr>
          <p:nvPr/>
        </p:nvSpPr>
        <p:spPr bwMode="auto">
          <a:xfrm>
            <a:off x="1266825" y="6172200"/>
            <a:ext cx="2076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Pennrose triangle:</a:t>
            </a:r>
          </a:p>
          <a:p>
            <a:pPr eaLnBrk="1" hangingPunct="1">
              <a:spcBef>
                <a:spcPct val="0"/>
              </a:spcBef>
              <a:buFontTx/>
              <a:buNone/>
            </a:pPr>
            <a:r>
              <a:rPr lang="en-US" altLang="en-US" sz="1800" b="0"/>
              <a:t>Impossible object</a:t>
            </a:r>
            <a:r>
              <a:rPr lang="pt-PT" altLang="en-US" sz="1800" b="0"/>
              <a:t>?</a:t>
            </a:r>
            <a:endParaRPr lang="en-US" altLang="en-US" sz="1800" b="0"/>
          </a:p>
        </p:txBody>
      </p:sp>
      <p:sp>
        <p:nvSpPr>
          <p:cNvPr id="24589" name="Text Box 15">
            <a:extLst>
              <a:ext uri="{FF2B5EF4-FFF2-40B4-BE49-F238E27FC236}">
                <a16:creationId xmlns:a16="http://schemas.microsoft.com/office/drawing/2014/main" id="{1DD9E62D-C55D-4640-94E3-D6F893E28DF3}"/>
              </a:ext>
            </a:extLst>
          </p:cNvPr>
          <p:cNvSpPr txBox="1">
            <a:spLocks noChangeArrowheads="1"/>
          </p:cNvSpPr>
          <p:nvPr/>
        </p:nvSpPr>
        <p:spPr bwMode="auto">
          <a:xfrm>
            <a:off x="1166813" y="3455988"/>
            <a:ext cx="159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Ponzo illusion</a:t>
            </a:r>
          </a:p>
        </p:txBody>
      </p:sp>
      <p:sp>
        <p:nvSpPr>
          <p:cNvPr id="24590" name="TextBox 1">
            <a:extLst>
              <a:ext uri="{FF2B5EF4-FFF2-40B4-BE49-F238E27FC236}">
                <a16:creationId xmlns:a16="http://schemas.microsoft.com/office/drawing/2014/main" id="{95EAF882-2845-4C52-A852-384783F1F422}"/>
              </a:ext>
            </a:extLst>
          </p:cNvPr>
          <p:cNvSpPr txBox="1">
            <a:spLocks noChangeArrowheads="1"/>
          </p:cNvSpPr>
          <p:nvPr/>
        </p:nvSpPr>
        <p:spPr bwMode="auto">
          <a:xfrm>
            <a:off x="3779838" y="1150938"/>
            <a:ext cx="525621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Char char="-"/>
            </a:pPr>
            <a:r>
              <a:rPr lang="en-US" altLang="en-US" sz="2000" b="0"/>
              <a:t>bring out good adaptations of our visual system to standard viewing situations</a:t>
            </a:r>
          </a:p>
          <a:p>
            <a:pPr eaLnBrk="1" hangingPunct="1">
              <a:spcBef>
                <a:spcPct val="0"/>
              </a:spcBef>
              <a:buFontTx/>
              <a:buChar char="-"/>
            </a:pPr>
            <a:endParaRPr lang="en-US" altLang="en-US" sz="2000" b="0"/>
          </a:p>
          <a:p>
            <a:pPr eaLnBrk="1" hangingPunct="1">
              <a:spcBef>
                <a:spcPct val="0"/>
              </a:spcBef>
              <a:buFontTx/>
              <a:buChar char="-"/>
            </a:pPr>
            <a:r>
              <a:rPr lang="en-US" altLang="en-US" sz="2000" b="0"/>
              <a:t>under artificial manipulations can cause inappropriate interpretations of the scene</a:t>
            </a:r>
            <a:endParaRPr lang="pt-PT" altLang="en-US" sz="2000" b="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403" name="Picture 11">
            <a:extLst>
              <a:ext uri="{FF2B5EF4-FFF2-40B4-BE49-F238E27FC236}">
                <a16:creationId xmlns:a16="http://schemas.microsoft.com/office/drawing/2014/main" id="{1ACA21C6-E497-4F41-89BE-01667A1951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0725" y="4848225"/>
            <a:ext cx="194310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5">
            <a:extLst>
              <a:ext uri="{FF2B5EF4-FFF2-40B4-BE49-F238E27FC236}">
                <a16:creationId xmlns:a16="http://schemas.microsoft.com/office/drawing/2014/main" id="{AF46B46D-36D3-4CEB-BA47-BED4F6C52B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2936875"/>
            <a:ext cx="1728788"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Slide Number Placeholder 5">
            <a:extLst>
              <a:ext uri="{FF2B5EF4-FFF2-40B4-BE49-F238E27FC236}">
                <a16:creationId xmlns:a16="http://schemas.microsoft.com/office/drawing/2014/main" id="{C9B063DD-EC29-4268-9663-579F5B93255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E0032D7-532B-49C7-94FB-6F54FD154E87}" type="slidenum">
              <a:rPr lang="en-GB" altLang="en-US" sz="1400" smtClean="0"/>
              <a:pPr>
                <a:spcBef>
                  <a:spcPct val="0"/>
                </a:spcBef>
                <a:buFontTx/>
                <a:buNone/>
              </a:pPr>
              <a:t>20</a:t>
            </a:fld>
            <a:endParaRPr lang="en-GB" altLang="en-US" sz="1400"/>
          </a:p>
        </p:txBody>
      </p:sp>
      <p:pic>
        <p:nvPicPr>
          <p:cNvPr id="26629" name="Picture 13">
            <a:extLst>
              <a:ext uri="{FF2B5EF4-FFF2-40B4-BE49-F238E27FC236}">
                <a16:creationId xmlns:a16="http://schemas.microsoft.com/office/drawing/2014/main" id="{93417A9B-02C7-4A19-8C29-15935075BD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327150"/>
            <a:ext cx="216217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Rectangle 2">
            <a:extLst>
              <a:ext uri="{FF2B5EF4-FFF2-40B4-BE49-F238E27FC236}">
                <a16:creationId xmlns:a16="http://schemas.microsoft.com/office/drawing/2014/main" id="{3029D273-8E35-41A9-BDDC-21D0E3C4ABF9}"/>
              </a:ext>
            </a:extLst>
          </p:cNvPr>
          <p:cNvSpPr>
            <a:spLocks noGrp="1" noChangeArrowheads="1"/>
          </p:cNvSpPr>
          <p:nvPr>
            <p:ph type="title"/>
          </p:nvPr>
        </p:nvSpPr>
        <p:spPr>
          <a:xfrm>
            <a:off x="395288" y="260350"/>
            <a:ext cx="8464550" cy="1143000"/>
          </a:xfrm>
        </p:spPr>
        <p:txBody>
          <a:bodyPr/>
          <a:lstStyle/>
          <a:p>
            <a:pPr algn="l" eaLnBrk="1" hangingPunct="1"/>
            <a:r>
              <a:rPr lang="en-US" altLang="en-US" sz="2000" dirty="0"/>
              <a:t>Visual Illusions illustrate that </a:t>
            </a:r>
            <a:r>
              <a:rPr lang="en-US" altLang="en-US" sz="2000" b="1" dirty="0"/>
              <a:t>what we see does not depend only of the stimulus</a:t>
            </a:r>
            <a:br>
              <a:rPr lang="pt-PT" altLang="en-US" sz="2000" b="1" dirty="0"/>
            </a:br>
            <a:endParaRPr lang="en-US" altLang="en-US" sz="1600" b="1" dirty="0"/>
          </a:p>
        </p:txBody>
      </p:sp>
      <p:pic>
        <p:nvPicPr>
          <p:cNvPr id="26631" name="Picture 3">
            <a:extLst>
              <a:ext uri="{FF2B5EF4-FFF2-40B4-BE49-F238E27FC236}">
                <a16:creationId xmlns:a16="http://schemas.microsoft.com/office/drawing/2014/main" id="{D6ACC2A7-9E46-40F7-B37E-A394541358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1250" y="3076575"/>
            <a:ext cx="1481138"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Rectangle 4">
            <a:extLst>
              <a:ext uri="{FF2B5EF4-FFF2-40B4-BE49-F238E27FC236}">
                <a16:creationId xmlns:a16="http://schemas.microsoft.com/office/drawing/2014/main" id="{3BFA8D39-8135-4370-80B2-C2954D9C4A71}"/>
              </a:ext>
            </a:extLst>
          </p:cNvPr>
          <p:cNvSpPr>
            <a:spLocks noChangeArrowheads="1"/>
          </p:cNvSpPr>
          <p:nvPr/>
        </p:nvSpPr>
        <p:spPr bwMode="auto">
          <a:xfrm>
            <a:off x="4643438" y="4292600"/>
            <a:ext cx="175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Kanizsa illusion</a:t>
            </a:r>
          </a:p>
        </p:txBody>
      </p:sp>
      <p:pic>
        <p:nvPicPr>
          <p:cNvPr id="26633" name="Picture 6">
            <a:extLst>
              <a:ext uri="{FF2B5EF4-FFF2-40B4-BE49-F238E27FC236}">
                <a16:creationId xmlns:a16="http://schemas.microsoft.com/office/drawing/2014/main" id="{9A3C97CF-EDE0-4093-8679-D35BF4C3EC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0175" y="4243388"/>
            <a:ext cx="2249488"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4" name="Text Box 8">
            <a:extLst>
              <a:ext uri="{FF2B5EF4-FFF2-40B4-BE49-F238E27FC236}">
                <a16:creationId xmlns:a16="http://schemas.microsoft.com/office/drawing/2014/main" id="{3D4F3A92-9F80-4A66-AA88-94BD76972533}"/>
              </a:ext>
            </a:extLst>
          </p:cNvPr>
          <p:cNvSpPr txBox="1">
            <a:spLocks noChangeArrowheads="1"/>
          </p:cNvSpPr>
          <p:nvPr/>
        </p:nvSpPr>
        <p:spPr bwMode="auto">
          <a:xfrm>
            <a:off x="6784975" y="6400800"/>
            <a:ext cx="1466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Necker cube</a:t>
            </a:r>
            <a:endParaRPr lang="en-US" altLang="en-US" sz="1800" b="0"/>
          </a:p>
        </p:txBody>
      </p:sp>
      <p:pic>
        <p:nvPicPr>
          <p:cNvPr id="315401" name="Picture 9">
            <a:extLst>
              <a:ext uri="{FF2B5EF4-FFF2-40B4-BE49-F238E27FC236}">
                <a16:creationId xmlns:a16="http://schemas.microsoft.com/office/drawing/2014/main" id="{47FA195C-A0A9-4FD0-8BCA-B5198DF9B45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1382713"/>
            <a:ext cx="21336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6" name="Picture 10">
            <a:extLst>
              <a:ext uri="{FF2B5EF4-FFF2-40B4-BE49-F238E27FC236}">
                <a16:creationId xmlns:a16="http://schemas.microsoft.com/office/drawing/2014/main" id="{3ADEC5CA-09CB-4545-8E13-CB42A43B7BC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3716338"/>
            <a:ext cx="22002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7" name="Text Box 12">
            <a:extLst>
              <a:ext uri="{FF2B5EF4-FFF2-40B4-BE49-F238E27FC236}">
                <a16:creationId xmlns:a16="http://schemas.microsoft.com/office/drawing/2014/main" id="{061ACA4D-4FE4-4094-9C04-CCE710AF8E41}"/>
              </a:ext>
            </a:extLst>
          </p:cNvPr>
          <p:cNvSpPr txBox="1">
            <a:spLocks noChangeArrowheads="1"/>
          </p:cNvSpPr>
          <p:nvPr/>
        </p:nvSpPr>
        <p:spPr bwMode="auto">
          <a:xfrm>
            <a:off x="971550" y="5949950"/>
            <a:ext cx="2076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Pennrose triangle:</a:t>
            </a:r>
          </a:p>
          <a:p>
            <a:pPr eaLnBrk="1" hangingPunct="1">
              <a:spcBef>
                <a:spcPct val="0"/>
              </a:spcBef>
              <a:buFontTx/>
              <a:buNone/>
            </a:pPr>
            <a:r>
              <a:rPr lang="pt-PT" altLang="en-US" sz="1800" b="0"/>
              <a:t>Impossible object?</a:t>
            </a:r>
            <a:endParaRPr lang="en-US" altLang="en-US" sz="1800" b="0"/>
          </a:p>
        </p:txBody>
      </p:sp>
      <p:sp>
        <p:nvSpPr>
          <p:cNvPr id="26638" name="Text Box 15">
            <a:extLst>
              <a:ext uri="{FF2B5EF4-FFF2-40B4-BE49-F238E27FC236}">
                <a16:creationId xmlns:a16="http://schemas.microsoft.com/office/drawing/2014/main" id="{877B949C-D4F8-4F02-AC64-596428FC4897}"/>
              </a:ext>
            </a:extLst>
          </p:cNvPr>
          <p:cNvSpPr txBox="1">
            <a:spLocks noChangeArrowheads="1"/>
          </p:cNvSpPr>
          <p:nvPr/>
        </p:nvSpPr>
        <p:spPr bwMode="auto">
          <a:xfrm>
            <a:off x="1166813" y="3089275"/>
            <a:ext cx="159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Ponzo illusion</a:t>
            </a:r>
            <a:endParaRPr lang="en-US" altLang="en-US" sz="1800" b="0"/>
          </a:p>
        </p:txBody>
      </p:sp>
      <p:sp>
        <p:nvSpPr>
          <p:cNvPr id="26639" name="TextBox 1">
            <a:extLst>
              <a:ext uri="{FF2B5EF4-FFF2-40B4-BE49-F238E27FC236}">
                <a16:creationId xmlns:a16="http://schemas.microsoft.com/office/drawing/2014/main" id="{A411C8C5-E270-4C99-A3F2-FE76FEF0A76C}"/>
              </a:ext>
            </a:extLst>
          </p:cNvPr>
          <p:cNvSpPr txBox="1">
            <a:spLocks noChangeArrowheads="1"/>
          </p:cNvSpPr>
          <p:nvPr/>
        </p:nvSpPr>
        <p:spPr bwMode="auto">
          <a:xfrm>
            <a:off x="3924300" y="950913"/>
            <a:ext cx="5040313"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Char char="-"/>
            </a:pPr>
            <a:r>
              <a:rPr lang="en-US" altLang="en-US" sz="2000" b="0" dirty="0"/>
              <a:t>bring out particular good adaptations of our visual system to standard viewing situations</a:t>
            </a:r>
          </a:p>
          <a:p>
            <a:pPr eaLnBrk="1" hangingPunct="1">
              <a:spcBef>
                <a:spcPct val="0"/>
              </a:spcBef>
              <a:buFontTx/>
              <a:buChar char="-"/>
            </a:pPr>
            <a:r>
              <a:rPr lang="en-US" altLang="en-US" sz="2000" b="0" dirty="0"/>
              <a:t>under some artificial manipulations can cause inappropriate interpretations of the visual scene</a:t>
            </a:r>
            <a:endParaRPr lang="pt-PT" altLang="en-US" sz="2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5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6EF00F05-B686-4F6D-A260-40731EE206C9}"/>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4EB4392-C959-4789-94F3-5A1864800503}" type="slidenum">
              <a:rPr lang="en-GB" altLang="en-US" sz="1400" smtClean="0"/>
              <a:pPr>
                <a:spcBef>
                  <a:spcPct val="0"/>
                </a:spcBef>
                <a:buFontTx/>
                <a:buNone/>
              </a:pPr>
              <a:t>21</a:t>
            </a:fld>
            <a:endParaRPr lang="en-GB" altLang="en-US" sz="1400"/>
          </a:p>
        </p:txBody>
      </p:sp>
      <p:pic>
        <p:nvPicPr>
          <p:cNvPr id="28675" name="Picture 3">
            <a:extLst>
              <a:ext uri="{FF2B5EF4-FFF2-40B4-BE49-F238E27FC236}">
                <a16:creationId xmlns:a16="http://schemas.microsoft.com/office/drawing/2014/main" id="{EE9F3909-3647-4AD5-8DBE-5B84F0CD1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911225"/>
            <a:ext cx="2320925" cy="237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4">
            <a:extLst>
              <a:ext uri="{FF2B5EF4-FFF2-40B4-BE49-F238E27FC236}">
                <a16:creationId xmlns:a16="http://schemas.microsoft.com/office/drawing/2014/main" id="{0CF6B5D4-631E-473D-893D-40F03DAA1FDD}"/>
              </a:ext>
            </a:extLst>
          </p:cNvPr>
          <p:cNvSpPr>
            <a:spLocks noChangeArrowheads="1"/>
          </p:cNvSpPr>
          <p:nvPr/>
        </p:nvSpPr>
        <p:spPr bwMode="auto">
          <a:xfrm>
            <a:off x="4356100" y="852488"/>
            <a:ext cx="18383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Kanizsa illusion:</a:t>
            </a:r>
          </a:p>
        </p:txBody>
      </p:sp>
      <p:pic>
        <p:nvPicPr>
          <p:cNvPr id="28677" name="Picture 6">
            <a:extLst>
              <a:ext uri="{FF2B5EF4-FFF2-40B4-BE49-F238E27FC236}">
                <a16:creationId xmlns:a16="http://schemas.microsoft.com/office/drawing/2014/main" id="{E115C57D-9FE1-4561-ADE5-F793B3E685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3632200"/>
            <a:ext cx="2690813"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Text Box 8">
            <a:extLst>
              <a:ext uri="{FF2B5EF4-FFF2-40B4-BE49-F238E27FC236}">
                <a16:creationId xmlns:a16="http://schemas.microsoft.com/office/drawing/2014/main" id="{810C7CE7-6875-491A-A83B-D9D922E2B13A}"/>
              </a:ext>
            </a:extLst>
          </p:cNvPr>
          <p:cNvSpPr txBox="1">
            <a:spLocks noChangeArrowheads="1"/>
          </p:cNvSpPr>
          <p:nvPr/>
        </p:nvSpPr>
        <p:spPr bwMode="auto">
          <a:xfrm>
            <a:off x="683568" y="3892550"/>
            <a:ext cx="15446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Necker cube:</a:t>
            </a:r>
            <a:endParaRPr lang="en-US" altLang="en-US" sz="1800" b="0"/>
          </a:p>
        </p:txBody>
      </p:sp>
      <p:sp>
        <p:nvSpPr>
          <p:cNvPr id="28679" name="Rectângulo 2">
            <a:extLst>
              <a:ext uri="{FF2B5EF4-FFF2-40B4-BE49-F238E27FC236}">
                <a16:creationId xmlns:a16="http://schemas.microsoft.com/office/drawing/2014/main" id="{4218953F-E3AC-457B-9EDB-8B5E7F213BC7}"/>
              </a:ext>
            </a:extLst>
          </p:cNvPr>
          <p:cNvSpPr>
            <a:spLocks noChangeArrowheads="1"/>
          </p:cNvSpPr>
          <p:nvPr/>
        </p:nvSpPr>
        <p:spPr bwMode="auto">
          <a:xfrm>
            <a:off x="4356100" y="1238250"/>
            <a:ext cx="47879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b="0"/>
              <a:t>Although there are no actual triangles a sort of pattern recognition phenomenon is triggered and the image is interpreted as two overlapping triangles (simple explanation)</a:t>
            </a:r>
            <a:endParaRPr lang="pt-PT" altLang="pt-PT" sz="1800"/>
          </a:p>
        </p:txBody>
      </p:sp>
      <p:sp>
        <p:nvSpPr>
          <p:cNvPr id="28680" name="Rectângulo 3">
            <a:extLst>
              <a:ext uri="{FF2B5EF4-FFF2-40B4-BE49-F238E27FC236}">
                <a16:creationId xmlns:a16="http://schemas.microsoft.com/office/drawing/2014/main" id="{89EFCF2B-0B33-4E21-B4DA-348412796F91}"/>
              </a:ext>
            </a:extLst>
          </p:cNvPr>
          <p:cNvSpPr>
            <a:spLocks noChangeArrowheads="1"/>
          </p:cNvSpPr>
          <p:nvPr/>
        </p:nvSpPr>
        <p:spPr bwMode="auto">
          <a:xfrm>
            <a:off x="611188" y="5186363"/>
            <a:ext cx="4572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dirty="0">
                <a:hlinkClick r:id="rId5"/>
              </a:rPr>
              <a:t>https://en.wikipedia.org/wiki/Necker_cube</a:t>
            </a:r>
            <a:endParaRPr lang="pt-PT" altLang="pt-PT" sz="1600" b="0" dirty="0"/>
          </a:p>
          <a:p>
            <a:pPr eaLnBrk="1" hangingPunct="1">
              <a:spcBef>
                <a:spcPct val="0"/>
              </a:spcBef>
              <a:buFontTx/>
              <a:buNone/>
            </a:pPr>
            <a:endParaRPr lang="pt-PT" altLang="pt-PT" sz="1600" b="0" dirty="0"/>
          </a:p>
        </p:txBody>
      </p:sp>
      <p:sp>
        <p:nvSpPr>
          <p:cNvPr id="28681" name="Rectângulo 4">
            <a:extLst>
              <a:ext uri="{FF2B5EF4-FFF2-40B4-BE49-F238E27FC236}">
                <a16:creationId xmlns:a16="http://schemas.microsoft.com/office/drawing/2014/main" id="{AD9AD1EF-9CA3-4AB9-8B00-C7443FC28250}"/>
              </a:ext>
            </a:extLst>
          </p:cNvPr>
          <p:cNvSpPr>
            <a:spLocks noChangeArrowheads="1"/>
          </p:cNvSpPr>
          <p:nvPr/>
        </p:nvSpPr>
        <p:spPr bwMode="auto">
          <a:xfrm>
            <a:off x="611188" y="4262438"/>
            <a:ext cx="48244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b="0" dirty="0"/>
              <a:t>Cube with no visual cues as to its orientation; it can be interpreted to have either the lower-left or the upper-right square as its front side</a:t>
            </a:r>
            <a:endParaRPr lang="pt-PT" altLang="pt-PT" sz="1800" dirty="0"/>
          </a:p>
        </p:txBody>
      </p:sp>
      <p:sp>
        <p:nvSpPr>
          <p:cNvPr id="28682" name="Rectângulo 5">
            <a:extLst>
              <a:ext uri="{FF2B5EF4-FFF2-40B4-BE49-F238E27FC236}">
                <a16:creationId xmlns:a16="http://schemas.microsoft.com/office/drawing/2014/main" id="{1691DC9C-A890-4AE7-AA90-C927062C6221}"/>
              </a:ext>
            </a:extLst>
          </p:cNvPr>
          <p:cNvSpPr>
            <a:spLocks noChangeArrowheads="1"/>
          </p:cNvSpPr>
          <p:nvPr/>
        </p:nvSpPr>
        <p:spPr bwMode="auto">
          <a:xfrm>
            <a:off x="4364038" y="2438400"/>
            <a:ext cx="4572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a:hlinkClick r:id="rId6"/>
              </a:rPr>
              <a:t>https://en.wikipedia.org/wiki/Illusory_contours</a:t>
            </a:r>
            <a:endParaRPr lang="pt-PT" altLang="pt-PT" sz="1600" b="0"/>
          </a:p>
          <a:p>
            <a:pPr eaLnBrk="1" hangingPunct="1">
              <a:spcBef>
                <a:spcPct val="0"/>
              </a:spcBef>
              <a:buFontTx/>
              <a:buNone/>
            </a:pPr>
            <a:endParaRPr lang="pt-PT" altLang="pt-PT" sz="1800"/>
          </a:p>
        </p:txBody>
      </p:sp>
      <p:sp>
        <p:nvSpPr>
          <p:cNvPr id="2" name="Rectangle 1">
            <a:extLst>
              <a:ext uri="{FF2B5EF4-FFF2-40B4-BE49-F238E27FC236}">
                <a16:creationId xmlns:a16="http://schemas.microsoft.com/office/drawing/2014/main" id="{035C5A9E-0BEA-470F-90F2-F960B035D7CE}"/>
              </a:ext>
            </a:extLst>
          </p:cNvPr>
          <p:cNvSpPr/>
          <p:nvPr/>
        </p:nvSpPr>
        <p:spPr>
          <a:xfrm>
            <a:off x="576064" y="6001434"/>
            <a:ext cx="4572000" cy="338554"/>
          </a:xfrm>
          <a:prstGeom prst="rect">
            <a:avLst/>
          </a:prstGeom>
        </p:spPr>
        <p:txBody>
          <a:bodyPr>
            <a:spAutoFit/>
          </a:bodyPr>
          <a:lstStyle/>
          <a:p>
            <a:pPr eaLnBrk="1" hangingPunct="1"/>
            <a:r>
              <a:rPr lang="en-US" altLang="en-US" sz="1600" b="0" dirty="0">
                <a:hlinkClick r:id="rId7"/>
              </a:rPr>
              <a:t>https://www.youtube.com/shorts/IP-okkvbvwg</a:t>
            </a:r>
          </a:p>
        </p:txBody>
      </p:sp>
      <p:sp>
        <p:nvSpPr>
          <p:cNvPr id="12" name="Text Box 8">
            <a:extLst>
              <a:ext uri="{FF2B5EF4-FFF2-40B4-BE49-F238E27FC236}">
                <a16:creationId xmlns:a16="http://schemas.microsoft.com/office/drawing/2014/main" id="{7D01DAFF-FC53-463E-B9E3-D6E020A3804A}"/>
              </a:ext>
            </a:extLst>
          </p:cNvPr>
          <p:cNvSpPr txBox="1">
            <a:spLocks noChangeArrowheads="1"/>
          </p:cNvSpPr>
          <p:nvPr/>
        </p:nvSpPr>
        <p:spPr bwMode="auto">
          <a:xfrm>
            <a:off x="579091" y="5653136"/>
            <a:ext cx="24118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t>Other Visual Illusions: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Marcador de Posição do Número do Diapositivo 3">
            <a:extLst>
              <a:ext uri="{FF2B5EF4-FFF2-40B4-BE49-F238E27FC236}">
                <a16:creationId xmlns:a16="http://schemas.microsoft.com/office/drawing/2014/main" id="{D8926F0E-F6B9-434D-AB7E-F72BF01BB96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5C647C4-D7A6-4EB0-A72D-D583B3BC8717}" type="slidenum">
              <a:rPr lang="en-GB" altLang="en-US" sz="1400" smtClean="0"/>
              <a:pPr>
                <a:spcBef>
                  <a:spcPct val="0"/>
                </a:spcBef>
                <a:buFontTx/>
                <a:buNone/>
              </a:pPr>
              <a:t>22</a:t>
            </a:fld>
            <a:endParaRPr lang="en-GB" altLang="en-US" sz="1400"/>
          </a:p>
        </p:txBody>
      </p:sp>
      <p:pic>
        <p:nvPicPr>
          <p:cNvPr id="32771" name="Picture 4">
            <a:extLst>
              <a:ext uri="{FF2B5EF4-FFF2-40B4-BE49-F238E27FC236}">
                <a16:creationId xmlns:a16="http://schemas.microsoft.com/office/drawing/2014/main" id="{38017A19-FFF9-4DAB-AD96-22D7689CA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148" t="24506" r="15482" b="21545"/>
          <a:stretch>
            <a:fillRect/>
          </a:stretch>
        </p:blipFill>
        <p:spPr bwMode="auto">
          <a:xfrm>
            <a:off x="0" y="2203450"/>
            <a:ext cx="9144000" cy="3941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6">
            <a:extLst>
              <a:ext uri="{FF2B5EF4-FFF2-40B4-BE49-F238E27FC236}">
                <a16:creationId xmlns:a16="http://schemas.microsoft.com/office/drawing/2014/main" id="{F54DE8DB-1BD1-4681-8EC6-FFDC4E85547B}"/>
              </a:ext>
            </a:extLst>
          </p:cNvPr>
          <p:cNvSpPr txBox="1">
            <a:spLocks noChangeArrowheads="1"/>
          </p:cNvSpPr>
          <p:nvPr/>
        </p:nvSpPr>
        <p:spPr bwMode="auto">
          <a:xfrm>
            <a:off x="468313" y="404813"/>
            <a:ext cx="79200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buFontTx/>
              <a:buNone/>
              <a:defRPr/>
            </a:pPr>
            <a:r>
              <a:rPr lang="pt-PT" altLang="en-US" sz="1800" b="0" kern="0" dirty="0"/>
              <a:t>Ames </a:t>
            </a:r>
            <a:r>
              <a:rPr lang="en-US" altLang="en-US" sz="1800" b="0" kern="0" dirty="0"/>
              <a:t>Room</a:t>
            </a:r>
          </a:p>
          <a:p>
            <a:pPr eaLnBrk="1" hangingPunct="1">
              <a:buFontTx/>
              <a:buNone/>
              <a:defRPr/>
            </a:pPr>
            <a:r>
              <a:rPr lang="en-US" altLang="en-US" sz="1800" b="0" kern="0" dirty="0"/>
              <a:t>(what we see does not depend only of the stimulus)</a:t>
            </a:r>
            <a:br>
              <a:rPr lang="en-US" altLang="en-US" sz="1800" b="0" kern="0" dirty="0"/>
            </a:br>
            <a:endParaRPr lang="en-US" altLang="en-US" sz="1800" b="0" kern="0" dirty="0"/>
          </a:p>
        </p:txBody>
      </p:sp>
      <p:sp>
        <p:nvSpPr>
          <p:cNvPr id="32773" name="Rectângulo 2">
            <a:extLst>
              <a:ext uri="{FF2B5EF4-FFF2-40B4-BE49-F238E27FC236}">
                <a16:creationId xmlns:a16="http://schemas.microsoft.com/office/drawing/2014/main" id="{ED3F92C5-694F-441D-8060-0C925D4CFFF6}"/>
              </a:ext>
            </a:extLst>
          </p:cNvPr>
          <p:cNvSpPr>
            <a:spLocks noChangeArrowheads="1"/>
          </p:cNvSpPr>
          <p:nvPr/>
        </p:nvSpPr>
        <p:spPr bwMode="auto">
          <a:xfrm>
            <a:off x="3175" y="6138863"/>
            <a:ext cx="56229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dirty="0">
                <a:hlinkClick r:id="rId3"/>
              </a:rPr>
              <a:t>https://www.youtube.com/watch?v=gJhyu6nlGt8</a:t>
            </a:r>
            <a:endParaRPr lang="en-US" altLang="en-US" sz="1600" b="0" dirty="0"/>
          </a:p>
        </p:txBody>
      </p:sp>
      <p:sp>
        <p:nvSpPr>
          <p:cNvPr id="32774" name="Rectângulo 5">
            <a:extLst>
              <a:ext uri="{FF2B5EF4-FFF2-40B4-BE49-F238E27FC236}">
                <a16:creationId xmlns:a16="http://schemas.microsoft.com/office/drawing/2014/main" id="{50F3FBDF-9735-413E-AB76-EED6A0FA4985}"/>
              </a:ext>
            </a:extLst>
          </p:cNvPr>
          <p:cNvSpPr>
            <a:spLocks noChangeArrowheads="1"/>
          </p:cNvSpPr>
          <p:nvPr/>
        </p:nvSpPr>
        <p:spPr bwMode="auto">
          <a:xfrm>
            <a:off x="465138" y="1438275"/>
            <a:ext cx="6911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A room that pushes the boundaries of human perception...</a:t>
            </a:r>
            <a:endParaRPr lang="en-US" altLang="en-US" sz="1800"/>
          </a:p>
        </p:txBody>
      </p:sp>
      <p:sp>
        <p:nvSpPr>
          <p:cNvPr id="32775" name="Text Box 5">
            <a:extLst>
              <a:ext uri="{FF2B5EF4-FFF2-40B4-BE49-F238E27FC236}">
                <a16:creationId xmlns:a16="http://schemas.microsoft.com/office/drawing/2014/main" id="{436170DB-6167-4D90-9023-1C51D1AAD9BE}"/>
              </a:ext>
            </a:extLst>
          </p:cNvPr>
          <p:cNvSpPr txBox="1">
            <a:spLocks noChangeArrowheads="1"/>
          </p:cNvSpPr>
          <p:nvPr/>
        </p:nvSpPr>
        <p:spPr bwMode="auto">
          <a:xfrm>
            <a:off x="7092950" y="1917700"/>
            <a:ext cx="12017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b="0">
                <a:solidFill>
                  <a:schemeClr val="bg2"/>
                </a:solidFill>
              </a:rPr>
              <a:t>Point of view</a:t>
            </a:r>
          </a:p>
        </p:txBody>
      </p:sp>
      <p:pic>
        <p:nvPicPr>
          <p:cNvPr id="32776" name="Picture 4">
            <a:extLst>
              <a:ext uri="{FF2B5EF4-FFF2-40B4-BE49-F238E27FC236}">
                <a16:creationId xmlns:a16="http://schemas.microsoft.com/office/drawing/2014/main" id="{0E438A77-2A17-46E3-BB6D-26BA5F8CAD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0050" y="115888"/>
            <a:ext cx="99377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7" name="Line 6">
            <a:extLst>
              <a:ext uri="{FF2B5EF4-FFF2-40B4-BE49-F238E27FC236}">
                <a16:creationId xmlns:a16="http://schemas.microsoft.com/office/drawing/2014/main" id="{BC8699F0-F93A-45E7-AF50-FFCDCB1CB260}"/>
              </a:ext>
            </a:extLst>
          </p:cNvPr>
          <p:cNvSpPr>
            <a:spLocks noChangeShapeType="1"/>
          </p:cNvSpPr>
          <p:nvPr/>
        </p:nvSpPr>
        <p:spPr bwMode="auto">
          <a:xfrm flipV="1">
            <a:off x="7235825" y="1700213"/>
            <a:ext cx="0" cy="21590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Marcador de Posição do Número do Diapositivo 3">
            <a:extLst>
              <a:ext uri="{FF2B5EF4-FFF2-40B4-BE49-F238E27FC236}">
                <a16:creationId xmlns:a16="http://schemas.microsoft.com/office/drawing/2014/main" id="{786D82A6-98EE-4B0B-AA76-C9A148DA529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203FDA-AC57-4C90-A092-405624F70273}" type="slidenum">
              <a:rPr lang="en-GB" altLang="en-US" sz="1400" smtClean="0"/>
              <a:pPr>
                <a:spcBef>
                  <a:spcPct val="0"/>
                </a:spcBef>
                <a:buFontTx/>
                <a:buNone/>
              </a:pPr>
              <a:t>23</a:t>
            </a:fld>
            <a:endParaRPr lang="en-GB" altLang="en-US" sz="1400"/>
          </a:p>
        </p:txBody>
      </p:sp>
      <p:sp>
        <p:nvSpPr>
          <p:cNvPr id="33795" name="Marcador de Posição de Conteúdo 4">
            <a:extLst>
              <a:ext uri="{FF2B5EF4-FFF2-40B4-BE49-F238E27FC236}">
                <a16:creationId xmlns:a16="http://schemas.microsoft.com/office/drawing/2014/main" id="{7280B998-11B9-4D23-A80E-3F12BAED6865}"/>
              </a:ext>
            </a:extLst>
          </p:cNvPr>
          <p:cNvSpPr>
            <a:spLocks noGrp="1" noChangeArrowheads="1"/>
          </p:cNvSpPr>
          <p:nvPr>
            <p:ph idx="1"/>
          </p:nvPr>
        </p:nvSpPr>
        <p:spPr>
          <a:xfrm>
            <a:off x="457200" y="1600200"/>
            <a:ext cx="8229600" cy="3933825"/>
          </a:xfrm>
        </p:spPr>
        <p:txBody>
          <a:bodyPr>
            <a:spAutoFit/>
          </a:bodyPr>
          <a:lstStyle/>
          <a:p>
            <a:r>
              <a:rPr lang="pt-PT" altLang="pt-PT" dirty="0">
                <a:hlinkClick r:id="rId2"/>
              </a:rPr>
              <a:t>https://www.youtube.com/watch?v=VSp2Tm_M5ZQ</a:t>
            </a:r>
            <a:endParaRPr lang="pt-PT" altLang="pt-PT" dirty="0"/>
          </a:p>
          <a:p>
            <a:endParaRPr lang="pt-PT" altLang="pt-PT" dirty="0"/>
          </a:p>
          <a:p>
            <a:r>
              <a:rPr lang="pt-PT" altLang="pt-PT" dirty="0">
                <a:hlinkClick r:id="rId3"/>
              </a:rPr>
              <a:t>https://www.youtube.com/watch?v=zWvoPB-6Leg</a:t>
            </a:r>
            <a:endParaRPr lang="pt-PT" altLang="pt-PT" dirty="0"/>
          </a:p>
          <a:p>
            <a:endParaRPr lang="pt-PT" altLang="pt-PT" dirty="0"/>
          </a:p>
          <a:p>
            <a:endParaRPr lang="pt-PT" altLang="pt-PT" dirty="0"/>
          </a:p>
        </p:txBody>
      </p:sp>
      <p:sp>
        <p:nvSpPr>
          <p:cNvPr id="5" name="Rectangle 6">
            <a:extLst>
              <a:ext uri="{FF2B5EF4-FFF2-40B4-BE49-F238E27FC236}">
                <a16:creationId xmlns:a16="http://schemas.microsoft.com/office/drawing/2014/main" id="{970C5F43-DAA3-4FDB-91D4-21B3CBA42A23}"/>
              </a:ext>
            </a:extLst>
          </p:cNvPr>
          <p:cNvSpPr txBox="1">
            <a:spLocks noChangeArrowheads="1"/>
          </p:cNvSpPr>
          <p:nvPr/>
        </p:nvSpPr>
        <p:spPr bwMode="auto">
          <a:xfrm>
            <a:off x="468313" y="728663"/>
            <a:ext cx="79200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buFontTx/>
              <a:buNone/>
              <a:defRPr/>
            </a:pPr>
            <a:r>
              <a:rPr lang="pt-PT" altLang="en-US" sz="1800" b="0" kern="0" dirty="0" err="1"/>
              <a:t>Pattern</a:t>
            </a:r>
            <a:r>
              <a:rPr lang="pt-PT" altLang="en-US" sz="1800" b="0" kern="0" dirty="0"/>
              <a:t> </a:t>
            </a:r>
            <a:r>
              <a:rPr lang="pt-PT" altLang="en-US" sz="1800" b="0" kern="0" dirty="0" err="1"/>
              <a:t>recognition</a:t>
            </a:r>
            <a:endParaRPr lang="en-US" altLang="en-US" sz="1800" b="0" kern="0" dirty="0"/>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D1E88104-4F0D-48FC-BE7A-499EA23A1059}"/>
              </a:ext>
            </a:extLst>
          </p:cNvPr>
          <p:cNvSpPr>
            <a:spLocks noGrp="1" noChangeArrowheads="1"/>
          </p:cNvSpPr>
          <p:nvPr>
            <p:ph type="title"/>
          </p:nvPr>
        </p:nvSpPr>
        <p:spPr/>
        <p:txBody>
          <a:bodyPr/>
          <a:lstStyle/>
          <a:p>
            <a:pPr algn="l"/>
            <a:r>
              <a:rPr lang="en-US" altLang="en-US" sz="2400" b="1"/>
              <a:t>Other senses</a:t>
            </a:r>
          </a:p>
        </p:txBody>
      </p:sp>
      <p:sp>
        <p:nvSpPr>
          <p:cNvPr id="34819" name="Content Placeholder 2">
            <a:extLst>
              <a:ext uri="{FF2B5EF4-FFF2-40B4-BE49-F238E27FC236}">
                <a16:creationId xmlns:a16="http://schemas.microsoft.com/office/drawing/2014/main" id="{B573965C-8B1A-43FC-83C6-F22A49C55F68}"/>
              </a:ext>
            </a:extLst>
          </p:cNvPr>
          <p:cNvSpPr>
            <a:spLocks noGrp="1" noChangeArrowheads="1"/>
          </p:cNvSpPr>
          <p:nvPr>
            <p:ph idx="1"/>
          </p:nvPr>
        </p:nvSpPr>
        <p:spPr>
          <a:xfrm>
            <a:off x="395288" y="1916113"/>
            <a:ext cx="8640762" cy="4525962"/>
          </a:xfrm>
        </p:spPr>
        <p:txBody>
          <a:bodyPr/>
          <a:lstStyle/>
          <a:p>
            <a:r>
              <a:rPr lang="en-US" altLang="en-US" sz="2000"/>
              <a:t>Hearing</a:t>
            </a:r>
          </a:p>
          <a:p>
            <a:endParaRPr lang="en-US" altLang="en-US" sz="2000"/>
          </a:p>
          <a:p>
            <a:pPr lvl="1"/>
            <a:r>
              <a:rPr lang="en-US" altLang="en-US" sz="2000"/>
              <a:t>Information on direction, objects and distance</a:t>
            </a:r>
          </a:p>
          <a:p>
            <a:pPr lvl="1"/>
            <a:endParaRPr lang="en-US" altLang="en-US" sz="2000"/>
          </a:p>
          <a:p>
            <a:pPr lvl="1"/>
            <a:r>
              <a:rPr lang="en-US" altLang="en-US" sz="2000"/>
              <a:t>Only sense that is really 3D</a:t>
            </a:r>
          </a:p>
          <a:p>
            <a:pPr lvl="1"/>
            <a:endParaRPr lang="en-US" altLang="en-US" sz="2000"/>
          </a:p>
          <a:p>
            <a:pPr lvl="1"/>
            <a:r>
              <a:rPr lang="en-US" altLang="en-US" sz="2000"/>
              <a:t>Cannot be “turned off”</a:t>
            </a:r>
          </a:p>
          <a:p>
            <a:pPr lvl="1"/>
            <a:endParaRPr lang="en-US" altLang="en-US" sz="2000"/>
          </a:p>
          <a:p>
            <a:pPr lvl="1"/>
            <a:r>
              <a:rPr lang="en-US" altLang="en-US" sz="2000"/>
              <a:t>Human hearing - 20Hz to 15KHz</a:t>
            </a:r>
          </a:p>
          <a:p>
            <a:pPr lvl="1"/>
            <a:endParaRPr lang="en-US" altLang="en-US" sz="2000"/>
          </a:p>
          <a:p>
            <a:pPr lvl="1"/>
            <a:r>
              <a:rPr lang="en-US" altLang="en-US" sz="2000"/>
              <a:t>Filtering is possible (Background noise – “cocktail party” example)</a:t>
            </a:r>
          </a:p>
          <a:p>
            <a:pPr lvl="1"/>
            <a:endParaRPr lang="en-US" altLang="en-US" sz="2000"/>
          </a:p>
        </p:txBody>
      </p:sp>
      <p:sp>
        <p:nvSpPr>
          <p:cNvPr id="34820" name="Slide Number Placeholder 3">
            <a:extLst>
              <a:ext uri="{FF2B5EF4-FFF2-40B4-BE49-F238E27FC236}">
                <a16:creationId xmlns:a16="http://schemas.microsoft.com/office/drawing/2014/main" id="{DE402120-3661-4F63-94FC-FF8BDE519C5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B21CFE0-ADCD-4616-BE70-B19C22612421}" type="slidenum">
              <a:rPr lang="en-US" altLang="en-US" sz="1400" smtClean="0">
                <a:solidFill>
                  <a:schemeClr val="bg1"/>
                </a:solidFill>
              </a:rPr>
              <a:pPr>
                <a:spcBef>
                  <a:spcPct val="0"/>
                </a:spcBef>
                <a:buFontTx/>
                <a:buNone/>
              </a:pPr>
              <a:t>24</a:t>
            </a:fld>
            <a:endParaRPr lang="en-US" altLang="en-US" sz="1400">
              <a:solidFill>
                <a:schemeClr val="bg1"/>
              </a:solidFill>
            </a:endParaRPr>
          </a:p>
        </p:txBody>
      </p:sp>
      <p:pic>
        <p:nvPicPr>
          <p:cNvPr id="34821" name="Picture 5">
            <a:extLst>
              <a:ext uri="{FF2B5EF4-FFF2-40B4-BE49-F238E27FC236}">
                <a16:creationId xmlns:a16="http://schemas.microsoft.com/office/drawing/2014/main" id="{265A4508-CF31-4D74-85CE-28C7758242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0"/>
            <a:ext cx="2533650" cy="2033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822" name="Rectângulo 2">
            <a:extLst>
              <a:ext uri="{FF2B5EF4-FFF2-40B4-BE49-F238E27FC236}">
                <a16:creationId xmlns:a16="http://schemas.microsoft.com/office/drawing/2014/main" id="{4C05C61C-F280-4524-9A04-BE57DDF5AD78}"/>
              </a:ext>
            </a:extLst>
          </p:cNvPr>
          <p:cNvSpPr>
            <a:spLocks noChangeArrowheads="1"/>
          </p:cNvSpPr>
          <p:nvPr/>
        </p:nvSpPr>
        <p:spPr bwMode="auto">
          <a:xfrm>
            <a:off x="6588125" y="2133600"/>
            <a:ext cx="2678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hlinkClick r:id="rId3"/>
              </a:rPr>
              <a:t>https://en.wikipedia.org/wiki/Sense</a:t>
            </a:r>
            <a:endParaRPr lang="en-US" altLang="en-US" sz="1800" b="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E10C9C07-049A-4596-A160-318F9A20EAEE}"/>
              </a:ext>
            </a:extLst>
          </p:cNvPr>
          <p:cNvSpPr>
            <a:spLocks noGrp="1" noChangeArrowheads="1"/>
          </p:cNvSpPr>
          <p:nvPr>
            <p:ph idx="1"/>
          </p:nvPr>
        </p:nvSpPr>
        <p:spPr/>
        <p:txBody>
          <a:bodyPr/>
          <a:lstStyle/>
          <a:p>
            <a:r>
              <a:rPr lang="en-US" altLang="en-US" sz="2000" dirty="0"/>
              <a:t>Touch</a:t>
            </a:r>
          </a:p>
          <a:p>
            <a:pPr lvl="1"/>
            <a:r>
              <a:rPr lang="en-US" altLang="en-US" sz="2000" dirty="0"/>
              <a:t>Important feedback</a:t>
            </a:r>
          </a:p>
          <a:p>
            <a:pPr lvl="1"/>
            <a:endParaRPr lang="en-US" altLang="en-US" sz="2000" dirty="0"/>
          </a:p>
          <a:p>
            <a:pPr lvl="1"/>
            <a:r>
              <a:rPr lang="en-US" altLang="en-US" sz="2000" dirty="0"/>
              <a:t>Key for people with sight problem</a:t>
            </a:r>
          </a:p>
          <a:p>
            <a:pPr lvl="1"/>
            <a:endParaRPr lang="en-US" altLang="en-US" sz="2000" dirty="0"/>
          </a:p>
          <a:p>
            <a:pPr lvl="1"/>
            <a:r>
              <a:rPr lang="en-US" altLang="en-US" sz="2000" dirty="0"/>
              <a:t>Several receptors in skin:</a:t>
            </a:r>
          </a:p>
          <a:p>
            <a:pPr lvl="2"/>
            <a:r>
              <a:rPr lang="en-US" altLang="en-US" sz="2000" dirty="0" err="1"/>
              <a:t>Termoreceptors</a:t>
            </a:r>
            <a:r>
              <a:rPr lang="en-US" altLang="en-US" sz="2000" dirty="0"/>
              <a:t>: cold and hot</a:t>
            </a:r>
          </a:p>
          <a:p>
            <a:pPr lvl="2"/>
            <a:r>
              <a:rPr lang="en-US" altLang="en-US" sz="2000" dirty="0"/>
              <a:t>Nociceptor: pain</a:t>
            </a:r>
          </a:p>
          <a:p>
            <a:pPr lvl="2"/>
            <a:r>
              <a:rPr lang="en-US" altLang="en-US" sz="2000" dirty="0" err="1"/>
              <a:t>Mecanoreceptor</a:t>
            </a:r>
            <a:r>
              <a:rPr lang="en-US" altLang="en-US" sz="2000" dirty="0"/>
              <a:t>: pressure</a:t>
            </a:r>
          </a:p>
          <a:p>
            <a:pPr lvl="2"/>
            <a:endParaRPr lang="en-US" altLang="en-US" sz="2000" dirty="0"/>
          </a:p>
          <a:p>
            <a:pPr lvl="1"/>
            <a:r>
              <a:rPr lang="en-US" altLang="en-US" sz="2000" dirty="0"/>
              <a:t>Some areas more sensitive (fingers)</a:t>
            </a:r>
          </a:p>
        </p:txBody>
      </p:sp>
      <p:sp>
        <p:nvSpPr>
          <p:cNvPr id="35843" name="Slide Number Placeholder 3">
            <a:extLst>
              <a:ext uri="{FF2B5EF4-FFF2-40B4-BE49-F238E27FC236}">
                <a16:creationId xmlns:a16="http://schemas.microsoft.com/office/drawing/2014/main" id="{942257FB-5C93-4B2B-A5CE-E09522C42E1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592F722-54CA-4A85-8D27-6042E624DBF9}" type="slidenum">
              <a:rPr lang="en-US" altLang="en-US" sz="1400" smtClean="0">
                <a:solidFill>
                  <a:schemeClr val="bg1"/>
                </a:solidFill>
              </a:rPr>
              <a:pPr>
                <a:spcBef>
                  <a:spcPct val="0"/>
                </a:spcBef>
                <a:buFontTx/>
                <a:buNone/>
              </a:pPr>
              <a:t>25</a:t>
            </a:fld>
            <a:endParaRPr lang="en-US" altLang="en-US" sz="1400">
              <a:solidFill>
                <a:schemeClr val="bg1"/>
              </a:solidFill>
            </a:endParaRPr>
          </a:p>
        </p:txBody>
      </p:sp>
      <p:sp>
        <p:nvSpPr>
          <p:cNvPr id="35844" name="Title 1">
            <a:extLst>
              <a:ext uri="{FF2B5EF4-FFF2-40B4-BE49-F238E27FC236}">
                <a16:creationId xmlns:a16="http://schemas.microsoft.com/office/drawing/2014/main" id="{A4A5201B-65D3-4CAE-8DD4-4DB7EC55DE18}"/>
              </a:ext>
            </a:extLst>
          </p:cNvPr>
          <p:cNvSpPr>
            <a:spLocks noGrp="1" noChangeArrowheads="1"/>
          </p:cNvSpPr>
          <p:nvPr>
            <p:ph type="title"/>
          </p:nvPr>
        </p:nvSpPr>
        <p:spPr/>
        <p:txBody>
          <a:bodyPr/>
          <a:lstStyle/>
          <a:p>
            <a:pPr algn="l"/>
            <a:r>
              <a:rPr lang="en-US" altLang="en-US" sz="2400" b="1" dirty="0"/>
              <a:t>Other senses</a:t>
            </a:r>
          </a:p>
        </p:txBody>
      </p:sp>
      <p:pic>
        <p:nvPicPr>
          <p:cNvPr id="35845" name="Picture 5">
            <a:extLst>
              <a:ext uri="{FF2B5EF4-FFF2-40B4-BE49-F238E27FC236}">
                <a16:creationId xmlns:a16="http://schemas.microsoft.com/office/drawing/2014/main" id="{25BF1845-C5A3-4194-A6B5-92952893F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0038" y="0"/>
            <a:ext cx="2493962" cy="1989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846" name="Rectângulo 7">
            <a:extLst>
              <a:ext uri="{FF2B5EF4-FFF2-40B4-BE49-F238E27FC236}">
                <a16:creationId xmlns:a16="http://schemas.microsoft.com/office/drawing/2014/main" id="{1534E9A3-72EC-46D7-A12A-D839B1090CCB}"/>
              </a:ext>
            </a:extLst>
          </p:cNvPr>
          <p:cNvSpPr>
            <a:spLocks noChangeArrowheads="1"/>
          </p:cNvSpPr>
          <p:nvPr/>
        </p:nvSpPr>
        <p:spPr bwMode="auto">
          <a:xfrm>
            <a:off x="6588125" y="2133600"/>
            <a:ext cx="2678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hlinkClick r:id="rId3"/>
              </a:rPr>
              <a:t>https://en.wikipedia.org/wiki/Sense</a:t>
            </a:r>
            <a:endParaRPr lang="en-US" altLang="en-US" sz="1800" b="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ítulo 1">
            <a:extLst>
              <a:ext uri="{FF2B5EF4-FFF2-40B4-BE49-F238E27FC236}">
                <a16:creationId xmlns:a16="http://schemas.microsoft.com/office/drawing/2014/main" id="{A9405CC2-3607-4541-BCDE-FB0C594FF218}"/>
              </a:ext>
            </a:extLst>
          </p:cNvPr>
          <p:cNvSpPr>
            <a:spLocks noGrp="1" noChangeArrowheads="1"/>
          </p:cNvSpPr>
          <p:nvPr>
            <p:ph type="title"/>
          </p:nvPr>
        </p:nvSpPr>
        <p:spPr>
          <a:xfrm>
            <a:off x="292100" y="260350"/>
            <a:ext cx="3898900" cy="1570038"/>
          </a:xfrm>
        </p:spPr>
        <p:txBody>
          <a:bodyPr/>
          <a:lstStyle/>
          <a:p>
            <a:pPr algn="l"/>
            <a:r>
              <a:rPr lang="en-US" altLang="en-US" sz="2200" dirty="0"/>
              <a:t>Simulators are complex interactive systems that stimulate several senses…</a:t>
            </a:r>
          </a:p>
        </p:txBody>
      </p:sp>
      <p:sp>
        <p:nvSpPr>
          <p:cNvPr id="36867" name="Marcador de Posição do Número do Diapositivo 3">
            <a:extLst>
              <a:ext uri="{FF2B5EF4-FFF2-40B4-BE49-F238E27FC236}">
                <a16:creationId xmlns:a16="http://schemas.microsoft.com/office/drawing/2014/main" id="{DDA6327D-E26E-4885-B50C-6A2383E5DA7C}"/>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765C935-5761-4870-8DC0-F3EBE9AA415A}" type="slidenum">
              <a:rPr lang="en-GB" altLang="en-US" sz="1400" smtClean="0"/>
              <a:pPr>
                <a:spcBef>
                  <a:spcPct val="0"/>
                </a:spcBef>
                <a:buFontTx/>
                <a:buNone/>
              </a:pPr>
              <a:t>26</a:t>
            </a:fld>
            <a:endParaRPr lang="en-GB" altLang="en-US" sz="1400"/>
          </a:p>
        </p:txBody>
      </p:sp>
      <p:pic>
        <p:nvPicPr>
          <p:cNvPr id="36868" name="Picture 3">
            <a:extLst>
              <a:ext uri="{FF2B5EF4-FFF2-40B4-BE49-F238E27FC236}">
                <a16:creationId xmlns:a16="http://schemas.microsoft.com/office/drawing/2014/main" id="{7081A610-3667-4531-8E32-4A062378F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874" b="4401"/>
          <a:stretch>
            <a:fillRect/>
          </a:stretch>
        </p:blipFill>
        <p:spPr bwMode="auto">
          <a:xfrm>
            <a:off x="4267200" y="3582988"/>
            <a:ext cx="4876800" cy="3275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869" name="Rectângulo 4">
            <a:extLst>
              <a:ext uri="{FF2B5EF4-FFF2-40B4-BE49-F238E27FC236}">
                <a16:creationId xmlns:a16="http://schemas.microsoft.com/office/drawing/2014/main" id="{E996FA37-7734-42D9-B06D-E17B814F1BF1}"/>
              </a:ext>
            </a:extLst>
          </p:cNvPr>
          <p:cNvSpPr>
            <a:spLocks noChangeArrowheads="1"/>
          </p:cNvSpPr>
          <p:nvPr/>
        </p:nvSpPr>
        <p:spPr bwMode="auto">
          <a:xfrm>
            <a:off x="4284663" y="3233738"/>
            <a:ext cx="4953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a:hlinkClick r:id="rId3"/>
              </a:rPr>
              <a:t>https://en.wikipedia.org/wiki/Flight_simulator</a:t>
            </a:r>
            <a:endParaRPr lang="en-US" altLang="en-US" sz="1600" b="0"/>
          </a:p>
        </p:txBody>
      </p:sp>
      <p:sp>
        <p:nvSpPr>
          <p:cNvPr id="36870" name="Rectângulo 5">
            <a:extLst>
              <a:ext uri="{FF2B5EF4-FFF2-40B4-BE49-F238E27FC236}">
                <a16:creationId xmlns:a16="http://schemas.microsoft.com/office/drawing/2014/main" id="{29F38D2B-E9BC-4263-A381-572044883E4A}"/>
              </a:ext>
            </a:extLst>
          </p:cNvPr>
          <p:cNvSpPr>
            <a:spLocks noChangeArrowheads="1"/>
          </p:cNvSpPr>
          <p:nvPr/>
        </p:nvSpPr>
        <p:spPr bwMode="auto">
          <a:xfrm>
            <a:off x="4284663" y="2809875"/>
            <a:ext cx="3532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a:hlinkClick r:id="rId4"/>
              </a:rPr>
              <a:t>https://www.the737experience.co.uk</a:t>
            </a:r>
            <a:r>
              <a:rPr lang="en-US" altLang="en-US" sz="1800">
                <a:hlinkClick r:id="rId4"/>
              </a:rPr>
              <a:t>/</a:t>
            </a:r>
            <a:endParaRPr lang="en-US" altLang="en-US" sz="1800"/>
          </a:p>
        </p:txBody>
      </p:sp>
      <p:pic>
        <p:nvPicPr>
          <p:cNvPr id="36871" name="Picture 6">
            <a:extLst>
              <a:ext uri="{FF2B5EF4-FFF2-40B4-BE49-F238E27FC236}">
                <a16:creationId xmlns:a16="http://schemas.microsoft.com/office/drawing/2014/main" id="{BC696BCB-D686-4522-8115-D5B4A6606F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8" y="3582988"/>
            <a:ext cx="4298951" cy="3275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872" name="Rectângulo 7">
            <a:extLst>
              <a:ext uri="{FF2B5EF4-FFF2-40B4-BE49-F238E27FC236}">
                <a16:creationId xmlns:a16="http://schemas.microsoft.com/office/drawing/2014/main" id="{59BBED6E-72EC-4BCB-B2E2-BB738F0451F5}"/>
              </a:ext>
            </a:extLst>
          </p:cNvPr>
          <p:cNvSpPr>
            <a:spLocks noChangeArrowheads="1"/>
          </p:cNvSpPr>
          <p:nvPr/>
        </p:nvSpPr>
        <p:spPr bwMode="auto">
          <a:xfrm>
            <a:off x="0" y="3233738"/>
            <a:ext cx="4267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a:solidFill>
                  <a:srgbClr val="000000"/>
                </a:solidFill>
                <a:hlinkClick r:id="rId6"/>
              </a:rPr>
              <a:t>https://surgicalscience.com/systems/lapsim/</a:t>
            </a:r>
            <a:endParaRPr lang="en-US" altLang="en-US" sz="1600" b="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735F3CC1-5322-4991-B7C4-CBFDDBDA8D39}"/>
              </a:ext>
            </a:extLst>
          </p:cNvPr>
          <p:cNvSpPr>
            <a:spLocks noGrp="1" noChangeArrowheads="1"/>
          </p:cNvSpPr>
          <p:nvPr>
            <p:ph type="title"/>
          </p:nvPr>
        </p:nvSpPr>
        <p:spPr/>
        <p:txBody>
          <a:bodyPr/>
          <a:lstStyle/>
          <a:p>
            <a:pPr algn="l"/>
            <a:r>
              <a:rPr lang="en-US" altLang="en-US" sz="2400" b="1"/>
              <a:t>Other senses</a:t>
            </a:r>
          </a:p>
        </p:txBody>
      </p:sp>
      <p:sp>
        <p:nvSpPr>
          <p:cNvPr id="22531" name="Content Placeholder 2">
            <a:extLst>
              <a:ext uri="{FF2B5EF4-FFF2-40B4-BE49-F238E27FC236}">
                <a16:creationId xmlns:a16="http://schemas.microsoft.com/office/drawing/2014/main" id="{51617842-15D9-4B35-943A-821D21C14746}"/>
              </a:ext>
            </a:extLst>
          </p:cNvPr>
          <p:cNvSpPr>
            <a:spLocks noGrp="1"/>
          </p:cNvSpPr>
          <p:nvPr>
            <p:ph idx="1"/>
          </p:nvPr>
        </p:nvSpPr>
        <p:spPr>
          <a:xfrm>
            <a:off x="323850" y="981075"/>
            <a:ext cx="8229600" cy="4525963"/>
          </a:xfrm>
        </p:spPr>
        <p:txBody>
          <a:bodyPr/>
          <a:lstStyle/>
          <a:p>
            <a:pPr>
              <a:defRPr/>
            </a:pPr>
            <a:endParaRPr lang="en-US" altLang="en-US" sz="2000" dirty="0"/>
          </a:p>
          <a:p>
            <a:pPr>
              <a:defRPr/>
            </a:pPr>
            <a:r>
              <a:rPr lang="en-US" altLang="en-US" sz="2000" dirty="0"/>
              <a:t>Smell and Taste</a:t>
            </a:r>
          </a:p>
          <a:p>
            <a:pPr>
              <a:defRPr/>
            </a:pPr>
            <a:endParaRPr lang="en-US" altLang="en-US" sz="2000" dirty="0"/>
          </a:p>
          <a:p>
            <a:pPr lvl="1">
              <a:defRPr/>
            </a:pPr>
            <a:r>
              <a:rPr lang="en-US" altLang="en-US" sz="2000" dirty="0"/>
              <a:t>Complex chemical senses</a:t>
            </a:r>
          </a:p>
          <a:p>
            <a:pPr lvl="1">
              <a:defRPr/>
            </a:pPr>
            <a:endParaRPr lang="en-US" altLang="en-US" sz="2000" dirty="0"/>
          </a:p>
          <a:p>
            <a:pPr lvl="1">
              <a:defRPr/>
            </a:pPr>
            <a:r>
              <a:rPr lang="en-US" altLang="en-US" sz="2000" dirty="0"/>
              <a:t>High latency</a:t>
            </a:r>
          </a:p>
          <a:p>
            <a:pPr lvl="1">
              <a:defRPr/>
            </a:pPr>
            <a:endParaRPr lang="en-US" altLang="en-US" sz="2000" dirty="0"/>
          </a:p>
          <a:p>
            <a:pPr lvl="1">
              <a:defRPr/>
            </a:pPr>
            <a:r>
              <a:rPr lang="en-US" altLang="en-US" sz="2000" dirty="0"/>
              <a:t>Difficult to use in HCI </a:t>
            </a:r>
          </a:p>
          <a:p>
            <a:pPr lvl="1">
              <a:defRPr/>
            </a:pPr>
            <a:endParaRPr lang="en-US" altLang="en-US" sz="2000" dirty="0"/>
          </a:p>
          <a:p>
            <a:pPr lvl="1">
              <a:defRPr/>
            </a:pPr>
            <a:r>
              <a:rPr lang="en-US" altLang="en-US" sz="2000" dirty="0"/>
              <a:t>Some experimental work exists (and some commercial products)</a:t>
            </a:r>
          </a:p>
          <a:p>
            <a:pPr marL="457200" lvl="1" indent="0">
              <a:buFontTx/>
              <a:buNone/>
              <a:defRPr/>
            </a:pPr>
            <a:endParaRPr lang="en-US" altLang="en-US" sz="2000" dirty="0"/>
          </a:p>
          <a:p>
            <a:pPr>
              <a:defRPr/>
            </a:pPr>
            <a:r>
              <a:rPr lang="en-US" altLang="en-US" sz="2000" dirty="0"/>
              <a:t>And others (as proprioception - awareness of your body position) </a:t>
            </a:r>
          </a:p>
          <a:p>
            <a:pPr marL="0" indent="0">
              <a:buFontTx/>
              <a:buNone/>
              <a:defRPr/>
            </a:pPr>
            <a:endParaRPr lang="en-US" altLang="en-US" sz="2000" dirty="0"/>
          </a:p>
          <a:p>
            <a:pPr marL="0" indent="0">
              <a:buFontTx/>
              <a:buNone/>
              <a:defRPr/>
            </a:pPr>
            <a:r>
              <a:rPr lang="pt-PT" altLang="en-US" sz="1600" dirty="0">
                <a:hlinkClick r:id="rId3"/>
              </a:rPr>
              <a:t>https://www.khanacademy.org/test-prep/mcat/processing-the-environment/somatosensation/v/proprioception-kinesthesia</a:t>
            </a:r>
            <a:endParaRPr lang="pt-PT" altLang="en-US" sz="1600" dirty="0"/>
          </a:p>
          <a:p>
            <a:pPr marL="0" indent="0">
              <a:buFontTx/>
              <a:buNone/>
              <a:defRPr/>
            </a:pPr>
            <a:r>
              <a:rPr lang="pt-PT" altLang="en-US" sz="1600" dirty="0">
                <a:hlinkClick r:id="rId4"/>
              </a:rPr>
              <a:t>https://neuro-marseille.org/en/blog/our-true-sixth-sense-on-arte/</a:t>
            </a:r>
            <a:endParaRPr lang="pt-PT" altLang="en-US" sz="1600" dirty="0"/>
          </a:p>
          <a:p>
            <a:pPr marL="0" indent="0">
              <a:buFontTx/>
              <a:buNone/>
              <a:defRPr/>
            </a:pPr>
            <a:endParaRPr lang="pt-PT" altLang="en-US" sz="1800" dirty="0"/>
          </a:p>
          <a:p>
            <a:pPr marL="0" indent="0">
              <a:buFontTx/>
              <a:buNone/>
              <a:defRPr/>
            </a:pPr>
            <a:endParaRPr lang="pt-PT" altLang="en-US" sz="1800" dirty="0"/>
          </a:p>
          <a:p>
            <a:pPr marL="0" indent="0">
              <a:buFontTx/>
              <a:buNone/>
              <a:defRPr/>
            </a:pPr>
            <a:endParaRPr lang="en-US" altLang="en-US" sz="1800" dirty="0"/>
          </a:p>
          <a:p>
            <a:pPr>
              <a:defRPr/>
            </a:pPr>
            <a:endParaRPr lang="en-US" altLang="en-US" sz="2000" dirty="0"/>
          </a:p>
        </p:txBody>
      </p:sp>
      <p:sp>
        <p:nvSpPr>
          <p:cNvPr id="37892" name="Slide Number Placeholder 3">
            <a:extLst>
              <a:ext uri="{FF2B5EF4-FFF2-40B4-BE49-F238E27FC236}">
                <a16:creationId xmlns:a16="http://schemas.microsoft.com/office/drawing/2014/main" id="{BFAE61AC-59A1-445D-96AC-71A7B72581B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C1C45D-78F0-41B0-98F5-993E18822573}" type="slidenum">
              <a:rPr lang="en-US" altLang="en-US" sz="1400" smtClean="0">
                <a:solidFill>
                  <a:schemeClr val="bg1"/>
                </a:solidFill>
              </a:rPr>
              <a:pPr>
                <a:spcBef>
                  <a:spcPct val="0"/>
                </a:spcBef>
                <a:buFontTx/>
                <a:buNone/>
              </a:pPr>
              <a:t>27</a:t>
            </a:fld>
            <a:endParaRPr lang="en-US" altLang="en-US" sz="1400">
              <a:solidFill>
                <a:schemeClr val="bg1"/>
              </a:solidFill>
            </a:endParaRPr>
          </a:p>
        </p:txBody>
      </p:sp>
      <p:pic>
        <p:nvPicPr>
          <p:cNvPr id="37893" name="Picture 5">
            <a:extLst>
              <a:ext uri="{FF2B5EF4-FFF2-40B4-BE49-F238E27FC236}">
                <a16:creationId xmlns:a16="http://schemas.microsoft.com/office/drawing/2014/main" id="{D308040E-44FA-44B5-A678-0935911CBE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7200" y="-6350"/>
            <a:ext cx="3606800" cy="138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894" name="Rectângulo 5">
            <a:extLst>
              <a:ext uri="{FF2B5EF4-FFF2-40B4-BE49-F238E27FC236}">
                <a16:creationId xmlns:a16="http://schemas.microsoft.com/office/drawing/2014/main" id="{A894076D-45D3-416C-B1E0-36D56B127891}"/>
              </a:ext>
            </a:extLst>
          </p:cNvPr>
          <p:cNvSpPr>
            <a:spLocks noChangeArrowheads="1"/>
          </p:cNvSpPr>
          <p:nvPr/>
        </p:nvSpPr>
        <p:spPr bwMode="auto">
          <a:xfrm>
            <a:off x="5483225" y="1457325"/>
            <a:ext cx="37147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hlinkClick r:id="rId6"/>
              </a:rPr>
              <a:t>https://en.wikipedia.org/wiki/Sense</a:t>
            </a:r>
            <a:endParaRPr lang="en-US" altLang="en-US" sz="1800" b="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e Conteúdo 2">
            <a:extLst>
              <a:ext uri="{FF2B5EF4-FFF2-40B4-BE49-F238E27FC236}">
                <a16:creationId xmlns:a16="http://schemas.microsoft.com/office/drawing/2014/main" id="{BFE8FEF3-2C4E-436B-B99B-4072C568AC36}"/>
              </a:ext>
            </a:extLst>
          </p:cNvPr>
          <p:cNvSpPr>
            <a:spLocks noGrp="1"/>
          </p:cNvSpPr>
          <p:nvPr>
            <p:ph idx="1"/>
          </p:nvPr>
        </p:nvSpPr>
        <p:spPr>
          <a:xfrm>
            <a:off x="602958" y="5348565"/>
            <a:ext cx="7772400" cy="914400"/>
          </a:xfrm>
        </p:spPr>
        <p:txBody>
          <a:bodyPr/>
          <a:lstStyle/>
          <a:p>
            <a:pPr marL="0" indent="0">
              <a:buNone/>
              <a:defRPr/>
            </a:pPr>
            <a:r>
              <a:rPr lang="pt-PT" sz="1600" dirty="0"/>
              <a:t>Simon </a:t>
            </a:r>
            <a:r>
              <a:rPr lang="pt-PT" sz="1600" dirty="0" err="1"/>
              <a:t>Niedenthal</a:t>
            </a:r>
            <a:r>
              <a:rPr lang="pt-PT" sz="1600" dirty="0"/>
              <a:t>, S </a:t>
            </a:r>
            <a:r>
              <a:rPr lang="pt-PT" sz="1600" dirty="0" err="1"/>
              <a:t>et</a:t>
            </a:r>
            <a:r>
              <a:rPr lang="pt-PT" sz="1600" dirty="0"/>
              <a:t> al., “A </a:t>
            </a:r>
            <a:r>
              <a:rPr lang="pt-PT" sz="1600" dirty="0" err="1"/>
              <a:t>graspable</a:t>
            </a:r>
            <a:r>
              <a:rPr lang="pt-PT" sz="1600" dirty="0"/>
              <a:t> </a:t>
            </a:r>
            <a:r>
              <a:rPr lang="pt-PT" sz="1600" dirty="0" err="1"/>
              <a:t>olfactory</a:t>
            </a:r>
            <a:r>
              <a:rPr lang="pt-PT" sz="1600" dirty="0"/>
              <a:t> display for virtual </a:t>
            </a:r>
            <a:r>
              <a:rPr lang="pt-PT" sz="1600" dirty="0" err="1"/>
              <a:t>reality</a:t>
            </a:r>
            <a:r>
              <a:rPr lang="pt-PT" sz="1600" dirty="0"/>
              <a:t>”, </a:t>
            </a:r>
            <a:r>
              <a:rPr lang="pt-PT" sz="1600" i="1" dirty="0"/>
              <a:t>International </a:t>
            </a:r>
            <a:r>
              <a:rPr lang="pt-PT" sz="1600" i="1" dirty="0" err="1"/>
              <a:t>Journal</a:t>
            </a:r>
            <a:r>
              <a:rPr lang="pt-PT" sz="1600" i="1" dirty="0"/>
              <a:t> </a:t>
            </a:r>
            <a:r>
              <a:rPr lang="pt-PT" sz="1600" i="1" dirty="0" err="1"/>
              <a:t>of</a:t>
            </a:r>
            <a:r>
              <a:rPr lang="pt-PT" sz="1600" i="1" dirty="0"/>
              <a:t> </a:t>
            </a:r>
            <a:r>
              <a:rPr lang="pt-PT" sz="1600" i="1" dirty="0" err="1"/>
              <a:t>Human-Computer</a:t>
            </a:r>
            <a:r>
              <a:rPr lang="pt-PT" sz="1600" i="1" dirty="0"/>
              <a:t> </a:t>
            </a:r>
            <a:r>
              <a:rPr lang="pt-PT" sz="1600" i="1" dirty="0" err="1"/>
              <a:t>Studies</a:t>
            </a:r>
            <a:r>
              <a:rPr lang="pt-PT" sz="1600" dirty="0"/>
              <a:t>, vol. 169, 2023</a:t>
            </a:r>
          </a:p>
          <a:p>
            <a:pPr marL="0" indent="0">
              <a:buNone/>
              <a:defRPr/>
            </a:pPr>
            <a:r>
              <a:rPr lang="pt-PT" sz="1600" dirty="0">
                <a:hlinkClick r:id="rId3"/>
              </a:rPr>
              <a:t>https://doi.org/10.1016/j.ijhcs.2022.102928</a:t>
            </a:r>
            <a:endParaRPr lang="pt-PT" sz="1600" dirty="0"/>
          </a:p>
          <a:p>
            <a:pPr marL="0" indent="0">
              <a:buNone/>
              <a:defRPr/>
            </a:pPr>
            <a:endParaRPr lang="pt-PT" sz="1600" dirty="0"/>
          </a:p>
          <a:p>
            <a:pPr>
              <a:defRPr/>
            </a:pPr>
            <a:endParaRPr lang="pt-PT" dirty="0"/>
          </a:p>
        </p:txBody>
      </p:sp>
      <p:sp>
        <p:nvSpPr>
          <p:cNvPr id="53251" name="Marcador de Posição do Número do Diapositivo 4">
            <a:extLst>
              <a:ext uri="{FF2B5EF4-FFF2-40B4-BE49-F238E27FC236}">
                <a16:creationId xmlns:a16="http://schemas.microsoft.com/office/drawing/2014/main" id="{6728D92F-F4DE-4D5A-9AE2-841BF6F9A84F}"/>
              </a:ext>
            </a:extLst>
          </p:cNvPr>
          <p:cNvSpPr>
            <a:spLocks noGrp="1"/>
          </p:cNvSpPr>
          <p:nvPr>
            <p:ph type="sldNum" sz="quarter" idx="12"/>
          </p:nvPr>
        </p:nvSpPr>
        <p:spPr>
          <a:noFill/>
        </p:spPr>
        <p:txBody>
          <a:bodyPr/>
          <a:lstStyle>
            <a:lvl1pPr>
              <a:spcBef>
                <a:spcPct val="20000"/>
              </a:spcBef>
              <a:buClr>
                <a:schemeClr val="accent1"/>
              </a:buClr>
              <a:buSzPct val="75000"/>
              <a:buFont typeface="Monotype Sorts" charset="2"/>
              <a:buChar char="u"/>
              <a:defRPr sz="3200">
                <a:solidFill>
                  <a:schemeClr val="tx1"/>
                </a:solidFill>
                <a:latin typeface="Calibri" panose="020F0502020204030204" pitchFamily="34" charset="0"/>
              </a:defRPr>
            </a:lvl1pPr>
            <a:lvl2pPr marL="742950" indent="-285750">
              <a:spcBef>
                <a:spcPct val="20000"/>
              </a:spcBef>
              <a:buClr>
                <a:schemeClr val="tx1"/>
              </a:buClr>
              <a:buChar char="–"/>
              <a:defRPr sz="3200">
                <a:solidFill>
                  <a:schemeClr val="tx1"/>
                </a:solidFill>
                <a:latin typeface="Calibri" panose="020F0502020204030204" pitchFamily="34" charset="0"/>
              </a:defRPr>
            </a:lvl2pPr>
            <a:lvl3pPr marL="1143000" indent="-228600">
              <a:spcBef>
                <a:spcPct val="20000"/>
              </a:spcBef>
              <a:buClr>
                <a:schemeClr val="accent1"/>
              </a:buClr>
              <a:buSzPct val="65000"/>
              <a:buFont typeface="Monotype Sorts" charset="2"/>
              <a:buChar char="t"/>
              <a:defRPr sz="3200">
                <a:solidFill>
                  <a:schemeClr val="tx1"/>
                </a:solidFill>
                <a:latin typeface="Calibri" panose="020F0502020204030204" pitchFamily="34" charset="0"/>
              </a:defRPr>
            </a:lvl3pPr>
            <a:lvl4pPr marL="1600200" indent="-228600">
              <a:spcBef>
                <a:spcPct val="20000"/>
              </a:spcBef>
              <a:buClr>
                <a:schemeClr val="tx1"/>
              </a:buClr>
              <a:buChar char="–"/>
              <a:defRPr sz="3200">
                <a:solidFill>
                  <a:schemeClr val="tx1"/>
                </a:solidFill>
                <a:latin typeface="Calibri" panose="020F0502020204030204" pitchFamily="34" charset="0"/>
              </a:defRPr>
            </a:lvl4pPr>
            <a:lvl5pPr marL="2057400" indent="-228600">
              <a:spcBef>
                <a:spcPct val="20000"/>
              </a:spcBef>
              <a:buClr>
                <a:schemeClr val="tx1"/>
              </a:buClr>
              <a:buChar char="•"/>
              <a:defRPr sz="32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1"/>
              </a:buClr>
              <a:buChar char="•"/>
              <a:defRPr sz="32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1"/>
              </a:buClr>
              <a:buChar char="•"/>
              <a:defRPr sz="32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1"/>
              </a:buClr>
              <a:buChar char="•"/>
              <a:defRPr sz="32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1"/>
              </a:buClr>
              <a:buChar char="•"/>
              <a:defRPr sz="3200">
                <a:solidFill>
                  <a:schemeClr val="tx1"/>
                </a:solidFill>
                <a:latin typeface="Calibri" panose="020F0502020204030204" pitchFamily="34" charset="0"/>
              </a:defRPr>
            </a:lvl9pPr>
          </a:lstStyle>
          <a:p>
            <a:pPr>
              <a:spcBef>
                <a:spcPct val="0"/>
              </a:spcBef>
              <a:buClrTx/>
              <a:buSzTx/>
              <a:buFontTx/>
              <a:buNone/>
            </a:pPr>
            <a:fld id="{94C68053-873F-4D8A-8B70-805495C86046}" type="slidenum">
              <a:rPr lang="en-US" altLang="pt-PT" sz="1400">
                <a:latin typeface="Times New Roman" panose="02020603050405020304" pitchFamily="18" charset="0"/>
              </a:rPr>
              <a:pPr>
                <a:spcBef>
                  <a:spcPct val="0"/>
                </a:spcBef>
                <a:buClrTx/>
                <a:buSzTx/>
                <a:buFontTx/>
                <a:buNone/>
              </a:pPr>
              <a:t>28</a:t>
            </a:fld>
            <a:endParaRPr lang="en-US" altLang="pt-PT" sz="1400">
              <a:latin typeface="Times New Roman" panose="02020603050405020304" pitchFamily="18" charset="0"/>
            </a:endParaRPr>
          </a:p>
        </p:txBody>
      </p:sp>
      <p:pic>
        <p:nvPicPr>
          <p:cNvPr id="2" name="Picture 1">
            <a:extLst>
              <a:ext uri="{FF2B5EF4-FFF2-40B4-BE49-F238E27FC236}">
                <a16:creationId xmlns:a16="http://schemas.microsoft.com/office/drawing/2014/main" id="{ABDDD0C3-CA66-452D-893A-29BB00A76943}"/>
              </a:ext>
            </a:extLst>
          </p:cNvPr>
          <p:cNvPicPr>
            <a:picLocks noChangeAspect="1"/>
          </p:cNvPicPr>
          <p:nvPr/>
        </p:nvPicPr>
        <p:blipFill rotWithShape="1">
          <a:blip r:embed="rId4"/>
          <a:srcRect r="1666"/>
          <a:stretch/>
        </p:blipFill>
        <p:spPr>
          <a:xfrm>
            <a:off x="0" y="1371600"/>
            <a:ext cx="8991600" cy="3029009"/>
          </a:xfrm>
          <a:prstGeom prst="rect">
            <a:avLst/>
          </a:prstGeom>
        </p:spPr>
      </p:pic>
      <p:sp>
        <p:nvSpPr>
          <p:cNvPr id="4" name="Rectangle 3">
            <a:extLst>
              <a:ext uri="{FF2B5EF4-FFF2-40B4-BE49-F238E27FC236}">
                <a16:creationId xmlns:a16="http://schemas.microsoft.com/office/drawing/2014/main" id="{44DCEFCF-A999-4821-B95C-3E76107B8515}"/>
              </a:ext>
            </a:extLst>
          </p:cNvPr>
          <p:cNvSpPr/>
          <p:nvPr/>
        </p:nvSpPr>
        <p:spPr>
          <a:xfrm>
            <a:off x="816024" y="4470737"/>
            <a:ext cx="9372600" cy="430887"/>
          </a:xfrm>
          <a:prstGeom prst="rect">
            <a:avLst/>
          </a:prstGeom>
        </p:spPr>
        <p:txBody>
          <a:bodyPr wrap="square">
            <a:spAutoFit/>
          </a:bodyPr>
          <a:lstStyle/>
          <a:p>
            <a:r>
              <a:rPr lang="en-US" sz="2200" b="0" dirty="0">
                <a:solidFill>
                  <a:srgbClr val="000000"/>
                </a:solidFill>
                <a:latin typeface="CharisSIL"/>
              </a:rPr>
              <a:t>A virtual wine cellar game, with wine glasses to be grasped and sniffed</a:t>
            </a:r>
            <a:endParaRPr lang="en-US" sz="2200" dirty="0"/>
          </a:p>
        </p:txBody>
      </p:sp>
    </p:spTree>
    <p:extLst>
      <p:ext uri="{BB962C8B-B14F-4D97-AF65-F5344CB8AC3E}">
        <p14:creationId xmlns:p14="http://schemas.microsoft.com/office/powerpoint/2010/main" val="2129774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0">
            <a:extLst>
              <a:ext uri="{FF2B5EF4-FFF2-40B4-BE49-F238E27FC236}">
                <a16:creationId xmlns:a16="http://schemas.microsoft.com/office/drawing/2014/main" id="{A2FB6589-5D88-4321-B692-DD6E7D74F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425" y="4194175"/>
            <a:ext cx="5734050" cy="185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939" name="Slide Number Placeholder 5">
            <a:extLst>
              <a:ext uri="{FF2B5EF4-FFF2-40B4-BE49-F238E27FC236}">
                <a16:creationId xmlns:a16="http://schemas.microsoft.com/office/drawing/2014/main" id="{AF39FE2B-C0AA-4AD7-9CAB-A0E3AC3DA3D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DDA84D4-7E77-4E32-9704-A8CB66E72146}" type="slidenum">
              <a:rPr lang="en-GB" altLang="en-US" sz="1400" smtClean="0"/>
              <a:pPr>
                <a:spcBef>
                  <a:spcPct val="0"/>
                </a:spcBef>
                <a:buFontTx/>
                <a:buNone/>
              </a:pPr>
              <a:t>29</a:t>
            </a:fld>
            <a:endParaRPr lang="en-GB" altLang="en-US" sz="1400"/>
          </a:p>
        </p:txBody>
      </p:sp>
      <p:sp>
        <p:nvSpPr>
          <p:cNvPr id="39940" name="Rectangle 2">
            <a:extLst>
              <a:ext uri="{FF2B5EF4-FFF2-40B4-BE49-F238E27FC236}">
                <a16:creationId xmlns:a16="http://schemas.microsoft.com/office/drawing/2014/main" id="{B408DB88-CB69-4635-B025-27FD553EA751}"/>
              </a:ext>
            </a:extLst>
          </p:cNvPr>
          <p:cNvSpPr>
            <a:spLocks noGrp="1" noChangeArrowheads="1"/>
          </p:cNvSpPr>
          <p:nvPr>
            <p:ph type="title"/>
          </p:nvPr>
        </p:nvSpPr>
        <p:spPr/>
        <p:txBody>
          <a:bodyPr/>
          <a:lstStyle/>
          <a:p>
            <a:pPr algn="l" eaLnBrk="1" hangingPunct="1"/>
            <a:r>
              <a:rPr lang="en-GB" altLang="en-US" sz="2400" b="1"/>
              <a:t>Memory</a:t>
            </a:r>
            <a:r>
              <a:rPr lang="en-GB" altLang="en-US"/>
              <a:t> </a:t>
            </a:r>
            <a:endParaRPr lang="pt-PT" altLang="en-US"/>
          </a:p>
        </p:txBody>
      </p:sp>
      <p:sp>
        <p:nvSpPr>
          <p:cNvPr id="2" name="Rectângulo 1">
            <a:extLst>
              <a:ext uri="{FF2B5EF4-FFF2-40B4-BE49-F238E27FC236}">
                <a16:creationId xmlns:a16="http://schemas.microsoft.com/office/drawing/2014/main" id="{92FD12D1-85DB-45EA-B30A-F0E28E10D7EE}"/>
              </a:ext>
            </a:extLst>
          </p:cNvPr>
          <p:cNvSpPr/>
          <p:nvPr/>
        </p:nvSpPr>
        <p:spPr>
          <a:xfrm>
            <a:off x="395288" y="1484313"/>
            <a:ext cx="8497887" cy="2308225"/>
          </a:xfrm>
          <a:prstGeom prst="rect">
            <a:avLst/>
          </a:prstGeom>
        </p:spPr>
        <p:txBody>
          <a:bodyPr>
            <a:spAutoFit/>
          </a:bodyPr>
          <a:lstStyle/>
          <a:p>
            <a:pPr eaLnBrk="1" hangingPunct="1">
              <a:defRPr/>
            </a:pPr>
            <a:r>
              <a:rPr lang="en-US" b="0" dirty="0"/>
              <a:t>The </a:t>
            </a:r>
            <a:r>
              <a:rPr lang="en-US" dirty="0"/>
              <a:t>Atkinson</a:t>
            </a:r>
            <a:r>
              <a:rPr lang="en-US" b="0" dirty="0"/>
              <a:t>–</a:t>
            </a:r>
            <a:r>
              <a:rPr lang="en-US" dirty="0"/>
              <a:t>Shiffrin model</a:t>
            </a:r>
            <a:r>
              <a:rPr lang="en-US" b="0" dirty="0"/>
              <a:t> (1968) (a.k.a. multi-store model or modal model) </a:t>
            </a:r>
          </a:p>
          <a:p>
            <a:pPr eaLnBrk="1" hangingPunct="1">
              <a:defRPr/>
            </a:pPr>
            <a:r>
              <a:rPr lang="en-US" b="0" dirty="0"/>
              <a:t>asserts that human memory has three components: </a:t>
            </a:r>
          </a:p>
          <a:p>
            <a:pPr eaLnBrk="1" hangingPunct="1">
              <a:defRPr/>
            </a:pPr>
            <a:endParaRPr lang="en-US" b="0" dirty="0"/>
          </a:p>
          <a:p>
            <a:pPr marL="285750" indent="-285750" eaLnBrk="1" hangingPunct="1">
              <a:buFont typeface="Arial" panose="020B0604020202020204" pitchFamily="34" charset="0"/>
              <a:buChar char="•"/>
              <a:defRPr/>
            </a:pPr>
            <a:r>
              <a:rPr lang="en-US" b="0" dirty="0"/>
              <a:t>Sensory memory</a:t>
            </a:r>
          </a:p>
          <a:p>
            <a:pPr marL="285750" indent="-285750" eaLnBrk="1" hangingPunct="1">
              <a:buFont typeface="Arial" panose="020B0604020202020204" pitchFamily="34" charset="0"/>
              <a:buChar char="•"/>
              <a:defRPr/>
            </a:pPr>
            <a:endParaRPr lang="en-US" b="0" dirty="0"/>
          </a:p>
          <a:p>
            <a:pPr marL="285750" indent="-285750" eaLnBrk="1" hangingPunct="1">
              <a:buFont typeface="Arial" panose="020B0604020202020204" pitchFamily="34" charset="0"/>
              <a:buChar char="•"/>
              <a:defRPr/>
            </a:pPr>
            <a:r>
              <a:rPr lang="en-US" b="0" dirty="0"/>
              <a:t>Short-term memory -&gt; working memory (more recent concept)</a:t>
            </a:r>
          </a:p>
          <a:p>
            <a:pPr marL="285750" indent="-285750" eaLnBrk="1" hangingPunct="1">
              <a:buFont typeface="Arial" panose="020B0604020202020204" pitchFamily="34" charset="0"/>
              <a:buChar char="•"/>
              <a:defRPr/>
            </a:pPr>
            <a:endParaRPr lang="en-US" b="0" dirty="0"/>
          </a:p>
          <a:p>
            <a:pPr marL="285750" indent="-285750" eaLnBrk="1" hangingPunct="1">
              <a:buFont typeface="Arial" panose="020B0604020202020204" pitchFamily="34" charset="0"/>
              <a:buChar char="•"/>
              <a:defRPr/>
            </a:pPr>
            <a:r>
              <a:rPr lang="en-US" b="0" dirty="0"/>
              <a:t>Long-term memory</a:t>
            </a:r>
            <a:endParaRPr lang="pt-PT" dirty="0"/>
          </a:p>
        </p:txBody>
      </p:sp>
      <p:sp>
        <p:nvSpPr>
          <p:cNvPr id="39942" name="Rectângulo 2">
            <a:extLst>
              <a:ext uri="{FF2B5EF4-FFF2-40B4-BE49-F238E27FC236}">
                <a16:creationId xmlns:a16="http://schemas.microsoft.com/office/drawing/2014/main" id="{839B0914-8E58-4033-A653-E71FEA9A94A4}"/>
              </a:ext>
            </a:extLst>
          </p:cNvPr>
          <p:cNvSpPr>
            <a:spLocks noChangeArrowheads="1"/>
          </p:cNvSpPr>
          <p:nvPr/>
        </p:nvSpPr>
        <p:spPr bwMode="auto">
          <a:xfrm>
            <a:off x="611188" y="6165850"/>
            <a:ext cx="842486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a:hlinkClick r:id="rId4"/>
              </a:rPr>
              <a:t>https://en.wikipedia.org/wiki/Atkinson%E2%80%93Shiffrin_memory_model</a:t>
            </a:r>
            <a:endParaRPr lang="pt-PT" altLang="pt-PT" sz="1600" b="0"/>
          </a:p>
          <a:p>
            <a:pPr eaLnBrk="1" hangingPunct="1">
              <a:spcBef>
                <a:spcPct val="0"/>
              </a:spcBef>
              <a:buFontTx/>
              <a:buNone/>
            </a:pPr>
            <a:endParaRPr lang="pt-PT" altLang="pt-PT" sz="1600" b="0"/>
          </a:p>
          <a:p>
            <a:pPr eaLnBrk="1" hangingPunct="1">
              <a:spcBef>
                <a:spcPct val="0"/>
              </a:spcBef>
              <a:buFontTx/>
              <a:buNone/>
            </a:pPr>
            <a:endParaRPr lang="pt-PT" altLang="pt-PT" sz="1800"/>
          </a:p>
        </p:txBody>
      </p:sp>
      <p:sp>
        <p:nvSpPr>
          <p:cNvPr id="39943" name="CaixaDeTexto 2">
            <a:extLst>
              <a:ext uri="{FF2B5EF4-FFF2-40B4-BE49-F238E27FC236}">
                <a16:creationId xmlns:a16="http://schemas.microsoft.com/office/drawing/2014/main" id="{06A492A9-1D94-456A-9198-CE315E8EBF5E}"/>
              </a:ext>
            </a:extLst>
          </p:cNvPr>
          <p:cNvSpPr txBox="1">
            <a:spLocks noChangeArrowheads="1"/>
          </p:cNvSpPr>
          <p:nvPr/>
        </p:nvSpPr>
        <p:spPr bwMode="auto">
          <a:xfrm>
            <a:off x="5513388" y="4581525"/>
            <a:ext cx="898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800"/>
              <a:t>    LTM</a:t>
            </a:r>
          </a:p>
        </p:txBody>
      </p:sp>
      <p:sp>
        <p:nvSpPr>
          <p:cNvPr id="39944" name="CaixaDeTexto 3">
            <a:extLst>
              <a:ext uri="{FF2B5EF4-FFF2-40B4-BE49-F238E27FC236}">
                <a16:creationId xmlns:a16="http://schemas.microsoft.com/office/drawing/2014/main" id="{A7883EAA-E2F4-4850-8BE2-B9829C545CA1}"/>
              </a:ext>
            </a:extLst>
          </p:cNvPr>
          <p:cNvSpPr txBox="1">
            <a:spLocks noChangeArrowheads="1"/>
          </p:cNvSpPr>
          <p:nvPr/>
        </p:nvSpPr>
        <p:spPr bwMode="auto">
          <a:xfrm>
            <a:off x="3563938" y="4581525"/>
            <a:ext cx="800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800"/>
              <a:t>  STM</a:t>
            </a:r>
          </a:p>
        </p:txBody>
      </p:sp>
      <p:sp>
        <p:nvSpPr>
          <p:cNvPr id="39945" name="CaixaDeTexto 4">
            <a:extLst>
              <a:ext uri="{FF2B5EF4-FFF2-40B4-BE49-F238E27FC236}">
                <a16:creationId xmlns:a16="http://schemas.microsoft.com/office/drawing/2014/main" id="{69E095E9-1CC5-4360-A8F7-F93349F4A05C}"/>
              </a:ext>
            </a:extLst>
          </p:cNvPr>
          <p:cNvSpPr txBox="1">
            <a:spLocks noChangeArrowheads="1"/>
          </p:cNvSpPr>
          <p:nvPr/>
        </p:nvSpPr>
        <p:spPr bwMode="auto">
          <a:xfrm>
            <a:off x="1476375" y="4395788"/>
            <a:ext cx="11509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800"/>
              <a:t>Sensory</a:t>
            </a:r>
          </a:p>
          <a:p>
            <a:pPr eaLnBrk="1" hangingPunct="1">
              <a:spcBef>
                <a:spcPct val="0"/>
              </a:spcBef>
              <a:buFontTx/>
              <a:buNone/>
            </a:pPr>
            <a:r>
              <a:rPr lang="pt-PT" altLang="pt-PT" sz="1800"/>
              <a:t>memory</a:t>
            </a:r>
          </a:p>
        </p:txBody>
      </p:sp>
      <p:sp>
        <p:nvSpPr>
          <p:cNvPr id="39946" name="CaixaDeTexto 5">
            <a:extLst>
              <a:ext uri="{FF2B5EF4-FFF2-40B4-BE49-F238E27FC236}">
                <a16:creationId xmlns:a16="http://schemas.microsoft.com/office/drawing/2014/main" id="{B410FAF0-DE32-407A-BC8F-561709D35C89}"/>
              </a:ext>
            </a:extLst>
          </p:cNvPr>
          <p:cNvSpPr txBox="1">
            <a:spLocks noChangeArrowheads="1"/>
          </p:cNvSpPr>
          <p:nvPr/>
        </p:nvSpPr>
        <p:spPr bwMode="auto">
          <a:xfrm>
            <a:off x="2463800" y="4025900"/>
            <a:ext cx="4638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a:t>  </a:t>
            </a:r>
            <a:r>
              <a:rPr lang="pt-PT" altLang="pt-PT" sz="1400"/>
              <a:t>Attention</a:t>
            </a:r>
            <a:r>
              <a:rPr lang="pt-PT" altLang="pt-PT" sz="1600"/>
              <a:t>                     </a:t>
            </a:r>
            <a:r>
              <a:rPr lang="pt-PT" altLang="pt-PT" sz="1400"/>
              <a:t>Transfer</a:t>
            </a:r>
          </a:p>
        </p:txBody>
      </p:sp>
      <p:sp>
        <p:nvSpPr>
          <p:cNvPr id="39947" name="CaixaDeTexto 6">
            <a:extLst>
              <a:ext uri="{FF2B5EF4-FFF2-40B4-BE49-F238E27FC236}">
                <a16:creationId xmlns:a16="http://schemas.microsoft.com/office/drawing/2014/main" id="{50D3A9C6-0A4A-4A56-81FE-B8E03C3C70CC}"/>
              </a:ext>
            </a:extLst>
          </p:cNvPr>
          <p:cNvSpPr txBox="1">
            <a:spLocks noChangeArrowheads="1"/>
          </p:cNvSpPr>
          <p:nvPr/>
        </p:nvSpPr>
        <p:spPr bwMode="auto">
          <a:xfrm>
            <a:off x="4572000" y="5203825"/>
            <a:ext cx="1057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a:t>  </a:t>
            </a:r>
            <a:r>
              <a:rPr lang="pt-PT" altLang="pt-PT" sz="1400"/>
              <a:t>Retrieval</a:t>
            </a:r>
          </a:p>
        </p:txBody>
      </p:sp>
      <p:sp>
        <p:nvSpPr>
          <p:cNvPr id="39948" name="CaixaDeTexto 7">
            <a:extLst>
              <a:ext uri="{FF2B5EF4-FFF2-40B4-BE49-F238E27FC236}">
                <a16:creationId xmlns:a16="http://schemas.microsoft.com/office/drawing/2014/main" id="{6BF0049D-38F4-430B-949A-DF8B45FC405E}"/>
              </a:ext>
            </a:extLst>
          </p:cNvPr>
          <p:cNvSpPr txBox="1">
            <a:spLocks noChangeArrowheads="1"/>
          </p:cNvSpPr>
          <p:nvPr/>
        </p:nvSpPr>
        <p:spPr bwMode="auto">
          <a:xfrm>
            <a:off x="3563938" y="5373688"/>
            <a:ext cx="1041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400"/>
              <a:t>Rehearsal</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Marcador de Posição do Número do Diapositivo 3">
            <a:extLst>
              <a:ext uri="{FF2B5EF4-FFF2-40B4-BE49-F238E27FC236}">
                <a16:creationId xmlns:a16="http://schemas.microsoft.com/office/drawing/2014/main" id="{9997CF88-9B61-4360-BA03-7949840A5D0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F51F850-49B8-45D9-B139-134501DB89D2}" type="slidenum">
              <a:rPr lang="en-GB" altLang="en-US" sz="1400" smtClean="0"/>
              <a:pPr>
                <a:spcBef>
                  <a:spcPct val="0"/>
                </a:spcBef>
                <a:buFontTx/>
                <a:buNone/>
              </a:pPr>
              <a:t>30</a:t>
            </a:fld>
            <a:endParaRPr lang="en-GB" altLang="en-US" sz="1400"/>
          </a:p>
        </p:txBody>
      </p:sp>
      <p:sp>
        <p:nvSpPr>
          <p:cNvPr id="41987" name="Rectângulo 4">
            <a:extLst>
              <a:ext uri="{FF2B5EF4-FFF2-40B4-BE49-F238E27FC236}">
                <a16:creationId xmlns:a16="http://schemas.microsoft.com/office/drawing/2014/main" id="{1034E9CB-8934-48ED-BD66-F02B178F595C}"/>
              </a:ext>
            </a:extLst>
          </p:cNvPr>
          <p:cNvSpPr>
            <a:spLocks noChangeArrowheads="1"/>
          </p:cNvSpPr>
          <p:nvPr/>
        </p:nvSpPr>
        <p:spPr bwMode="auto">
          <a:xfrm>
            <a:off x="1189038" y="5084763"/>
            <a:ext cx="7199312"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dirty="0">
                <a:hlinkClick r:id="rId2"/>
              </a:rPr>
              <a:t>https://www.youtube.com/watch?v=bSycdIx-C48</a:t>
            </a:r>
            <a:endParaRPr lang="pt-PT" altLang="pt-PT" sz="1600" b="0" dirty="0"/>
          </a:p>
          <a:p>
            <a:pPr eaLnBrk="1" hangingPunct="1">
              <a:spcBef>
                <a:spcPct val="0"/>
              </a:spcBef>
              <a:buFontTx/>
              <a:buNone/>
            </a:pPr>
            <a:endParaRPr lang="pt-PT" altLang="pt-PT" sz="1600" b="0" dirty="0"/>
          </a:p>
          <a:p>
            <a:pPr eaLnBrk="1" hangingPunct="1">
              <a:spcBef>
                <a:spcPct val="0"/>
              </a:spcBef>
              <a:buFontTx/>
              <a:buNone/>
            </a:pPr>
            <a:r>
              <a:rPr lang="en-US" altLang="pt-PT" sz="1800" b="0" dirty="0"/>
              <a:t>How we remember and forget - Crash Course Psychology #14</a:t>
            </a:r>
            <a:endParaRPr lang="pt-PT" altLang="pt-PT" sz="1800" dirty="0"/>
          </a:p>
          <a:p>
            <a:pPr eaLnBrk="1" hangingPunct="1">
              <a:spcBef>
                <a:spcPct val="0"/>
              </a:spcBef>
              <a:buFontTx/>
              <a:buNone/>
            </a:pPr>
            <a:endParaRPr lang="en-US" altLang="pt-PT" sz="2000" b="0" dirty="0"/>
          </a:p>
          <a:p>
            <a:pPr eaLnBrk="1" hangingPunct="1">
              <a:spcBef>
                <a:spcPct val="0"/>
              </a:spcBef>
              <a:buFontTx/>
              <a:buNone/>
            </a:pPr>
            <a:r>
              <a:rPr lang="pt-PT" altLang="pt-PT" sz="1600" b="0" dirty="0">
                <a:hlinkClick r:id="rId3"/>
              </a:rPr>
              <a:t>https://www.youtube.com/watch?v=HVWbrNls-Kw</a:t>
            </a:r>
            <a:endParaRPr lang="pt-PT" altLang="pt-PT" sz="1600" b="0" dirty="0"/>
          </a:p>
          <a:p>
            <a:pPr eaLnBrk="1" hangingPunct="1">
              <a:spcBef>
                <a:spcPct val="0"/>
              </a:spcBef>
              <a:buFontTx/>
              <a:buNone/>
            </a:pPr>
            <a:endParaRPr lang="pt-PT" altLang="pt-PT" sz="1600" b="0" dirty="0"/>
          </a:p>
          <a:p>
            <a:pPr eaLnBrk="1" hangingPunct="1">
              <a:spcBef>
                <a:spcPct val="0"/>
              </a:spcBef>
              <a:buFontTx/>
              <a:buNone/>
            </a:pPr>
            <a:endParaRPr lang="pt-PT" altLang="pt-PT" sz="1800" dirty="0"/>
          </a:p>
        </p:txBody>
      </p:sp>
      <p:sp>
        <p:nvSpPr>
          <p:cNvPr id="41988" name="Rectângulo 5">
            <a:extLst>
              <a:ext uri="{FF2B5EF4-FFF2-40B4-BE49-F238E27FC236}">
                <a16:creationId xmlns:a16="http://schemas.microsoft.com/office/drawing/2014/main" id="{28786353-A618-4030-8FA9-07A0DE7FF06C}"/>
              </a:ext>
            </a:extLst>
          </p:cNvPr>
          <p:cNvSpPr>
            <a:spLocks noChangeArrowheads="1"/>
          </p:cNvSpPr>
          <p:nvPr/>
        </p:nvSpPr>
        <p:spPr bwMode="auto">
          <a:xfrm>
            <a:off x="1139825" y="4508500"/>
            <a:ext cx="662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b="0"/>
              <a:t>How we make memories - Crash Course Psychology #13</a:t>
            </a:r>
            <a:endParaRPr lang="pt-PT" altLang="pt-PT" sz="1800"/>
          </a:p>
        </p:txBody>
      </p:sp>
      <p:pic>
        <p:nvPicPr>
          <p:cNvPr id="41989" name="Picture 2">
            <a:extLst>
              <a:ext uri="{FF2B5EF4-FFF2-40B4-BE49-F238E27FC236}">
                <a16:creationId xmlns:a16="http://schemas.microsoft.com/office/drawing/2014/main" id="{E8E36755-E85B-4CD0-82F4-3962F91430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492" t="21037" r="44908" b="33556"/>
          <a:stretch>
            <a:fillRect/>
          </a:stretch>
        </p:blipFill>
        <p:spPr bwMode="auto">
          <a:xfrm>
            <a:off x="1331913" y="836613"/>
            <a:ext cx="6192837" cy="347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2A9F47B8-6E46-4ADD-A8F1-A72DA6B6DFE5}"/>
              </a:ext>
            </a:extLst>
          </p:cNvPr>
          <p:cNvSpPr>
            <a:spLocks noGrp="1" noChangeArrowheads="1"/>
          </p:cNvSpPr>
          <p:nvPr>
            <p:ph type="title"/>
          </p:nvPr>
        </p:nvSpPr>
        <p:spPr>
          <a:xfrm>
            <a:off x="179388" y="333375"/>
            <a:ext cx="9144000" cy="620713"/>
          </a:xfrm>
        </p:spPr>
        <p:txBody>
          <a:bodyPr/>
          <a:lstStyle/>
          <a:p>
            <a:pPr algn="l"/>
            <a:r>
              <a:rPr lang="en-US" altLang="en-US" sz="2400" b="1"/>
              <a:t> Memory</a:t>
            </a:r>
            <a:endParaRPr lang="pt-PT" altLang="en-US" sz="2400" b="1"/>
          </a:p>
        </p:txBody>
      </p:sp>
      <p:sp>
        <p:nvSpPr>
          <p:cNvPr id="43011" name="Content Placeholder 2">
            <a:extLst>
              <a:ext uri="{FF2B5EF4-FFF2-40B4-BE49-F238E27FC236}">
                <a16:creationId xmlns:a16="http://schemas.microsoft.com/office/drawing/2014/main" id="{6AD7A0EF-D56D-46D4-8F09-6CBF9DDC6E7C}"/>
              </a:ext>
            </a:extLst>
          </p:cNvPr>
          <p:cNvSpPr>
            <a:spLocks noGrp="1" noChangeArrowheads="1"/>
          </p:cNvSpPr>
          <p:nvPr>
            <p:ph idx="1"/>
          </p:nvPr>
        </p:nvSpPr>
        <p:spPr/>
        <p:txBody>
          <a:bodyPr/>
          <a:lstStyle/>
          <a:p>
            <a:r>
              <a:rPr lang="en-US" altLang="en-US" sz="2000" dirty="0"/>
              <a:t>The Atkinson–Shiffrin model (1968) memory three components:</a:t>
            </a:r>
            <a:endParaRPr lang="pt-PT" altLang="en-US" sz="2000" dirty="0"/>
          </a:p>
          <a:p>
            <a:pPr lvl="1"/>
            <a:r>
              <a:rPr lang="en-US" altLang="en-US" sz="2000" dirty="0"/>
              <a:t>Sensory memory / iconic memory,  very short</a:t>
            </a:r>
          </a:p>
          <a:p>
            <a:pPr lvl="2"/>
            <a:r>
              <a:rPr lang="en-US" altLang="en-US" sz="2000" dirty="0"/>
              <a:t>A few seconds</a:t>
            </a:r>
          </a:p>
          <a:p>
            <a:pPr lvl="1"/>
            <a:r>
              <a:rPr lang="en-US" altLang="en-US" sz="2000" dirty="0"/>
              <a:t>Short-term memory / working memory</a:t>
            </a:r>
          </a:p>
          <a:p>
            <a:pPr lvl="2"/>
            <a:r>
              <a:rPr lang="en-US" altLang="en-US" sz="2000" dirty="0"/>
              <a:t>+/- 18 seconds, 7+/-2 items</a:t>
            </a:r>
          </a:p>
          <a:p>
            <a:pPr lvl="1"/>
            <a:r>
              <a:rPr lang="en-US" altLang="en-US" sz="2000" dirty="0"/>
              <a:t>Long-term memory</a:t>
            </a:r>
          </a:p>
          <a:p>
            <a:pPr lvl="2"/>
            <a:r>
              <a:rPr lang="en-US" altLang="en-US" sz="2000" dirty="0"/>
              <a:t>~Infinite capacity</a:t>
            </a:r>
            <a:endParaRPr lang="en-US" altLang="en-US" dirty="0"/>
          </a:p>
        </p:txBody>
      </p:sp>
      <p:sp>
        <p:nvSpPr>
          <p:cNvPr id="43012" name="Slide Number Placeholder 3">
            <a:extLst>
              <a:ext uri="{FF2B5EF4-FFF2-40B4-BE49-F238E27FC236}">
                <a16:creationId xmlns:a16="http://schemas.microsoft.com/office/drawing/2014/main" id="{EB7E0D7B-86AE-485C-9CE5-DDF3A67F0E2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99AA598-6016-426E-B3DE-6BFC8E9C191E}" type="slidenum">
              <a:rPr lang="en-US" altLang="en-US" sz="1400" smtClean="0">
                <a:solidFill>
                  <a:schemeClr val="bg1"/>
                </a:solidFill>
              </a:rPr>
              <a:pPr>
                <a:spcBef>
                  <a:spcPct val="0"/>
                </a:spcBef>
                <a:buFontTx/>
                <a:buNone/>
              </a:pPr>
              <a:t>31</a:t>
            </a:fld>
            <a:endParaRPr lang="en-US" altLang="en-US" sz="1400">
              <a:solidFill>
                <a:schemeClr val="bg1"/>
              </a:solidFill>
            </a:endParaRPr>
          </a:p>
        </p:txBody>
      </p:sp>
      <p:pic>
        <p:nvPicPr>
          <p:cNvPr id="43013" name="Picture 3">
            <a:extLst>
              <a:ext uri="{FF2B5EF4-FFF2-40B4-BE49-F238E27FC236}">
                <a16:creationId xmlns:a16="http://schemas.microsoft.com/office/drawing/2014/main" id="{74CC7890-653F-478B-AF3D-82B60F73A5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60000">
            <a:off x="550863" y="4864100"/>
            <a:ext cx="7729537"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54401DC6-D05D-4CD6-8B56-77E33BCA9B3C}"/>
              </a:ext>
            </a:extLst>
          </p:cNvPr>
          <p:cNvSpPr>
            <a:spLocks noGrp="1" noChangeArrowheads="1"/>
          </p:cNvSpPr>
          <p:nvPr>
            <p:ph idx="1"/>
          </p:nvPr>
        </p:nvSpPr>
        <p:spPr>
          <a:xfrm>
            <a:off x="539750" y="1557338"/>
            <a:ext cx="8229600" cy="4525962"/>
          </a:xfrm>
        </p:spPr>
        <p:txBody>
          <a:bodyPr/>
          <a:lstStyle/>
          <a:p>
            <a:r>
              <a:rPr lang="en-US" altLang="en-US" sz="2000"/>
              <a:t>Working memory: </a:t>
            </a:r>
          </a:p>
          <a:p>
            <a:pPr lvl="1"/>
            <a:r>
              <a:rPr lang="en-US" altLang="en-US" sz="2000"/>
              <a:t>Mental calculus (6*35) </a:t>
            </a:r>
          </a:p>
          <a:p>
            <a:pPr lvl="1"/>
            <a:r>
              <a:rPr lang="en-US" altLang="en-US" sz="2000"/>
              <a:t>Reading (understand a sentence)</a:t>
            </a:r>
          </a:p>
          <a:p>
            <a:pPr lvl="1"/>
            <a:r>
              <a:rPr lang="en-US" altLang="en-US" sz="2000"/>
              <a:t> …</a:t>
            </a:r>
          </a:p>
          <a:p>
            <a:r>
              <a:rPr lang="en-US" altLang="en-US" sz="2000"/>
              <a:t>Characteristics:</a:t>
            </a:r>
          </a:p>
          <a:p>
            <a:pPr lvl="1"/>
            <a:r>
              <a:rPr lang="en-US" altLang="en-US" sz="2000"/>
              <a:t>Quick access +/- 70ms</a:t>
            </a:r>
          </a:p>
          <a:p>
            <a:pPr lvl="1"/>
            <a:r>
              <a:rPr lang="en-US" altLang="en-US" sz="2000"/>
              <a:t>Quick forget </a:t>
            </a:r>
          </a:p>
          <a:p>
            <a:pPr lvl="1"/>
            <a:r>
              <a:rPr lang="en-US" altLang="en-US" sz="2000"/>
              <a:t>Limited capacity 7 +/- 2 </a:t>
            </a:r>
          </a:p>
          <a:p>
            <a:pPr lvl="1"/>
            <a:endParaRPr lang="en-US" altLang="en-US" sz="2000"/>
          </a:p>
          <a:p>
            <a:pPr lvl="1"/>
            <a:r>
              <a:rPr lang="en-US" altLang="en-US" sz="2000"/>
              <a:t>Can be increased with </a:t>
            </a:r>
            <a:r>
              <a:rPr lang="en-US" altLang="en-US" sz="2000">
                <a:solidFill>
                  <a:srgbClr val="FF0000"/>
                </a:solidFill>
              </a:rPr>
              <a:t>chunking, </a:t>
            </a:r>
            <a:r>
              <a:rPr lang="en-US" altLang="en-US" sz="2000"/>
              <a:t>to enter long-term memory</a:t>
            </a:r>
            <a:endParaRPr lang="en-US" altLang="en-US" sz="2000">
              <a:solidFill>
                <a:srgbClr val="FF0000"/>
              </a:solidFill>
            </a:endParaRPr>
          </a:p>
          <a:p>
            <a:endParaRPr lang="en-US" altLang="en-US" sz="2000"/>
          </a:p>
        </p:txBody>
      </p:sp>
      <p:sp>
        <p:nvSpPr>
          <p:cNvPr id="44035" name="Slide Number Placeholder 3">
            <a:extLst>
              <a:ext uri="{FF2B5EF4-FFF2-40B4-BE49-F238E27FC236}">
                <a16:creationId xmlns:a16="http://schemas.microsoft.com/office/drawing/2014/main" id="{4DCD916F-5CCC-4502-BFB6-9FC35BA847D4}"/>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228F24C-0B9B-4E2A-989A-2F94A468AD36}" type="slidenum">
              <a:rPr lang="en-US" altLang="en-US" sz="1400" smtClean="0">
                <a:solidFill>
                  <a:schemeClr val="bg1"/>
                </a:solidFill>
              </a:rPr>
              <a:pPr>
                <a:spcBef>
                  <a:spcPct val="0"/>
                </a:spcBef>
                <a:buFontTx/>
                <a:buNone/>
              </a:pPr>
              <a:t>32</a:t>
            </a:fld>
            <a:endParaRPr lang="en-US" altLang="en-US" sz="1400">
              <a:solidFill>
                <a:schemeClr val="bg1"/>
              </a:solidFill>
            </a:endParaRPr>
          </a:p>
        </p:txBody>
      </p:sp>
      <p:sp>
        <p:nvSpPr>
          <p:cNvPr id="44036" name="Rectangle 2">
            <a:extLst>
              <a:ext uri="{FF2B5EF4-FFF2-40B4-BE49-F238E27FC236}">
                <a16:creationId xmlns:a16="http://schemas.microsoft.com/office/drawing/2014/main" id="{AEF95996-E38E-47E3-A4A0-CD336AB68435}"/>
              </a:ext>
            </a:extLst>
          </p:cNvPr>
          <p:cNvSpPr>
            <a:spLocks noGrp="1" noChangeArrowheads="1"/>
          </p:cNvSpPr>
          <p:nvPr>
            <p:ph type="title"/>
          </p:nvPr>
        </p:nvSpPr>
        <p:spPr/>
        <p:txBody>
          <a:bodyPr/>
          <a:lstStyle/>
          <a:p>
            <a:pPr algn="l" eaLnBrk="1" hangingPunct="1"/>
            <a:r>
              <a:rPr lang="en-US" altLang="en-US" sz="2400" b="1"/>
              <a:t>Short Term Memory (STM) / Working memory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84BBF9A8-F24F-4F07-96C0-441C70142E78}"/>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9816509-2841-4F3B-85AE-F4DFB564CD71}" type="slidenum">
              <a:rPr lang="en-GB" altLang="en-US" sz="1400" smtClean="0"/>
              <a:pPr>
                <a:spcBef>
                  <a:spcPct val="0"/>
                </a:spcBef>
                <a:buFontTx/>
                <a:buNone/>
              </a:pPr>
              <a:t>33</a:t>
            </a:fld>
            <a:endParaRPr lang="en-GB" altLang="en-US" sz="1400"/>
          </a:p>
        </p:txBody>
      </p:sp>
      <p:sp>
        <p:nvSpPr>
          <p:cNvPr id="46083" name="Rectangle 2">
            <a:extLst>
              <a:ext uri="{FF2B5EF4-FFF2-40B4-BE49-F238E27FC236}">
                <a16:creationId xmlns:a16="http://schemas.microsoft.com/office/drawing/2014/main" id="{90592C5A-1324-4D5E-AD21-269A6597EAB7}"/>
              </a:ext>
            </a:extLst>
          </p:cNvPr>
          <p:cNvSpPr>
            <a:spLocks noGrp="1" noChangeArrowheads="1"/>
          </p:cNvSpPr>
          <p:nvPr>
            <p:ph type="title"/>
          </p:nvPr>
        </p:nvSpPr>
        <p:spPr/>
        <p:txBody>
          <a:bodyPr/>
          <a:lstStyle/>
          <a:p>
            <a:pPr algn="l" eaLnBrk="1" hangingPunct="1"/>
            <a:r>
              <a:rPr lang="en-US" altLang="en-US" sz="2400" b="1" dirty="0"/>
              <a:t>Short Term Memory (STM) / Working memory</a:t>
            </a:r>
          </a:p>
        </p:txBody>
      </p:sp>
      <p:sp>
        <p:nvSpPr>
          <p:cNvPr id="14340" name="Rectangle 3">
            <a:extLst>
              <a:ext uri="{FF2B5EF4-FFF2-40B4-BE49-F238E27FC236}">
                <a16:creationId xmlns:a16="http://schemas.microsoft.com/office/drawing/2014/main" id="{CE50399F-DE48-46FB-9413-6241223F5921}"/>
              </a:ext>
            </a:extLst>
          </p:cNvPr>
          <p:cNvSpPr>
            <a:spLocks noGrp="1" noChangeArrowheads="1"/>
          </p:cNvSpPr>
          <p:nvPr>
            <p:ph type="body" idx="1"/>
          </p:nvPr>
        </p:nvSpPr>
        <p:spPr/>
        <p:txBody>
          <a:bodyPr/>
          <a:lstStyle/>
          <a:p>
            <a:pPr eaLnBrk="1" hangingPunct="1">
              <a:buFontTx/>
              <a:buNone/>
              <a:defRPr/>
            </a:pPr>
            <a:r>
              <a:rPr lang="pt-PT" sz="1800" dirty="0"/>
              <a:t>a few characteristics:</a:t>
            </a:r>
          </a:p>
          <a:p>
            <a:pPr eaLnBrk="1" hangingPunct="1">
              <a:buFontTx/>
              <a:buNone/>
              <a:defRPr/>
            </a:pPr>
            <a:endParaRPr lang="pt-PT" sz="1800" dirty="0"/>
          </a:p>
          <a:p>
            <a:pPr eaLnBrk="1" hangingPunct="1">
              <a:buFontTx/>
              <a:buChar char="-"/>
              <a:defRPr/>
            </a:pPr>
            <a:r>
              <a:rPr lang="en-US" sz="1800" dirty="0"/>
              <a:t>Short duration:  a few seconds (&lt;30s)</a:t>
            </a:r>
          </a:p>
          <a:p>
            <a:pPr eaLnBrk="1" hangingPunct="1">
              <a:buFontTx/>
              <a:buChar char="-"/>
              <a:defRPr/>
            </a:pPr>
            <a:endParaRPr lang="en-US" sz="1800" dirty="0"/>
          </a:p>
          <a:p>
            <a:pPr eaLnBrk="1" hangingPunct="1">
              <a:buFontTx/>
              <a:buChar char="-"/>
              <a:defRPr/>
            </a:pPr>
            <a:r>
              <a:rPr lang="en-US" sz="1800" dirty="0"/>
              <a:t>Limited capacity:  7+2 elements</a:t>
            </a:r>
          </a:p>
          <a:p>
            <a:pPr eaLnBrk="1" hangingPunct="1">
              <a:buFontTx/>
              <a:buChar char="-"/>
              <a:defRPr/>
            </a:pPr>
            <a:endParaRPr lang="en-US" sz="1800" dirty="0"/>
          </a:p>
          <a:p>
            <a:pPr marL="0" indent="0" eaLnBrk="1" hangingPunct="1">
              <a:buFontTx/>
              <a:buNone/>
              <a:defRPr/>
            </a:pPr>
            <a:r>
              <a:rPr lang="en-US" sz="1800" dirty="0"/>
              <a:t>  what is an element?</a:t>
            </a:r>
          </a:p>
        </p:txBody>
      </p:sp>
      <p:cxnSp>
        <p:nvCxnSpPr>
          <p:cNvPr id="3" name="Straight Connector 2">
            <a:extLst>
              <a:ext uri="{FF2B5EF4-FFF2-40B4-BE49-F238E27FC236}">
                <a16:creationId xmlns:a16="http://schemas.microsoft.com/office/drawing/2014/main" id="{D2F734A7-0FC2-40CC-A21F-E57B84E1A27A}"/>
              </a:ext>
            </a:extLst>
          </p:cNvPr>
          <p:cNvCxnSpPr/>
          <p:nvPr/>
        </p:nvCxnSpPr>
        <p:spPr bwMode="auto">
          <a:xfrm>
            <a:off x="2879725" y="3213100"/>
            <a:ext cx="107950" cy="0"/>
          </a:xfrm>
          <a:prstGeom prst="line">
            <a:avLst/>
          </a:prstGeom>
          <a:ln>
            <a:headEnd type="none" w="med" len="med"/>
            <a:tailEnd type="none" w="med" len="med"/>
          </a:ln>
          <a:extLst/>
        </p:spPr>
        <p:style>
          <a:lnRef idx="2">
            <a:schemeClr val="accent2"/>
          </a:lnRef>
          <a:fillRef idx="0">
            <a:schemeClr val="accent2"/>
          </a:fillRef>
          <a:effectRef idx="1">
            <a:schemeClr val="accent2"/>
          </a:effectRef>
          <a:fontRef idx="minor">
            <a:schemeClr val="tx1"/>
          </a:fontRef>
        </p:style>
      </p:cxnSp>
      <p:sp>
        <p:nvSpPr>
          <p:cNvPr id="46086" name="TextBox 9">
            <a:extLst>
              <a:ext uri="{FF2B5EF4-FFF2-40B4-BE49-F238E27FC236}">
                <a16:creationId xmlns:a16="http://schemas.microsoft.com/office/drawing/2014/main" id="{31B16238-0E0F-4D7A-BEA1-C9871D8F0EDA}"/>
              </a:ext>
            </a:extLst>
          </p:cNvPr>
          <p:cNvSpPr txBox="1">
            <a:spLocks noChangeArrowheads="1"/>
          </p:cNvSpPr>
          <p:nvPr/>
        </p:nvSpPr>
        <p:spPr bwMode="auto">
          <a:xfrm>
            <a:off x="684213" y="4365625"/>
            <a:ext cx="70707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dirty="0" err="1"/>
              <a:t>example</a:t>
            </a:r>
            <a:r>
              <a:rPr lang="pt-PT" altLang="en-US" sz="1800" b="0" dirty="0"/>
              <a:t>:   </a:t>
            </a:r>
            <a:r>
              <a:rPr lang="pt-PT" altLang="en-US" sz="1800" b="0" dirty="0" err="1"/>
              <a:t>try</a:t>
            </a:r>
            <a:r>
              <a:rPr lang="pt-PT" altLang="en-US" sz="1800" b="0" dirty="0"/>
              <a:t> to memorize </a:t>
            </a:r>
            <a:r>
              <a:rPr lang="pt-PT" altLang="en-US" sz="1800" b="0" dirty="0" err="1"/>
              <a:t>the</a:t>
            </a:r>
            <a:r>
              <a:rPr lang="pt-PT" altLang="en-US" sz="1800" b="0" dirty="0"/>
              <a:t> </a:t>
            </a:r>
            <a:r>
              <a:rPr lang="pt-PT" altLang="en-US" sz="1800" b="0" dirty="0" err="1"/>
              <a:t>following</a:t>
            </a:r>
            <a:r>
              <a:rPr lang="pt-PT" altLang="en-US" sz="1800" b="0" dirty="0"/>
              <a:t> </a:t>
            </a:r>
            <a:r>
              <a:rPr lang="pt-PT" altLang="en-US" sz="1800" b="0" dirty="0" err="1"/>
              <a:t>numbers</a:t>
            </a:r>
            <a:r>
              <a:rPr lang="pt-PT" altLang="en-US" sz="1800" b="0" dirty="0"/>
              <a:t>     649325401741</a:t>
            </a:r>
          </a:p>
          <a:p>
            <a:pPr eaLnBrk="1" hangingPunct="1">
              <a:spcBef>
                <a:spcPct val="0"/>
              </a:spcBef>
              <a:buFontTx/>
              <a:buNone/>
            </a:pPr>
            <a:r>
              <a:rPr lang="pt-PT" altLang="en-US" sz="1800" b="0" dirty="0"/>
              <a:t>                                                                                    111122223333</a:t>
            </a:r>
          </a:p>
          <a:p>
            <a:pPr eaLnBrk="1" hangingPunct="1">
              <a:spcBef>
                <a:spcPct val="0"/>
              </a:spcBef>
              <a:buFontTx/>
              <a:buNone/>
            </a:pPr>
            <a:r>
              <a:rPr lang="pt-PT" altLang="en-US" sz="1800" b="0" dirty="0"/>
              <a:t>                  </a:t>
            </a:r>
            <a:r>
              <a:rPr lang="pt-PT" altLang="en-US" sz="1800" b="0" dirty="0" err="1"/>
              <a:t>which</a:t>
            </a:r>
            <a:r>
              <a:rPr lang="pt-PT" altLang="en-US" sz="1800" b="0" dirty="0"/>
              <a:t> </a:t>
            </a:r>
            <a:r>
              <a:rPr lang="pt-PT" altLang="en-US" sz="1800" b="0" dirty="0" err="1"/>
              <a:t>is</a:t>
            </a:r>
            <a:r>
              <a:rPr lang="pt-PT" altLang="en-US" sz="1800" b="0" dirty="0"/>
              <a:t> </a:t>
            </a:r>
            <a:r>
              <a:rPr lang="pt-PT" altLang="en-US" sz="1800" b="0" dirty="0" err="1"/>
              <a:t>easier</a:t>
            </a:r>
            <a:r>
              <a:rPr lang="pt-PT" altLang="en-US" sz="1800" b="0" dirty="0"/>
              <a:t>?</a:t>
            </a:r>
          </a:p>
          <a:p>
            <a:pPr eaLnBrk="1" hangingPunct="1">
              <a:spcBef>
                <a:spcPct val="0"/>
              </a:spcBef>
              <a:buFontTx/>
              <a:buNone/>
            </a:pPr>
            <a:endParaRPr lang="pt-PT" altLang="en-US" sz="1800" b="0" dirty="0"/>
          </a:p>
          <a:p>
            <a:pPr eaLnBrk="1" hangingPunct="1">
              <a:spcBef>
                <a:spcPct val="0"/>
              </a:spcBef>
              <a:buFontTx/>
              <a:buNone/>
            </a:pPr>
            <a:r>
              <a:rPr lang="pt-PT" altLang="en-US" sz="1800" b="0" dirty="0"/>
              <a:t>	    and </a:t>
            </a:r>
            <a:r>
              <a:rPr lang="pt-PT" altLang="en-US" sz="1800" b="0" dirty="0" err="1"/>
              <a:t>this</a:t>
            </a:r>
            <a:r>
              <a:rPr lang="pt-PT" altLang="en-US" sz="1800" b="0" dirty="0"/>
              <a:t> </a:t>
            </a:r>
            <a:r>
              <a:rPr lang="pt-PT" altLang="en-US" sz="1800" b="0" dirty="0" err="1"/>
              <a:t>one</a:t>
            </a:r>
            <a:r>
              <a:rPr lang="pt-PT" altLang="en-US" sz="1800" b="0" dirty="0"/>
              <a:t>: 351234370517 ?</a:t>
            </a:r>
          </a:p>
          <a:p>
            <a:pPr eaLnBrk="1" hangingPunct="1">
              <a:spcBef>
                <a:spcPct val="0"/>
              </a:spcBef>
              <a:buFontTx/>
              <a:buNone/>
            </a:pPr>
            <a:r>
              <a:rPr lang="pt-PT" altLang="en-US" sz="1800" b="0" dirty="0"/>
              <a:t> </a:t>
            </a:r>
          </a:p>
        </p:txBody>
      </p:sp>
      <p:pic>
        <p:nvPicPr>
          <p:cNvPr id="46087" name="Picture 7">
            <a:extLst>
              <a:ext uri="{FF2B5EF4-FFF2-40B4-BE49-F238E27FC236}">
                <a16:creationId xmlns:a16="http://schemas.microsoft.com/office/drawing/2014/main" id="{225F8693-4401-4A5C-840C-4A60C939D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1244600"/>
            <a:ext cx="3238500"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22712444-83B5-4062-B9A9-63D358132D38}"/>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279C37E-A35C-4070-9EA9-ACF56FF0C3ED}" type="slidenum">
              <a:rPr lang="en-GB" altLang="en-US" sz="1400" smtClean="0"/>
              <a:pPr>
                <a:spcBef>
                  <a:spcPct val="0"/>
                </a:spcBef>
                <a:buFontTx/>
                <a:buNone/>
              </a:pPr>
              <a:t>34</a:t>
            </a:fld>
            <a:endParaRPr lang="en-GB" altLang="en-US" sz="1400"/>
          </a:p>
        </p:txBody>
      </p:sp>
      <p:sp>
        <p:nvSpPr>
          <p:cNvPr id="47107" name="Rectangle 2">
            <a:extLst>
              <a:ext uri="{FF2B5EF4-FFF2-40B4-BE49-F238E27FC236}">
                <a16:creationId xmlns:a16="http://schemas.microsoft.com/office/drawing/2014/main" id="{43C9000A-DCF8-423A-AD46-FC325F9F2569}"/>
              </a:ext>
            </a:extLst>
          </p:cNvPr>
          <p:cNvSpPr>
            <a:spLocks noGrp="1" noChangeArrowheads="1"/>
          </p:cNvSpPr>
          <p:nvPr>
            <p:ph type="title"/>
          </p:nvPr>
        </p:nvSpPr>
        <p:spPr/>
        <p:txBody>
          <a:bodyPr/>
          <a:lstStyle/>
          <a:p>
            <a:pPr algn="l" eaLnBrk="1" hangingPunct="1"/>
            <a:r>
              <a:rPr lang="en-US" altLang="en-US" sz="2400" b="1"/>
              <a:t>Short Term/ working Memory (STM)</a:t>
            </a:r>
          </a:p>
        </p:txBody>
      </p:sp>
      <p:sp>
        <p:nvSpPr>
          <p:cNvPr id="47108" name="TextBox 9">
            <a:extLst>
              <a:ext uri="{FF2B5EF4-FFF2-40B4-BE49-F238E27FC236}">
                <a16:creationId xmlns:a16="http://schemas.microsoft.com/office/drawing/2014/main" id="{06646A9D-199F-41C8-8EED-CC074E3C9F8B}"/>
              </a:ext>
            </a:extLst>
          </p:cNvPr>
          <p:cNvSpPr txBox="1">
            <a:spLocks noChangeArrowheads="1"/>
          </p:cNvSpPr>
          <p:nvPr/>
        </p:nvSpPr>
        <p:spPr bwMode="auto">
          <a:xfrm>
            <a:off x="539750" y="1704975"/>
            <a:ext cx="5570538"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649325401741         12 digits</a:t>
            </a:r>
          </a:p>
          <a:p>
            <a:pPr eaLnBrk="1" hangingPunct="1">
              <a:spcBef>
                <a:spcPct val="0"/>
              </a:spcBef>
              <a:buFontTx/>
              <a:buNone/>
            </a:pPr>
            <a:endParaRPr lang="pt-PT" altLang="en-US" sz="1800" b="0"/>
          </a:p>
          <a:p>
            <a:pPr eaLnBrk="1" hangingPunct="1">
              <a:spcBef>
                <a:spcPct val="0"/>
              </a:spcBef>
              <a:buFontTx/>
              <a:buNone/>
            </a:pPr>
            <a:r>
              <a:rPr lang="pt-PT" altLang="en-US" sz="1800" b="0"/>
              <a:t>                                                                                    </a:t>
            </a:r>
          </a:p>
          <a:p>
            <a:pPr eaLnBrk="1" hangingPunct="1">
              <a:spcBef>
                <a:spcPct val="0"/>
              </a:spcBef>
              <a:buFontTx/>
              <a:buNone/>
            </a:pPr>
            <a:r>
              <a:rPr lang="pt-PT" altLang="en-US" sz="1800" b="0"/>
              <a:t>111122223333          3 digits and a rule</a:t>
            </a:r>
          </a:p>
          <a:p>
            <a:pPr eaLnBrk="1" hangingPunct="1">
              <a:spcBef>
                <a:spcPct val="0"/>
              </a:spcBef>
              <a:buFontTx/>
              <a:buNone/>
            </a:pPr>
            <a:endParaRPr lang="pt-PT" altLang="en-US" sz="1800" b="0"/>
          </a:p>
          <a:p>
            <a:pPr eaLnBrk="1" hangingPunct="1">
              <a:spcBef>
                <a:spcPct val="0"/>
              </a:spcBef>
              <a:buFontTx/>
              <a:buNone/>
            </a:pPr>
            <a:endParaRPr lang="pt-PT" altLang="en-US" sz="1800" b="0"/>
          </a:p>
          <a:p>
            <a:pPr eaLnBrk="1" hangingPunct="1">
              <a:spcBef>
                <a:spcPct val="0"/>
              </a:spcBef>
              <a:buFontTx/>
              <a:buNone/>
            </a:pPr>
            <a:endParaRPr lang="pt-PT" altLang="en-US" sz="1800" b="0"/>
          </a:p>
          <a:p>
            <a:pPr eaLnBrk="1" hangingPunct="1">
              <a:spcBef>
                <a:spcPct val="0"/>
              </a:spcBef>
              <a:buFontTx/>
              <a:buNone/>
            </a:pPr>
            <a:r>
              <a:rPr lang="pt-PT" altLang="en-US" sz="1800" b="0"/>
              <a:t>234370200              351 234  370  517</a:t>
            </a:r>
          </a:p>
          <a:p>
            <a:pPr eaLnBrk="1" hangingPunct="1">
              <a:spcBef>
                <a:spcPct val="0"/>
              </a:spcBef>
              <a:buFontTx/>
              <a:buNone/>
            </a:pPr>
            <a:r>
              <a:rPr lang="pt-PT" altLang="en-US" sz="1800" b="0"/>
              <a:t> </a:t>
            </a:r>
          </a:p>
        </p:txBody>
      </p:sp>
      <p:cxnSp>
        <p:nvCxnSpPr>
          <p:cNvPr id="47109" name="Straight Arrow Connector 3">
            <a:extLst>
              <a:ext uri="{FF2B5EF4-FFF2-40B4-BE49-F238E27FC236}">
                <a16:creationId xmlns:a16="http://schemas.microsoft.com/office/drawing/2014/main" id="{CA528980-7950-4669-8220-E16973008B89}"/>
              </a:ext>
            </a:extLst>
          </p:cNvPr>
          <p:cNvCxnSpPr>
            <a:cxnSpLocks noChangeShapeType="1"/>
          </p:cNvCxnSpPr>
          <p:nvPr/>
        </p:nvCxnSpPr>
        <p:spPr bwMode="auto">
          <a:xfrm>
            <a:off x="2347913" y="1916113"/>
            <a:ext cx="2889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10" name="Straight Arrow Connector 8">
            <a:extLst>
              <a:ext uri="{FF2B5EF4-FFF2-40B4-BE49-F238E27FC236}">
                <a16:creationId xmlns:a16="http://schemas.microsoft.com/office/drawing/2014/main" id="{08D386AB-B0DE-4D4E-8C92-48094DDF1B2D}"/>
              </a:ext>
            </a:extLst>
          </p:cNvPr>
          <p:cNvCxnSpPr>
            <a:cxnSpLocks noChangeShapeType="1"/>
          </p:cNvCxnSpPr>
          <p:nvPr/>
        </p:nvCxnSpPr>
        <p:spPr bwMode="auto">
          <a:xfrm>
            <a:off x="2347913" y="2708275"/>
            <a:ext cx="2889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111" name="TextBox 4">
            <a:extLst>
              <a:ext uri="{FF2B5EF4-FFF2-40B4-BE49-F238E27FC236}">
                <a16:creationId xmlns:a16="http://schemas.microsoft.com/office/drawing/2014/main" id="{867BC102-DDBB-4273-A76C-A3063610FB74}"/>
              </a:ext>
            </a:extLst>
          </p:cNvPr>
          <p:cNvSpPr txBox="1">
            <a:spLocks noChangeArrowheads="1"/>
          </p:cNvSpPr>
          <p:nvPr/>
        </p:nvSpPr>
        <p:spPr bwMode="auto">
          <a:xfrm>
            <a:off x="1666875" y="4403725"/>
            <a:ext cx="5421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Portugal  Aveiro   University area   IEETA building   </a:t>
            </a:r>
          </a:p>
        </p:txBody>
      </p:sp>
      <p:cxnSp>
        <p:nvCxnSpPr>
          <p:cNvPr id="47112" name="Straight Arrow Connector 6">
            <a:extLst>
              <a:ext uri="{FF2B5EF4-FFF2-40B4-BE49-F238E27FC236}">
                <a16:creationId xmlns:a16="http://schemas.microsoft.com/office/drawing/2014/main" id="{3C1B4277-E0AF-4576-8A8C-A562D0665968}"/>
              </a:ext>
            </a:extLst>
          </p:cNvPr>
          <p:cNvCxnSpPr>
            <a:cxnSpLocks noChangeShapeType="1"/>
          </p:cNvCxnSpPr>
          <p:nvPr/>
        </p:nvCxnSpPr>
        <p:spPr bwMode="auto">
          <a:xfrm flipH="1">
            <a:off x="2347913" y="4011613"/>
            <a:ext cx="423862" cy="28098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13" name="Straight Arrow Connector 10">
            <a:extLst>
              <a:ext uri="{FF2B5EF4-FFF2-40B4-BE49-F238E27FC236}">
                <a16:creationId xmlns:a16="http://schemas.microsoft.com/office/drawing/2014/main" id="{B746086B-7E16-4593-AD88-ED8BEAFE9613}"/>
              </a:ext>
            </a:extLst>
          </p:cNvPr>
          <p:cNvCxnSpPr>
            <a:cxnSpLocks noChangeShapeType="1"/>
          </p:cNvCxnSpPr>
          <p:nvPr/>
        </p:nvCxnSpPr>
        <p:spPr bwMode="auto">
          <a:xfrm flipH="1">
            <a:off x="3133725" y="4076700"/>
            <a:ext cx="193675" cy="280988"/>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14" name="Straight Arrow Connector 12">
            <a:extLst>
              <a:ext uri="{FF2B5EF4-FFF2-40B4-BE49-F238E27FC236}">
                <a16:creationId xmlns:a16="http://schemas.microsoft.com/office/drawing/2014/main" id="{1BB65F8D-B53E-4BF7-846C-B34D48A92EF6}"/>
              </a:ext>
            </a:extLst>
          </p:cNvPr>
          <p:cNvCxnSpPr>
            <a:cxnSpLocks noChangeShapeType="1"/>
          </p:cNvCxnSpPr>
          <p:nvPr/>
        </p:nvCxnSpPr>
        <p:spPr bwMode="auto">
          <a:xfrm>
            <a:off x="3779838" y="4051300"/>
            <a:ext cx="287337" cy="280988"/>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15" name="Straight Arrow Connector 14">
            <a:extLst>
              <a:ext uri="{FF2B5EF4-FFF2-40B4-BE49-F238E27FC236}">
                <a16:creationId xmlns:a16="http://schemas.microsoft.com/office/drawing/2014/main" id="{D8A05AD1-BCE9-4F88-8AAE-5B2730DC96BB}"/>
              </a:ext>
            </a:extLst>
          </p:cNvPr>
          <p:cNvCxnSpPr>
            <a:cxnSpLocks noChangeShapeType="1"/>
          </p:cNvCxnSpPr>
          <p:nvPr/>
        </p:nvCxnSpPr>
        <p:spPr bwMode="auto">
          <a:xfrm>
            <a:off x="4140200" y="3933825"/>
            <a:ext cx="1485900" cy="37306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116" name="TextBox 17">
            <a:extLst>
              <a:ext uri="{FF2B5EF4-FFF2-40B4-BE49-F238E27FC236}">
                <a16:creationId xmlns:a16="http://schemas.microsoft.com/office/drawing/2014/main" id="{DF19DAB3-9331-4BB1-872E-DC0CBFA5583D}"/>
              </a:ext>
            </a:extLst>
          </p:cNvPr>
          <p:cNvSpPr txBox="1">
            <a:spLocks noChangeArrowheads="1"/>
          </p:cNvSpPr>
          <p:nvPr/>
        </p:nvSpPr>
        <p:spPr bwMode="auto">
          <a:xfrm>
            <a:off x="539750" y="5067300"/>
            <a:ext cx="5168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en-US" sz="1800" b="0"/>
              <a:t>These numbers correspond to different “chunks” </a:t>
            </a:r>
          </a:p>
        </p:txBody>
      </p:sp>
      <p:sp>
        <p:nvSpPr>
          <p:cNvPr id="47117" name="Rectangle 18">
            <a:extLst>
              <a:ext uri="{FF2B5EF4-FFF2-40B4-BE49-F238E27FC236}">
                <a16:creationId xmlns:a16="http://schemas.microsoft.com/office/drawing/2014/main" id="{4384EC74-DEE5-4ED3-B075-D3778981D5FA}"/>
              </a:ext>
            </a:extLst>
          </p:cNvPr>
          <p:cNvSpPr>
            <a:spLocks noChangeArrowheads="1"/>
          </p:cNvSpPr>
          <p:nvPr/>
        </p:nvSpPr>
        <p:spPr bwMode="auto">
          <a:xfrm>
            <a:off x="615950" y="5662613"/>
            <a:ext cx="7556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Chunk</a:t>
            </a:r>
            <a:r>
              <a:rPr lang="en-US" altLang="en-US" sz="1800" b="0"/>
              <a:t>: the largest meaningful unit that a person recognizes; depends on the person knowledge</a:t>
            </a:r>
            <a:endParaRPr lang="pt-PT" altLang="en-US" sz="1800" b="0"/>
          </a:p>
        </p:txBody>
      </p:sp>
      <p:cxnSp>
        <p:nvCxnSpPr>
          <p:cNvPr id="47118" name="Conexão recta 3">
            <a:extLst>
              <a:ext uri="{FF2B5EF4-FFF2-40B4-BE49-F238E27FC236}">
                <a16:creationId xmlns:a16="http://schemas.microsoft.com/office/drawing/2014/main" id="{EBAA3AC4-1AD5-4E43-8726-678C62267B53}"/>
              </a:ext>
            </a:extLst>
          </p:cNvPr>
          <p:cNvCxnSpPr>
            <a:cxnSpLocks noChangeShapeType="1"/>
          </p:cNvCxnSpPr>
          <p:nvPr/>
        </p:nvCxnSpPr>
        <p:spPr bwMode="auto">
          <a:xfrm>
            <a:off x="2636838" y="3933825"/>
            <a:ext cx="35083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19" name="Conexão recta 16">
            <a:extLst>
              <a:ext uri="{FF2B5EF4-FFF2-40B4-BE49-F238E27FC236}">
                <a16:creationId xmlns:a16="http://schemas.microsoft.com/office/drawing/2014/main" id="{2CAE42A0-1DA7-4BF2-82E3-94E00BED41CD}"/>
              </a:ext>
            </a:extLst>
          </p:cNvPr>
          <p:cNvCxnSpPr>
            <a:cxnSpLocks noChangeShapeType="1"/>
          </p:cNvCxnSpPr>
          <p:nvPr/>
        </p:nvCxnSpPr>
        <p:spPr bwMode="auto">
          <a:xfrm>
            <a:off x="3133725" y="3927475"/>
            <a:ext cx="350838"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20" name="Conexão recta 17">
            <a:extLst>
              <a:ext uri="{FF2B5EF4-FFF2-40B4-BE49-F238E27FC236}">
                <a16:creationId xmlns:a16="http://schemas.microsoft.com/office/drawing/2014/main" id="{C2D78574-1ED6-4219-ABDC-6570DA09AE3A}"/>
              </a:ext>
            </a:extLst>
          </p:cNvPr>
          <p:cNvCxnSpPr>
            <a:cxnSpLocks noChangeShapeType="1"/>
          </p:cNvCxnSpPr>
          <p:nvPr/>
        </p:nvCxnSpPr>
        <p:spPr bwMode="auto">
          <a:xfrm>
            <a:off x="3571875" y="3933825"/>
            <a:ext cx="350838"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21" name="Conexão recta 18">
            <a:extLst>
              <a:ext uri="{FF2B5EF4-FFF2-40B4-BE49-F238E27FC236}">
                <a16:creationId xmlns:a16="http://schemas.microsoft.com/office/drawing/2014/main" id="{0C25062F-F238-4EAB-8367-C743DAE99A49}"/>
              </a:ext>
            </a:extLst>
          </p:cNvPr>
          <p:cNvCxnSpPr>
            <a:cxnSpLocks noChangeShapeType="1"/>
          </p:cNvCxnSpPr>
          <p:nvPr/>
        </p:nvCxnSpPr>
        <p:spPr bwMode="auto">
          <a:xfrm flipV="1">
            <a:off x="4067175" y="3924300"/>
            <a:ext cx="200025" cy="317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e Conteúdo 2">
            <a:extLst>
              <a:ext uri="{FF2B5EF4-FFF2-40B4-BE49-F238E27FC236}">
                <a16:creationId xmlns:a16="http://schemas.microsoft.com/office/drawing/2014/main" id="{DB8226BC-53D4-45B7-866C-125CB146E994}"/>
              </a:ext>
            </a:extLst>
          </p:cNvPr>
          <p:cNvSpPr>
            <a:spLocks noGrp="1"/>
          </p:cNvSpPr>
          <p:nvPr>
            <p:ph idx="1"/>
          </p:nvPr>
        </p:nvSpPr>
        <p:spPr>
          <a:xfrm>
            <a:off x="460375" y="990600"/>
            <a:ext cx="8229600" cy="4525963"/>
          </a:xfrm>
        </p:spPr>
        <p:txBody>
          <a:bodyPr/>
          <a:lstStyle/>
          <a:p>
            <a:pPr>
              <a:defRPr/>
            </a:pPr>
            <a:r>
              <a:rPr lang="en-US" sz="2000" b="1" dirty="0"/>
              <a:t>Chunking</a:t>
            </a:r>
            <a:r>
              <a:rPr lang="en-US" sz="2000" dirty="0"/>
              <a:t> refers to an approach for making more efficient use of short-term memory by grouping information</a:t>
            </a:r>
          </a:p>
          <a:p>
            <a:pPr marL="0" indent="0">
              <a:buFontTx/>
              <a:buNone/>
              <a:defRPr/>
            </a:pPr>
            <a:endParaRPr lang="en-US" sz="2000" dirty="0"/>
          </a:p>
          <a:p>
            <a:pPr>
              <a:defRPr/>
            </a:pPr>
            <a:r>
              <a:rPr lang="en-US" sz="2000" dirty="0"/>
              <a:t>Resulting chunks are easier to commit to memory than a longer uninterrupted string of information.</a:t>
            </a:r>
          </a:p>
          <a:p>
            <a:pPr>
              <a:defRPr/>
            </a:pPr>
            <a:endParaRPr lang="en-US" sz="2000" dirty="0"/>
          </a:p>
          <a:p>
            <a:pPr>
              <a:defRPr/>
            </a:pPr>
            <a:r>
              <a:rPr lang="en-US" sz="2000" dirty="0"/>
              <a:t>Can be used for making more efficient use of short-term memory by grouping information</a:t>
            </a:r>
          </a:p>
          <a:p>
            <a:pPr>
              <a:defRPr/>
            </a:pPr>
            <a:endParaRPr lang="en-US" sz="2000" dirty="0"/>
          </a:p>
          <a:p>
            <a:pPr marL="0" indent="0">
              <a:buFontTx/>
              <a:buNone/>
              <a:defRPr/>
            </a:pPr>
            <a:endParaRPr lang="pt-PT" sz="2000" dirty="0"/>
          </a:p>
        </p:txBody>
      </p:sp>
      <p:sp>
        <p:nvSpPr>
          <p:cNvPr id="48131" name="Marcador de Posição do Número do Diapositivo 3">
            <a:extLst>
              <a:ext uri="{FF2B5EF4-FFF2-40B4-BE49-F238E27FC236}">
                <a16:creationId xmlns:a16="http://schemas.microsoft.com/office/drawing/2014/main" id="{B49F3463-6635-4411-A69C-BD1108EBA4F0}"/>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F53C7CD-41F9-453C-ADA5-29127DC51304}" type="slidenum">
              <a:rPr lang="en-GB" altLang="en-US" sz="1400" smtClean="0"/>
              <a:pPr>
                <a:spcBef>
                  <a:spcPct val="0"/>
                </a:spcBef>
                <a:buFontTx/>
                <a:buNone/>
              </a:pPr>
              <a:t>35</a:t>
            </a:fld>
            <a:endParaRPr lang="en-GB" altLang="en-US" sz="1400"/>
          </a:p>
        </p:txBody>
      </p:sp>
      <p:sp>
        <p:nvSpPr>
          <p:cNvPr id="48132" name="Rectângulo 4">
            <a:extLst>
              <a:ext uri="{FF2B5EF4-FFF2-40B4-BE49-F238E27FC236}">
                <a16:creationId xmlns:a16="http://schemas.microsoft.com/office/drawing/2014/main" id="{DAEE0EC6-160A-439B-BD6A-85779B39F451}"/>
              </a:ext>
            </a:extLst>
          </p:cNvPr>
          <p:cNvSpPr>
            <a:spLocks noChangeArrowheads="1"/>
          </p:cNvSpPr>
          <p:nvPr/>
        </p:nvSpPr>
        <p:spPr bwMode="auto">
          <a:xfrm>
            <a:off x="460375" y="5516563"/>
            <a:ext cx="424973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dirty="0">
                <a:hlinkClick r:id="rId3"/>
              </a:rPr>
              <a:t>http://study.com/academy/lesson/george-miller-psychologist-theories-on-short-term-memory-lesson-quiz.html</a:t>
            </a:r>
            <a:endParaRPr lang="pt-PT" altLang="pt-PT" sz="1600" b="0" dirty="0"/>
          </a:p>
          <a:p>
            <a:pPr eaLnBrk="1" hangingPunct="1">
              <a:spcBef>
                <a:spcPct val="0"/>
              </a:spcBef>
              <a:buFontTx/>
              <a:buNone/>
            </a:pPr>
            <a:endParaRPr lang="pt-PT" altLang="pt-PT" sz="1800" dirty="0"/>
          </a:p>
        </p:txBody>
      </p:sp>
      <p:pic>
        <p:nvPicPr>
          <p:cNvPr id="48133" name="Picture 3">
            <a:extLst>
              <a:ext uri="{FF2B5EF4-FFF2-40B4-BE49-F238E27FC236}">
                <a16:creationId xmlns:a16="http://schemas.microsoft.com/office/drawing/2014/main" id="{109FFAB7-2C7F-4D56-997E-DF904E2EB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7863" y="4133850"/>
            <a:ext cx="4511675" cy="2281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14B5415B-86E9-4653-8C95-672112A1FF0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B0C38AF-58CB-448E-B53B-2BDA72458B4F}" type="slidenum">
              <a:rPr lang="en-GB" altLang="en-US" sz="1400" smtClean="0"/>
              <a:pPr>
                <a:spcBef>
                  <a:spcPct val="0"/>
                </a:spcBef>
                <a:buFontTx/>
                <a:buNone/>
              </a:pPr>
              <a:t>36</a:t>
            </a:fld>
            <a:endParaRPr lang="en-GB" altLang="en-US" sz="1400"/>
          </a:p>
        </p:txBody>
      </p:sp>
      <p:sp>
        <p:nvSpPr>
          <p:cNvPr id="50179" name="Rectangle 2">
            <a:extLst>
              <a:ext uri="{FF2B5EF4-FFF2-40B4-BE49-F238E27FC236}">
                <a16:creationId xmlns:a16="http://schemas.microsoft.com/office/drawing/2014/main" id="{8624ADD7-350D-4401-A416-BE82A2E5FC68}"/>
              </a:ext>
            </a:extLst>
          </p:cNvPr>
          <p:cNvSpPr>
            <a:spLocks noGrp="1" noChangeArrowheads="1"/>
          </p:cNvSpPr>
          <p:nvPr>
            <p:ph type="title"/>
          </p:nvPr>
        </p:nvSpPr>
        <p:spPr>
          <a:xfrm>
            <a:off x="457200" y="115888"/>
            <a:ext cx="8229600" cy="1143000"/>
          </a:xfrm>
        </p:spPr>
        <p:txBody>
          <a:bodyPr/>
          <a:lstStyle/>
          <a:p>
            <a:pPr algn="l" eaLnBrk="1" hangingPunct="1"/>
            <a:r>
              <a:rPr lang="en-GB" altLang="en-US" sz="2400" b="1"/>
              <a:t>Long Term Memory</a:t>
            </a:r>
            <a:r>
              <a:rPr lang="en-GB" altLang="en-US" sz="2400"/>
              <a:t> </a:t>
            </a:r>
            <a:endParaRPr lang="pt-PT" altLang="en-US" sz="2400"/>
          </a:p>
        </p:txBody>
      </p:sp>
      <p:sp>
        <p:nvSpPr>
          <p:cNvPr id="2" name="TextBox 1">
            <a:extLst>
              <a:ext uri="{FF2B5EF4-FFF2-40B4-BE49-F238E27FC236}">
                <a16:creationId xmlns:a16="http://schemas.microsoft.com/office/drawing/2014/main" id="{75C09318-6830-477B-AD58-B3A82CBB1F41}"/>
              </a:ext>
            </a:extLst>
          </p:cNvPr>
          <p:cNvSpPr txBox="1"/>
          <p:nvPr/>
        </p:nvSpPr>
        <p:spPr>
          <a:xfrm>
            <a:off x="468313" y="1109663"/>
            <a:ext cx="8207375" cy="3251200"/>
          </a:xfrm>
          <a:prstGeom prst="rect">
            <a:avLst/>
          </a:prstGeom>
          <a:noFill/>
        </p:spPr>
        <p:txBody>
          <a:bodyPr>
            <a:spAutoFit/>
          </a:bodyPr>
          <a:lstStyle/>
          <a:p>
            <a:pPr marL="342900" indent="-342900" eaLnBrk="1" hangingPunct="1">
              <a:spcBef>
                <a:spcPct val="20000"/>
              </a:spcBef>
              <a:defRPr/>
            </a:pPr>
            <a:r>
              <a:rPr lang="en-US" b="0" kern="0" dirty="0">
                <a:solidFill>
                  <a:srgbClr val="000000"/>
                </a:solidFill>
                <a:latin typeface="Arial"/>
                <a:cs typeface="+mn-cs"/>
              </a:rPr>
              <a:t>Stage of the dual memory model (Atkinson-Shiffrin memory model) </a:t>
            </a:r>
          </a:p>
          <a:p>
            <a:pPr marL="342900" indent="-342900" eaLnBrk="1" hangingPunct="1">
              <a:spcBef>
                <a:spcPct val="20000"/>
              </a:spcBef>
              <a:defRPr/>
            </a:pPr>
            <a:r>
              <a:rPr lang="en-US" b="0" kern="0" dirty="0">
                <a:solidFill>
                  <a:srgbClr val="000000"/>
                </a:solidFill>
                <a:latin typeface="Arial"/>
                <a:cs typeface="+mn-cs"/>
              </a:rPr>
              <a:t>Informative knowledge can be stored for long periods of time</a:t>
            </a:r>
          </a:p>
          <a:p>
            <a:pPr marL="342900" indent="-342900" eaLnBrk="1" hangingPunct="1">
              <a:spcBef>
                <a:spcPct val="20000"/>
              </a:spcBef>
              <a:defRPr/>
            </a:pPr>
            <a:endParaRPr lang="en-US" b="0" kern="0" dirty="0">
              <a:solidFill>
                <a:srgbClr val="000000"/>
              </a:solidFill>
              <a:latin typeface="Arial"/>
              <a:cs typeface="+mn-cs"/>
            </a:endParaRPr>
          </a:p>
          <a:p>
            <a:pPr marL="342900" indent="-342900" eaLnBrk="1" hangingPunct="1">
              <a:spcBef>
                <a:spcPct val="20000"/>
              </a:spcBef>
              <a:defRPr/>
            </a:pPr>
            <a:r>
              <a:rPr lang="en-US" b="0" kern="0" dirty="0">
                <a:solidFill>
                  <a:srgbClr val="000000"/>
                </a:solidFill>
                <a:latin typeface="Arial"/>
                <a:cs typeface="+mn-cs"/>
              </a:rPr>
              <a:t>Main characteristics:</a:t>
            </a:r>
            <a:endParaRPr lang="pt-PT" b="0" kern="0" dirty="0">
              <a:solidFill>
                <a:srgbClr val="000000"/>
              </a:solidFill>
              <a:latin typeface="Arial"/>
              <a:cs typeface="+mn-cs"/>
            </a:endParaRPr>
          </a:p>
          <a:p>
            <a:pPr marL="342900" indent="-342900" eaLnBrk="1" hangingPunct="1">
              <a:spcBef>
                <a:spcPct val="20000"/>
              </a:spcBef>
              <a:defRPr/>
            </a:pPr>
            <a:endParaRPr lang="pt-PT" b="0" kern="0" dirty="0">
              <a:solidFill>
                <a:srgbClr val="000000"/>
              </a:solidFill>
              <a:latin typeface="Arial"/>
              <a:cs typeface="+mn-cs"/>
            </a:endParaRPr>
          </a:p>
          <a:p>
            <a:pPr eaLnBrk="1" hangingPunct="1">
              <a:defRPr/>
            </a:pPr>
            <a:r>
              <a:rPr lang="pt-PT" b="0" dirty="0">
                <a:latin typeface="Arial" charset="0"/>
                <a:cs typeface="+mn-cs"/>
              </a:rPr>
              <a:t>- “Infinite” capacity and duration </a:t>
            </a:r>
          </a:p>
          <a:p>
            <a:pPr marL="342900" indent="-342900" eaLnBrk="1" hangingPunct="1">
              <a:spcBef>
                <a:spcPct val="20000"/>
              </a:spcBef>
              <a:defRPr/>
            </a:pPr>
            <a:endParaRPr lang="pt-PT" b="0" kern="0" dirty="0">
              <a:solidFill>
                <a:srgbClr val="000000"/>
              </a:solidFill>
              <a:latin typeface="Arial"/>
              <a:cs typeface="+mn-cs"/>
            </a:endParaRPr>
          </a:p>
          <a:p>
            <a:pPr marL="342900" indent="-342900" eaLnBrk="1" hangingPunct="1">
              <a:spcBef>
                <a:spcPct val="20000"/>
              </a:spcBef>
              <a:defRPr/>
            </a:pPr>
            <a:r>
              <a:rPr lang="pt-PT" b="0" kern="0" dirty="0">
                <a:solidFill>
                  <a:srgbClr val="000000"/>
                </a:solidFill>
                <a:latin typeface="Arial"/>
                <a:cs typeface="+mn-cs"/>
              </a:rPr>
              <a:t>- non reliable access</a:t>
            </a:r>
          </a:p>
          <a:p>
            <a:pPr marL="342900" indent="-342900" eaLnBrk="1" hangingPunct="1">
              <a:spcBef>
                <a:spcPct val="20000"/>
              </a:spcBef>
              <a:defRPr/>
            </a:pPr>
            <a:endParaRPr lang="pt-PT" b="0" kern="0" dirty="0">
              <a:solidFill>
                <a:srgbClr val="000000"/>
              </a:solidFill>
              <a:latin typeface="Arial"/>
              <a:cs typeface="+mn-cs"/>
            </a:endParaRPr>
          </a:p>
          <a:p>
            <a:pPr eaLnBrk="1" hangingPunct="1">
              <a:defRPr/>
            </a:pPr>
            <a:endParaRPr lang="pt-PT" b="0" dirty="0">
              <a:latin typeface="Arial" charset="0"/>
              <a:cs typeface="+mn-cs"/>
            </a:endParaRPr>
          </a:p>
        </p:txBody>
      </p:sp>
      <p:sp>
        <p:nvSpPr>
          <p:cNvPr id="50181" name="Rectângulo 2">
            <a:extLst>
              <a:ext uri="{FF2B5EF4-FFF2-40B4-BE49-F238E27FC236}">
                <a16:creationId xmlns:a16="http://schemas.microsoft.com/office/drawing/2014/main" id="{B0BCEE91-544C-4F6D-BBF1-39F89323CABC}"/>
              </a:ext>
            </a:extLst>
          </p:cNvPr>
          <p:cNvSpPr>
            <a:spLocks noChangeArrowheads="1"/>
          </p:cNvSpPr>
          <p:nvPr/>
        </p:nvSpPr>
        <p:spPr bwMode="auto">
          <a:xfrm>
            <a:off x="3652838" y="5722938"/>
            <a:ext cx="45720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dirty="0">
                <a:hlinkClick r:id="rId3"/>
              </a:rPr>
              <a:t>http://study.com/academy/lesson/long-term-memory-definition-types-examples.html</a:t>
            </a:r>
            <a:endParaRPr lang="pt-PT" altLang="pt-PT" sz="1600" b="0" dirty="0"/>
          </a:p>
          <a:p>
            <a:pPr eaLnBrk="1" hangingPunct="1">
              <a:spcBef>
                <a:spcPct val="0"/>
              </a:spcBef>
              <a:buFontTx/>
              <a:buNone/>
            </a:pPr>
            <a:endParaRPr lang="pt-PT" altLang="pt-PT" sz="1800" dirty="0"/>
          </a:p>
        </p:txBody>
      </p:sp>
      <p:pic>
        <p:nvPicPr>
          <p:cNvPr id="50182" name="Picture 10">
            <a:extLst>
              <a:ext uri="{FF2B5EF4-FFF2-40B4-BE49-F238E27FC236}">
                <a16:creationId xmlns:a16="http://schemas.microsoft.com/office/drawing/2014/main" id="{FAC8DF30-2C52-446A-A3E0-54290B7EFB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2838" y="3357563"/>
            <a:ext cx="4514850" cy="2144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DB15B470-9836-49A4-86FB-BC2760317C37}"/>
              </a:ext>
            </a:extLst>
          </p:cNvPr>
          <p:cNvSpPr>
            <a:spLocks noGrp="1" noChangeArrowheads="1"/>
          </p:cNvSpPr>
          <p:nvPr>
            <p:ph type="title"/>
          </p:nvPr>
        </p:nvSpPr>
        <p:spPr>
          <a:xfrm>
            <a:off x="107950" y="404813"/>
            <a:ext cx="8820150" cy="620712"/>
          </a:xfrm>
        </p:spPr>
        <p:txBody>
          <a:bodyPr/>
          <a:lstStyle/>
          <a:p>
            <a:pPr algn="l"/>
            <a:r>
              <a:rPr lang="en-US" altLang="en-US" sz="2400" b="1"/>
              <a:t>Long-term Memory</a:t>
            </a:r>
            <a:r>
              <a:rPr lang="pt-PT" altLang="en-US" sz="2400" b="1"/>
              <a:t> - </a:t>
            </a:r>
            <a:r>
              <a:rPr lang="en-US" altLang="en-US" sz="2400" b="1"/>
              <a:t>Recognition vs. Recall</a:t>
            </a:r>
          </a:p>
        </p:txBody>
      </p:sp>
      <p:sp>
        <p:nvSpPr>
          <p:cNvPr id="52227" name="Content Placeholder 2">
            <a:extLst>
              <a:ext uri="{FF2B5EF4-FFF2-40B4-BE49-F238E27FC236}">
                <a16:creationId xmlns:a16="http://schemas.microsoft.com/office/drawing/2014/main" id="{191952F2-AFEA-40E5-87A5-AD5F8F14D76A}"/>
              </a:ext>
            </a:extLst>
          </p:cNvPr>
          <p:cNvSpPr>
            <a:spLocks noGrp="1" noChangeArrowheads="1"/>
          </p:cNvSpPr>
          <p:nvPr>
            <p:ph idx="1"/>
          </p:nvPr>
        </p:nvSpPr>
        <p:spPr/>
        <p:txBody>
          <a:bodyPr/>
          <a:lstStyle/>
          <a:p>
            <a:r>
              <a:rPr lang="pt-PT" altLang="en-US" sz="2000" dirty="0" err="1"/>
              <a:t>Information</a:t>
            </a:r>
            <a:r>
              <a:rPr lang="pt-PT" altLang="en-US" sz="2000" dirty="0"/>
              <a:t> </a:t>
            </a:r>
            <a:r>
              <a:rPr lang="pt-PT" altLang="en-US" sz="2000" dirty="0" err="1"/>
              <a:t>retrieval</a:t>
            </a:r>
            <a:r>
              <a:rPr lang="pt-PT" altLang="en-US" sz="2000" dirty="0"/>
              <a:t> - </a:t>
            </a:r>
            <a:r>
              <a:rPr lang="en-US" altLang="en-US" sz="2000" dirty="0"/>
              <a:t>Recognition vs. Recall</a:t>
            </a:r>
          </a:p>
          <a:p>
            <a:pPr lvl="1"/>
            <a:r>
              <a:rPr lang="en-US" altLang="en-US" sz="2000" dirty="0"/>
              <a:t>Recognition: remembering with the help of a visible cue</a:t>
            </a:r>
          </a:p>
          <a:p>
            <a:pPr lvl="2"/>
            <a:r>
              <a:rPr lang="en-US" altLang="en-US" sz="2000" dirty="0"/>
              <a:t>aka “Knowledge in the world”</a:t>
            </a:r>
          </a:p>
          <a:p>
            <a:pPr lvl="1"/>
            <a:r>
              <a:rPr lang="en-US" altLang="en-US" sz="2000" dirty="0"/>
              <a:t>Recall: remembering with no help</a:t>
            </a:r>
          </a:p>
          <a:p>
            <a:pPr lvl="2"/>
            <a:r>
              <a:rPr lang="en-US" altLang="en-US" sz="2000" dirty="0"/>
              <a:t>aka “Knowledge in the head”</a:t>
            </a:r>
          </a:p>
          <a:p>
            <a:pPr lvl="1"/>
            <a:endParaRPr lang="en-US" altLang="en-US" sz="2000" dirty="0"/>
          </a:p>
          <a:p>
            <a:r>
              <a:rPr lang="en-US" altLang="en-US" sz="2000" b="1" dirty="0"/>
              <a:t>Recognition is much easier</a:t>
            </a:r>
          </a:p>
          <a:p>
            <a:pPr lvl="1"/>
            <a:r>
              <a:rPr lang="en-US" altLang="en-US" sz="2000" dirty="0"/>
              <a:t>so e.g. menus are more learnable than command languages</a:t>
            </a:r>
          </a:p>
          <a:p>
            <a:endParaRPr lang="en-US" altLang="en-US" dirty="0"/>
          </a:p>
        </p:txBody>
      </p:sp>
      <p:sp>
        <p:nvSpPr>
          <p:cNvPr id="52228" name="Slide Number Placeholder 5">
            <a:extLst>
              <a:ext uri="{FF2B5EF4-FFF2-40B4-BE49-F238E27FC236}">
                <a16:creationId xmlns:a16="http://schemas.microsoft.com/office/drawing/2014/main" id="{157B41FC-894A-4B42-94BD-EB8F3797081A}"/>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CE49B2A-79FB-4764-B1D0-BCB3199EE3A7}" type="slidenum">
              <a:rPr lang="en-US" altLang="en-US" sz="1400" smtClean="0">
                <a:solidFill>
                  <a:schemeClr val="bg1"/>
                </a:solidFill>
              </a:rPr>
              <a:pPr>
                <a:spcBef>
                  <a:spcPct val="0"/>
                </a:spcBef>
                <a:buFontTx/>
                <a:buNone/>
              </a:pPr>
              <a:t>37</a:t>
            </a:fld>
            <a:endParaRPr lang="en-US" altLang="en-US" sz="140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ítulo 1">
            <a:extLst>
              <a:ext uri="{FF2B5EF4-FFF2-40B4-BE49-F238E27FC236}">
                <a16:creationId xmlns:a16="http://schemas.microsoft.com/office/drawing/2014/main" id="{4D2F8EB2-6E44-4115-88B9-8E03B6EB901D}"/>
              </a:ext>
            </a:extLst>
          </p:cNvPr>
          <p:cNvSpPr>
            <a:spLocks noGrp="1" noChangeArrowheads="1"/>
          </p:cNvSpPr>
          <p:nvPr>
            <p:ph type="title"/>
          </p:nvPr>
        </p:nvSpPr>
        <p:spPr/>
        <p:txBody>
          <a:bodyPr/>
          <a:lstStyle/>
          <a:p>
            <a:pPr algn="l"/>
            <a:r>
              <a:rPr lang="en-US" altLang="en-US" sz="2400" b="1" dirty="0"/>
              <a:t>Design Implications</a:t>
            </a:r>
            <a:endParaRPr lang="en-US" altLang="en-US" dirty="0"/>
          </a:p>
        </p:txBody>
      </p:sp>
      <p:sp>
        <p:nvSpPr>
          <p:cNvPr id="3" name="Marcador de Posição de Conteúdo 2">
            <a:extLst>
              <a:ext uri="{FF2B5EF4-FFF2-40B4-BE49-F238E27FC236}">
                <a16:creationId xmlns:a16="http://schemas.microsoft.com/office/drawing/2014/main" id="{91BFC057-EA68-4DB4-AFE7-01DC3A713B92}"/>
              </a:ext>
            </a:extLst>
          </p:cNvPr>
          <p:cNvSpPr>
            <a:spLocks noGrp="1"/>
          </p:cNvSpPr>
          <p:nvPr>
            <p:ph idx="1"/>
          </p:nvPr>
        </p:nvSpPr>
        <p:spPr/>
        <p:txBody>
          <a:bodyPr/>
          <a:lstStyle/>
          <a:p>
            <a:pPr marL="0" indent="0">
              <a:buFontTx/>
              <a:buNone/>
              <a:defRPr/>
            </a:pPr>
            <a:r>
              <a:rPr lang="en-US" sz="2400" b="1" dirty="0">
                <a:solidFill>
                  <a:schemeClr val="tx2"/>
                </a:solidFill>
                <a:latin typeface="+mj-lt"/>
                <a:ea typeface="+mj-ea"/>
                <a:cs typeface="+mj-cs"/>
              </a:rPr>
              <a:t>Memory</a:t>
            </a:r>
          </a:p>
          <a:p>
            <a:pPr>
              <a:defRPr/>
            </a:pPr>
            <a:r>
              <a:rPr lang="en-US" sz="2000" dirty="0"/>
              <a:t>Reduce cognitive load by </a:t>
            </a:r>
            <a:r>
              <a:rPr lang="en-US" sz="2000" b="1" dirty="0"/>
              <a:t>avoiding long and complicated procedures </a:t>
            </a:r>
            <a:r>
              <a:rPr lang="en-US" sz="2000" dirty="0"/>
              <a:t>for carrying out tasks.</a:t>
            </a:r>
          </a:p>
          <a:p>
            <a:pPr>
              <a:defRPr/>
            </a:pPr>
            <a:endParaRPr lang="en-US" sz="2000" dirty="0"/>
          </a:p>
          <a:p>
            <a:pPr>
              <a:defRPr/>
            </a:pPr>
            <a:r>
              <a:rPr lang="en-US" sz="2000" dirty="0"/>
              <a:t>Design interfaces that promote </a:t>
            </a:r>
            <a:r>
              <a:rPr lang="en-US" sz="2000" b="1" dirty="0"/>
              <a:t>recognition rather than recall </a:t>
            </a:r>
            <a:r>
              <a:rPr lang="en-US" sz="2000" dirty="0"/>
              <a:t>by using familiar interaction patterns, menus, icons, and consistently placed objects.</a:t>
            </a:r>
          </a:p>
          <a:p>
            <a:pPr>
              <a:defRPr/>
            </a:pPr>
            <a:endParaRPr lang="en-US" sz="2000" dirty="0"/>
          </a:p>
          <a:p>
            <a:pPr>
              <a:defRPr/>
            </a:pPr>
            <a:r>
              <a:rPr lang="en-US" sz="2000" dirty="0"/>
              <a:t>Provide users with a variety of ways of labeling digital information (e.g. files, emails, and images) to help them easily identify it again through the use of folders, categories, color, tagging, time stamping, and icons.</a:t>
            </a:r>
          </a:p>
          <a:p>
            <a:pPr>
              <a:defRPr/>
            </a:pPr>
            <a:endParaRPr lang="en-US" dirty="0"/>
          </a:p>
        </p:txBody>
      </p:sp>
      <p:sp>
        <p:nvSpPr>
          <p:cNvPr id="54276" name="Marcador de Posição do Número do Diapositivo 3">
            <a:extLst>
              <a:ext uri="{FF2B5EF4-FFF2-40B4-BE49-F238E27FC236}">
                <a16:creationId xmlns:a16="http://schemas.microsoft.com/office/drawing/2014/main" id="{08C36BA3-F603-4B6C-80BA-7D07F0682E4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A4CE056-5228-4789-A659-A9609C9E9DB3}" type="slidenum">
              <a:rPr lang="en-GB" altLang="en-US" sz="1400" smtClean="0"/>
              <a:pPr>
                <a:spcBef>
                  <a:spcPct val="0"/>
                </a:spcBef>
                <a:buFontTx/>
                <a:buNone/>
              </a:pPr>
              <a:t>38</a:t>
            </a:fld>
            <a:endParaRPr lang="en-GB" altLang="en-US"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Título 1">
            <a:extLst>
              <a:ext uri="{FF2B5EF4-FFF2-40B4-BE49-F238E27FC236}">
                <a16:creationId xmlns:a16="http://schemas.microsoft.com/office/drawing/2014/main" id="{3E796927-7B42-4041-8DC3-1C089C61A515}"/>
              </a:ext>
            </a:extLst>
          </p:cNvPr>
          <p:cNvSpPr>
            <a:spLocks noGrp="1" noChangeArrowheads="1"/>
          </p:cNvSpPr>
          <p:nvPr>
            <p:ph type="title"/>
          </p:nvPr>
        </p:nvSpPr>
        <p:spPr/>
        <p:txBody>
          <a:bodyPr/>
          <a:lstStyle/>
          <a:p>
            <a:endParaRPr lang="pt-PT" altLang="pt-PT"/>
          </a:p>
        </p:txBody>
      </p:sp>
      <p:sp>
        <p:nvSpPr>
          <p:cNvPr id="55299" name="Marcador de Posição do Número do Diapositivo 3">
            <a:extLst>
              <a:ext uri="{FF2B5EF4-FFF2-40B4-BE49-F238E27FC236}">
                <a16:creationId xmlns:a16="http://schemas.microsoft.com/office/drawing/2014/main" id="{43A4B829-4AEA-44F5-95FE-78CEA302260A}"/>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BD888B1-D48E-4550-A076-E98EF6E7F154}" type="slidenum">
              <a:rPr lang="en-GB" altLang="en-US" sz="1400" smtClean="0"/>
              <a:pPr>
                <a:spcBef>
                  <a:spcPct val="0"/>
                </a:spcBef>
                <a:buFontTx/>
                <a:buNone/>
              </a:pPr>
              <a:t>39</a:t>
            </a:fld>
            <a:endParaRPr lang="en-GB" altLang="en-US" sz="1400"/>
          </a:p>
        </p:txBody>
      </p:sp>
      <p:pic>
        <p:nvPicPr>
          <p:cNvPr id="55300" name="Picture 2">
            <a:extLst>
              <a:ext uri="{FF2B5EF4-FFF2-40B4-BE49-F238E27FC236}">
                <a16:creationId xmlns:a16="http://schemas.microsoft.com/office/drawing/2014/main" id="{209B8209-0CD9-4652-AFD0-6E19B80BBA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87450" y="1557338"/>
            <a:ext cx="6635750" cy="3959225"/>
          </a:xfrm>
          <a:noFill/>
        </p:spPr>
      </p:pic>
      <p:sp>
        <p:nvSpPr>
          <p:cNvPr id="55301" name="Rectângulo 4">
            <a:extLst>
              <a:ext uri="{FF2B5EF4-FFF2-40B4-BE49-F238E27FC236}">
                <a16:creationId xmlns:a16="http://schemas.microsoft.com/office/drawing/2014/main" id="{99C3DBC3-B811-460A-9D51-D4F8A29362BC}"/>
              </a:ext>
            </a:extLst>
          </p:cNvPr>
          <p:cNvSpPr>
            <a:spLocks noChangeArrowheads="1"/>
          </p:cNvSpPr>
          <p:nvPr/>
        </p:nvSpPr>
        <p:spPr bwMode="auto">
          <a:xfrm>
            <a:off x="1116013" y="6308725"/>
            <a:ext cx="6335712"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t-PT" altLang="pt-PT" sz="1600" b="0">
                <a:hlinkClick r:id="rId3"/>
              </a:rPr>
              <a:t>https://www.youtube.com/watch?v=bSycdIx-C48</a:t>
            </a:r>
            <a:endParaRPr lang="pt-PT" altLang="pt-PT" sz="1600" b="0"/>
          </a:p>
          <a:p>
            <a:pPr eaLnBrk="1" hangingPunct="1">
              <a:spcBef>
                <a:spcPct val="0"/>
              </a:spcBef>
              <a:buFontTx/>
              <a:buNone/>
            </a:pPr>
            <a:endParaRPr lang="pt-PT" altLang="pt-PT" sz="1800"/>
          </a:p>
        </p:txBody>
      </p:sp>
      <p:sp>
        <p:nvSpPr>
          <p:cNvPr id="55302" name="Rectângulo 5">
            <a:extLst>
              <a:ext uri="{FF2B5EF4-FFF2-40B4-BE49-F238E27FC236}">
                <a16:creationId xmlns:a16="http://schemas.microsoft.com/office/drawing/2014/main" id="{F036D0BE-4FA0-44D4-BEB4-83BBC6FA8B82}"/>
              </a:ext>
            </a:extLst>
          </p:cNvPr>
          <p:cNvSpPr>
            <a:spLocks noChangeArrowheads="1"/>
          </p:cNvSpPr>
          <p:nvPr/>
        </p:nvSpPr>
        <p:spPr bwMode="auto">
          <a:xfrm>
            <a:off x="1116013" y="5903913"/>
            <a:ext cx="6624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b="0"/>
              <a:t>How We Make Memories - Crash Course Psychology #13</a:t>
            </a:r>
            <a:endParaRPr lang="pt-PT" altLang="pt-PT" sz="1800"/>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EBD00313-044E-43B0-9188-E269C42527D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FC6CED6-311C-4F8E-9CE6-0E8A823192CC}" type="slidenum">
              <a:rPr lang="en-GB" altLang="en-US" sz="1400" smtClean="0"/>
              <a:pPr>
                <a:spcBef>
                  <a:spcPct val="0"/>
                </a:spcBef>
                <a:buFontTx/>
                <a:buNone/>
              </a:pPr>
              <a:t>40</a:t>
            </a:fld>
            <a:endParaRPr lang="en-GB" altLang="en-US" sz="1400"/>
          </a:p>
        </p:txBody>
      </p:sp>
      <p:sp>
        <p:nvSpPr>
          <p:cNvPr id="56323" name="Rectangle 2">
            <a:extLst>
              <a:ext uri="{FF2B5EF4-FFF2-40B4-BE49-F238E27FC236}">
                <a16:creationId xmlns:a16="http://schemas.microsoft.com/office/drawing/2014/main" id="{0D24E509-571A-4F9F-905F-E7648F9AB968}"/>
              </a:ext>
            </a:extLst>
          </p:cNvPr>
          <p:cNvSpPr>
            <a:spLocks noGrp="1" noChangeArrowheads="1"/>
          </p:cNvSpPr>
          <p:nvPr>
            <p:ph type="title"/>
          </p:nvPr>
        </p:nvSpPr>
        <p:spPr>
          <a:xfrm>
            <a:off x="390525" y="115888"/>
            <a:ext cx="8229600" cy="1143000"/>
          </a:xfrm>
        </p:spPr>
        <p:txBody>
          <a:bodyPr/>
          <a:lstStyle/>
          <a:p>
            <a:pPr algn="l" eaLnBrk="1" hangingPunct="1"/>
            <a:r>
              <a:rPr lang="en-GB" altLang="en-US" sz="2400" b="1"/>
              <a:t>Selective attention</a:t>
            </a:r>
            <a:endParaRPr lang="pt-PT" altLang="en-US" sz="2400"/>
          </a:p>
        </p:txBody>
      </p:sp>
      <p:sp>
        <p:nvSpPr>
          <p:cNvPr id="20485" name="Text Box 6">
            <a:extLst>
              <a:ext uri="{FF2B5EF4-FFF2-40B4-BE49-F238E27FC236}">
                <a16:creationId xmlns:a16="http://schemas.microsoft.com/office/drawing/2014/main" id="{CBC52C3D-5F7A-488E-B3B6-D8357F50FF5E}"/>
              </a:ext>
            </a:extLst>
          </p:cNvPr>
          <p:cNvSpPr txBox="1">
            <a:spLocks noChangeArrowheads="1"/>
          </p:cNvSpPr>
          <p:nvPr/>
        </p:nvSpPr>
        <p:spPr bwMode="auto">
          <a:xfrm>
            <a:off x="425450" y="2420938"/>
            <a:ext cx="4556125" cy="249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defRPr/>
            </a:pPr>
            <a:r>
              <a:rPr lang="en-US" altLang="en-US" sz="1800" b="0" dirty="0"/>
              <a:t>It may be</a:t>
            </a:r>
            <a:r>
              <a:rPr lang="pt-PT" altLang="en-US" sz="1800" b="0" dirty="0"/>
              <a:t>:</a:t>
            </a:r>
          </a:p>
          <a:p>
            <a:pPr eaLnBrk="1" hangingPunct="1">
              <a:spcBef>
                <a:spcPct val="0"/>
              </a:spcBef>
              <a:buFontTx/>
              <a:buNone/>
              <a:defRPr/>
            </a:pPr>
            <a:endParaRPr lang="pt-PT" altLang="en-US" sz="1800" b="0" dirty="0"/>
          </a:p>
          <a:p>
            <a:pPr eaLnBrk="1" hangingPunct="1">
              <a:spcBef>
                <a:spcPct val="0"/>
              </a:spcBef>
              <a:buFontTx/>
              <a:buNone/>
              <a:defRPr/>
            </a:pPr>
            <a:r>
              <a:rPr lang="pt-PT" altLang="en-US" sz="1800" b="0" dirty="0"/>
              <a:t>- </a:t>
            </a:r>
            <a:r>
              <a:rPr lang="en-US" altLang="en-US" sz="2000" b="0" dirty="0"/>
              <a:t>Voluntary</a:t>
            </a:r>
          </a:p>
          <a:p>
            <a:pPr eaLnBrk="1" hangingPunct="1">
              <a:spcBef>
                <a:spcPct val="0"/>
              </a:spcBef>
              <a:buFontTx/>
              <a:buNone/>
              <a:defRPr/>
            </a:pPr>
            <a:endParaRPr lang="en-US" altLang="en-US" sz="2000" b="0" dirty="0"/>
          </a:p>
          <a:p>
            <a:pPr eaLnBrk="1" hangingPunct="1">
              <a:spcBef>
                <a:spcPct val="0"/>
              </a:spcBef>
              <a:buFontTx/>
              <a:buNone/>
              <a:defRPr/>
            </a:pPr>
            <a:endParaRPr lang="en-US" altLang="en-US" sz="2000" b="0" dirty="0"/>
          </a:p>
          <a:p>
            <a:pPr eaLnBrk="1" hangingPunct="1">
              <a:spcBef>
                <a:spcPct val="0"/>
              </a:spcBef>
              <a:buFontTx/>
              <a:buNone/>
              <a:defRPr/>
            </a:pPr>
            <a:r>
              <a:rPr lang="en-US" altLang="en-US" sz="2000" b="0" dirty="0"/>
              <a:t>- Involuntary</a:t>
            </a:r>
          </a:p>
          <a:p>
            <a:pPr marL="342900" indent="-342900" eaLnBrk="1" hangingPunct="1">
              <a:spcBef>
                <a:spcPct val="0"/>
              </a:spcBef>
              <a:buFontTx/>
              <a:buChar char="-"/>
              <a:defRPr/>
            </a:pPr>
            <a:endParaRPr lang="en-US" altLang="en-US" sz="2000" b="0" dirty="0"/>
          </a:p>
          <a:p>
            <a:pPr eaLnBrk="1" hangingPunct="1">
              <a:spcBef>
                <a:spcPct val="0"/>
              </a:spcBef>
              <a:buFontTx/>
              <a:buNone/>
              <a:defRPr/>
            </a:pPr>
            <a:r>
              <a:rPr lang="en-US" altLang="en-US" sz="2000" b="0" dirty="0"/>
              <a:t>Both can be (and are) exploited in UIs </a:t>
            </a:r>
          </a:p>
        </p:txBody>
      </p:sp>
      <p:sp>
        <p:nvSpPr>
          <p:cNvPr id="56325" name="CaixaDeTexto 1">
            <a:extLst>
              <a:ext uri="{FF2B5EF4-FFF2-40B4-BE49-F238E27FC236}">
                <a16:creationId xmlns:a16="http://schemas.microsoft.com/office/drawing/2014/main" id="{CE6FABE2-E613-4FAA-B281-1AA980EAA0F0}"/>
              </a:ext>
            </a:extLst>
          </p:cNvPr>
          <p:cNvSpPr txBox="1">
            <a:spLocks noChangeArrowheads="1"/>
          </p:cNvSpPr>
          <p:nvPr/>
        </p:nvSpPr>
        <p:spPr bwMode="auto">
          <a:xfrm>
            <a:off x="417513" y="1196975"/>
            <a:ext cx="37861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b="0" dirty="0"/>
              <a:t>Occurs when we block out certain features of our environment </a:t>
            </a:r>
          </a:p>
          <a:p>
            <a:pPr eaLnBrk="1" hangingPunct="1">
              <a:spcBef>
                <a:spcPct val="0"/>
              </a:spcBef>
              <a:buFontTx/>
              <a:buNone/>
            </a:pPr>
            <a:r>
              <a:rPr lang="en-US" altLang="pt-PT" sz="1800" b="0" dirty="0"/>
              <a:t>and </a:t>
            </a:r>
            <a:r>
              <a:rPr lang="en-US" altLang="pt-PT" sz="1800" dirty="0"/>
              <a:t>focus on one particular feature </a:t>
            </a:r>
          </a:p>
        </p:txBody>
      </p:sp>
      <p:pic>
        <p:nvPicPr>
          <p:cNvPr id="56326" name="Picture 11">
            <a:extLst>
              <a:ext uri="{FF2B5EF4-FFF2-40B4-BE49-F238E27FC236}">
                <a16:creationId xmlns:a16="http://schemas.microsoft.com/office/drawing/2014/main" id="{BF056799-A1B0-42F0-980B-6FF1A4AD7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2252663"/>
            <a:ext cx="3019425" cy="3333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327" name="Picture 13">
            <a:extLst>
              <a:ext uri="{FF2B5EF4-FFF2-40B4-BE49-F238E27FC236}">
                <a16:creationId xmlns:a16="http://schemas.microsoft.com/office/drawing/2014/main" id="{2C7EDAD0-DA06-4102-BADE-3FA0C7FF88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572"/>
          <a:stretch>
            <a:fillRect/>
          </a:stretch>
        </p:blipFill>
        <p:spPr bwMode="auto">
          <a:xfrm>
            <a:off x="5313363" y="398463"/>
            <a:ext cx="2819400" cy="185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328" name="Picture 14">
            <a:extLst>
              <a:ext uri="{FF2B5EF4-FFF2-40B4-BE49-F238E27FC236}">
                <a16:creationId xmlns:a16="http://schemas.microsoft.com/office/drawing/2014/main" id="{04654994-95E4-40FF-B37C-CCDD93393B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513" y="5586413"/>
            <a:ext cx="69818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Conexão recta unidireccional 4">
            <a:extLst>
              <a:ext uri="{FF2B5EF4-FFF2-40B4-BE49-F238E27FC236}">
                <a16:creationId xmlns:a16="http://schemas.microsoft.com/office/drawing/2014/main" id="{AD3173B6-3810-437A-9BBE-B9AB72E7FE39}"/>
              </a:ext>
            </a:extLst>
          </p:cNvPr>
          <p:cNvCxnSpPr/>
          <p:nvPr/>
        </p:nvCxnSpPr>
        <p:spPr bwMode="auto">
          <a:xfrm>
            <a:off x="3435350" y="5299075"/>
            <a:ext cx="287338" cy="217488"/>
          </a:xfrm>
          <a:prstGeom prst="straightConnector1">
            <a:avLst/>
          </a:prstGeom>
          <a:ln>
            <a:solidFill>
              <a:srgbClr val="D60093"/>
            </a:solidFill>
            <a:headEnd type="none" w="med" len="med"/>
            <a:tailEnd type="arrow"/>
          </a:ln>
          <a:extLst/>
        </p:spPr>
        <p:style>
          <a:lnRef idx="2">
            <a:schemeClr val="dk1"/>
          </a:lnRef>
          <a:fillRef idx="0">
            <a:schemeClr val="dk1"/>
          </a:fillRef>
          <a:effectRef idx="1">
            <a:schemeClr val="dk1"/>
          </a:effectRef>
          <a:fontRef idx="minor">
            <a:schemeClr val="tx1"/>
          </a:fontRef>
        </p:style>
      </p:cxnSp>
      <p:sp>
        <p:nvSpPr>
          <p:cNvPr id="56330" name="CaixaDeTexto 5">
            <a:extLst>
              <a:ext uri="{FF2B5EF4-FFF2-40B4-BE49-F238E27FC236}">
                <a16:creationId xmlns:a16="http://schemas.microsoft.com/office/drawing/2014/main" id="{84EC8012-09C2-48D5-A7DB-E04B55D081C0}"/>
              </a:ext>
            </a:extLst>
          </p:cNvPr>
          <p:cNvSpPr txBox="1">
            <a:spLocks noChangeArrowheads="1"/>
          </p:cNvSpPr>
          <p:nvPr/>
        </p:nvSpPr>
        <p:spPr bwMode="auto">
          <a:xfrm>
            <a:off x="1403350" y="4989513"/>
            <a:ext cx="3660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600" b="0"/>
              <a:t>Calling your attention to an application</a:t>
            </a:r>
          </a:p>
        </p:txBody>
      </p:sp>
      <p:sp>
        <p:nvSpPr>
          <p:cNvPr id="56331" name="Rectângulo 1">
            <a:extLst>
              <a:ext uri="{FF2B5EF4-FFF2-40B4-BE49-F238E27FC236}">
                <a16:creationId xmlns:a16="http://schemas.microsoft.com/office/drawing/2014/main" id="{0E1AB66E-072C-4048-9A13-BFACED3515D8}"/>
              </a:ext>
            </a:extLst>
          </p:cNvPr>
          <p:cNvSpPr>
            <a:spLocks noChangeArrowheads="1"/>
          </p:cNvSpPr>
          <p:nvPr/>
        </p:nvSpPr>
        <p:spPr bwMode="auto">
          <a:xfrm>
            <a:off x="417514" y="5956300"/>
            <a:ext cx="8202612"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dirty="0">
                <a:hlinkClick r:id="rId6"/>
              </a:rPr>
              <a:t>https://dictionary.apa.org/selective-attention</a:t>
            </a:r>
            <a:endParaRPr lang="en-US" altLang="en-US" sz="1600" b="0" dirty="0"/>
          </a:p>
          <a:p>
            <a:pPr eaLnBrk="1" hangingPunct="1">
              <a:spcBef>
                <a:spcPct val="0"/>
              </a:spcBef>
              <a:buFontTx/>
              <a:buNone/>
            </a:pPr>
            <a:r>
              <a:rPr lang="en-US" altLang="en-US" sz="1600" b="0" dirty="0">
                <a:hlinkClick r:id="rId7"/>
              </a:rPr>
              <a:t>https://www.khanacademy.org/test-prep/mcat/processing-the-environment/attention-language/v/selective-attention</a:t>
            </a:r>
            <a:endParaRPr lang="en-US" altLang="en-US" sz="1600" b="0" dirty="0"/>
          </a:p>
          <a:p>
            <a:pPr eaLnBrk="1" hangingPunct="1">
              <a:spcBef>
                <a:spcPct val="0"/>
              </a:spcBef>
              <a:buFontTx/>
              <a:buNone/>
            </a:pPr>
            <a:endParaRPr lang="en-US" altLang="en-US" sz="1600" b="0" dirty="0"/>
          </a:p>
          <a:p>
            <a:pPr eaLnBrk="1" hangingPunct="1">
              <a:spcBef>
                <a:spcPct val="0"/>
              </a:spcBef>
              <a:buFontTx/>
              <a:buNone/>
            </a:pPr>
            <a:endParaRPr lang="en-US" altLang="en-US" sz="1600" b="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AC71D79F-A04C-4DF1-A19E-51B1B0ABEEB8}"/>
              </a:ext>
            </a:extLst>
          </p:cNvPr>
          <p:cNvSpPr>
            <a:spLocks noGrp="1" noChangeArrowheads="1"/>
          </p:cNvSpPr>
          <p:nvPr>
            <p:ph idx="1"/>
          </p:nvPr>
        </p:nvSpPr>
        <p:spPr>
          <a:xfrm>
            <a:off x="250825" y="623382"/>
            <a:ext cx="8893175" cy="4525962"/>
          </a:xfrm>
        </p:spPr>
        <p:txBody>
          <a:bodyPr/>
          <a:lstStyle/>
          <a:p>
            <a:pPr marL="0" indent="0">
              <a:buFontTx/>
              <a:buNone/>
            </a:pPr>
            <a:r>
              <a:rPr lang="en-US" altLang="en-US" sz="2200" dirty="0"/>
              <a:t>Inattentional</a:t>
            </a:r>
            <a:r>
              <a:rPr lang="pt-PT" altLang="en-US" sz="2200" b="1" dirty="0"/>
              <a:t> </a:t>
            </a:r>
            <a:r>
              <a:rPr lang="en-US" altLang="en-US" sz="2200" dirty="0"/>
              <a:t>blindness</a:t>
            </a:r>
          </a:p>
          <a:p>
            <a:pPr marL="0" indent="0">
              <a:buFontTx/>
              <a:buNone/>
            </a:pPr>
            <a:endParaRPr lang="en-US" altLang="en-US" sz="2000" dirty="0"/>
          </a:p>
          <a:p>
            <a:pPr marL="0" indent="0">
              <a:buFontTx/>
              <a:buNone/>
            </a:pPr>
            <a:r>
              <a:rPr lang="en-US" altLang="en-US" sz="2000" b="1" dirty="0"/>
              <a:t>Failure to notice </a:t>
            </a:r>
            <a:r>
              <a:rPr lang="en-US" altLang="en-US" sz="2000" dirty="0"/>
              <a:t>an unexpected stimulus when other </a:t>
            </a:r>
            <a:r>
              <a:rPr lang="en-US" altLang="en-US" sz="2000" b="1" dirty="0"/>
              <a:t>attention demanding tasks</a:t>
            </a:r>
            <a:r>
              <a:rPr lang="en-US" altLang="en-US" sz="2000" dirty="0"/>
              <a:t> are being performed</a:t>
            </a:r>
          </a:p>
          <a:p>
            <a:pPr marL="0" indent="0">
              <a:buFontTx/>
              <a:buNone/>
            </a:pPr>
            <a:endParaRPr lang="en-US" altLang="en-US" sz="2000" dirty="0"/>
          </a:p>
          <a:p>
            <a:pPr marL="0" indent="0">
              <a:buFontTx/>
              <a:buNone/>
            </a:pPr>
            <a:r>
              <a:rPr lang="en-US" altLang="en-US" sz="2000" dirty="0"/>
              <a:t>What </a:t>
            </a:r>
            <a:r>
              <a:rPr lang="en-US" altLang="en-US" sz="2000" b="1" dirty="0"/>
              <a:t>impact</a:t>
            </a:r>
            <a:r>
              <a:rPr lang="en-US" altLang="en-US" sz="2000" dirty="0"/>
              <a:t> may it have on interactive systems design?</a:t>
            </a:r>
          </a:p>
          <a:p>
            <a:pPr marL="0" indent="0">
              <a:buFontTx/>
              <a:buNone/>
            </a:pPr>
            <a:endParaRPr lang="en-US" altLang="en-US" sz="2000" dirty="0"/>
          </a:p>
          <a:p>
            <a:pPr marL="0" indent="0">
              <a:buFontTx/>
              <a:buNone/>
            </a:pPr>
            <a:endParaRPr lang="en-US" altLang="en-US" sz="2000" dirty="0"/>
          </a:p>
          <a:p>
            <a:pPr marL="0" indent="0">
              <a:buFontTx/>
              <a:buNone/>
            </a:pPr>
            <a:endParaRPr lang="en-US" altLang="en-US" sz="2000" dirty="0"/>
          </a:p>
          <a:p>
            <a:pPr marL="0" indent="0">
              <a:buFontTx/>
              <a:buNone/>
            </a:pPr>
            <a:r>
              <a:rPr lang="en-US" altLang="en-US" sz="2000" dirty="0"/>
              <a:t>The relationship between </a:t>
            </a:r>
          </a:p>
          <a:p>
            <a:pPr marL="0" indent="0">
              <a:buFontTx/>
              <a:buNone/>
            </a:pPr>
            <a:r>
              <a:rPr lang="en-US" altLang="en-US" sz="2000" dirty="0"/>
              <a:t>what is in the visual field </a:t>
            </a:r>
          </a:p>
          <a:p>
            <a:pPr marL="0" indent="0">
              <a:buFontTx/>
              <a:buNone/>
            </a:pPr>
            <a:r>
              <a:rPr lang="en-US" altLang="en-US" sz="2000" dirty="0"/>
              <a:t>and perception</a:t>
            </a:r>
            <a:r>
              <a:rPr lang="en-US" altLang="en-US" sz="2000" b="1" dirty="0"/>
              <a:t> depends </a:t>
            </a:r>
          </a:p>
          <a:p>
            <a:pPr marL="0" indent="0">
              <a:buFontTx/>
              <a:buNone/>
            </a:pPr>
            <a:r>
              <a:rPr lang="en-US" altLang="en-US" sz="2000" b="1" dirty="0"/>
              <a:t>much on attention</a:t>
            </a:r>
          </a:p>
        </p:txBody>
      </p:sp>
      <p:sp>
        <p:nvSpPr>
          <p:cNvPr id="61443" name="Slide Number Placeholder 3">
            <a:extLst>
              <a:ext uri="{FF2B5EF4-FFF2-40B4-BE49-F238E27FC236}">
                <a16:creationId xmlns:a16="http://schemas.microsoft.com/office/drawing/2014/main" id="{3D730CD1-D927-42BD-B993-D7DF24B90B07}"/>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EC85EDC-187B-412D-98C2-E544AF5F575A}" type="slidenum">
              <a:rPr lang="en-GB" altLang="en-US" sz="1400" smtClean="0"/>
              <a:pPr>
                <a:spcBef>
                  <a:spcPct val="0"/>
                </a:spcBef>
                <a:buFontTx/>
                <a:buNone/>
              </a:pPr>
              <a:t>41</a:t>
            </a:fld>
            <a:endParaRPr lang="en-GB" altLang="en-US" sz="1400" dirty="0"/>
          </a:p>
        </p:txBody>
      </p:sp>
      <p:pic>
        <p:nvPicPr>
          <p:cNvPr id="61444" name="Picture 2">
            <a:extLst>
              <a:ext uri="{FF2B5EF4-FFF2-40B4-BE49-F238E27FC236}">
                <a16:creationId xmlns:a16="http://schemas.microsoft.com/office/drawing/2014/main" id="{038AE7B9-6D53-4914-947E-FCF1745725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0588" y="2924175"/>
            <a:ext cx="5422900" cy="3309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445" name="Rectangle 4">
            <a:extLst>
              <a:ext uri="{FF2B5EF4-FFF2-40B4-BE49-F238E27FC236}">
                <a16:creationId xmlns:a16="http://schemas.microsoft.com/office/drawing/2014/main" id="{32E830BB-4F6A-4A56-AE0F-7B07FD019DD6}"/>
              </a:ext>
            </a:extLst>
          </p:cNvPr>
          <p:cNvSpPr>
            <a:spLocks noChangeArrowheads="1"/>
          </p:cNvSpPr>
          <p:nvPr/>
        </p:nvSpPr>
        <p:spPr bwMode="auto">
          <a:xfrm>
            <a:off x="3422650" y="6259513"/>
            <a:ext cx="48942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0" dirty="0">
                <a:hlinkClick r:id="rId4"/>
              </a:rPr>
              <a:t>https://www.youtube.com/watch?v=IGQmdoK_ZfY</a:t>
            </a:r>
            <a:endParaRPr lang="en-US" altLang="en-US" sz="1600" b="0" dirty="0"/>
          </a:p>
          <a:p>
            <a:pPr eaLnBrk="1" hangingPunct="1">
              <a:spcBef>
                <a:spcPct val="0"/>
              </a:spcBef>
              <a:buFontTx/>
              <a:buNone/>
            </a:pPr>
            <a:endParaRPr lang="en-US" altLang="en-US" sz="1600" b="0" dirty="0"/>
          </a:p>
        </p:txBody>
      </p:sp>
      <p:pic>
        <p:nvPicPr>
          <p:cNvPr id="61446" name="Picture 6">
            <a:extLst>
              <a:ext uri="{FF2B5EF4-FFF2-40B4-BE49-F238E27FC236}">
                <a16:creationId xmlns:a16="http://schemas.microsoft.com/office/drawing/2014/main" id="{0D892CAB-9AB1-4C31-A84A-A33299107C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2950" y="2924176"/>
            <a:ext cx="5861050" cy="3335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9754552"/>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ítulo 1">
            <a:extLst>
              <a:ext uri="{FF2B5EF4-FFF2-40B4-BE49-F238E27FC236}">
                <a16:creationId xmlns:a16="http://schemas.microsoft.com/office/drawing/2014/main" id="{BEEE5BCE-DAF9-4248-8898-9C70205E03D7}"/>
              </a:ext>
            </a:extLst>
          </p:cNvPr>
          <p:cNvSpPr>
            <a:spLocks noGrp="1" noChangeArrowheads="1"/>
          </p:cNvSpPr>
          <p:nvPr>
            <p:ph type="title"/>
          </p:nvPr>
        </p:nvSpPr>
        <p:spPr/>
        <p:txBody>
          <a:bodyPr/>
          <a:lstStyle/>
          <a:p>
            <a:pPr algn="l"/>
            <a:r>
              <a:rPr lang="en-US" altLang="en-US" sz="2400" b="1"/>
              <a:t>Design Implications</a:t>
            </a:r>
            <a:br>
              <a:rPr lang="en-US" altLang="en-US" sz="2400" b="1"/>
            </a:br>
            <a:endParaRPr lang="en-US" altLang="en-US"/>
          </a:p>
        </p:txBody>
      </p:sp>
      <p:sp>
        <p:nvSpPr>
          <p:cNvPr id="3" name="Marcador de Posição de Conteúdo 2">
            <a:extLst>
              <a:ext uri="{FF2B5EF4-FFF2-40B4-BE49-F238E27FC236}">
                <a16:creationId xmlns:a16="http://schemas.microsoft.com/office/drawing/2014/main" id="{F429366B-F8EC-40CC-AB35-B41F8185BAA8}"/>
              </a:ext>
            </a:extLst>
          </p:cNvPr>
          <p:cNvSpPr>
            <a:spLocks noGrp="1"/>
          </p:cNvSpPr>
          <p:nvPr>
            <p:ph idx="1"/>
          </p:nvPr>
        </p:nvSpPr>
        <p:spPr/>
        <p:txBody>
          <a:bodyPr/>
          <a:lstStyle/>
          <a:p>
            <a:pPr marL="0" indent="0">
              <a:buFontTx/>
              <a:buNone/>
              <a:defRPr/>
            </a:pPr>
            <a:r>
              <a:rPr lang="en-US" sz="2400" b="1" dirty="0"/>
              <a:t>Attention</a:t>
            </a:r>
          </a:p>
          <a:p>
            <a:pPr marL="0" indent="0">
              <a:buFontTx/>
              <a:buNone/>
              <a:defRPr/>
            </a:pPr>
            <a:endParaRPr lang="en-US" sz="2400" b="1" dirty="0"/>
          </a:p>
          <a:p>
            <a:pPr>
              <a:defRPr/>
            </a:pPr>
            <a:r>
              <a:rPr lang="en-US" sz="2000" dirty="0"/>
              <a:t>Consider context. </a:t>
            </a:r>
            <a:r>
              <a:rPr lang="en-US" sz="2000" b="1" dirty="0"/>
              <a:t>Make information salient </a:t>
            </a:r>
            <a:r>
              <a:rPr lang="en-US" sz="2000" dirty="0"/>
              <a:t>when it requires attention at a given stage of a task.</a:t>
            </a:r>
          </a:p>
          <a:p>
            <a:pPr>
              <a:defRPr/>
            </a:pPr>
            <a:endParaRPr lang="en-US" sz="2000" dirty="0"/>
          </a:p>
          <a:p>
            <a:pPr>
              <a:defRPr/>
            </a:pPr>
            <a:r>
              <a:rPr lang="en-US" sz="2000" b="1" dirty="0"/>
              <a:t>Avoid cluttering </a:t>
            </a:r>
            <a:r>
              <a:rPr lang="en-US" sz="2000" dirty="0"/>
              <a:t>visual interfaces with too much information. </a:t>
            </a:r>
          </a:p>
          <a:p>
            <a:pPr>
              <a:defRPr/>
            </a:pPr>
            <a:endParaRPr lang="en-US" sz="2000" dirty="0"/>
          </a:p>
          <a:p>
            <a:pPr>
              <a:defRPr/>
            </a:pPr>
            <a:r>
              <a:rPr lang="en-US" sz="2000" dirty="0"/>
              <a:t>Consider designing different ways of supporting effective switching and returning to a particular interface. </a:t>
            </a:r>
          </a:p>
          <a:p>
            <a:pPr>
              <a:defRPr/>
            </a:pPr>
            <a:endParaRPr lang="en-US" dirty="0"/>
          </a:p>
        </p:txBody>
      </p:sp>
      <p:sp>
        <p:nvSpPr>
          <p:cNvPr id="58372" name="Marcador de Posição do Número do Diapositivo 3">
            <a:extLst>
              <a:ext uri="{FF2B5EF4-FFF2-40B4-BE49-F238E27FC236}">
                <a16:creationId xmlns:a16="http://schemas.microsoft.com/office/drawing/2014/main" id="{33262C9E-FA79-4018-B559-4A51453BEE8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E6C8195-4A49-45D6-A828-998596738531}" type="slidenum">
              <a:rPr lang="en-GB" altLang="en-US" sz="1400" smtClean="0"/>
              <a:pPr>
                <a:spcBef>
                  <a:spcPct val="0"/>
                </a:spcBef>
                <a:buFontTx/>
                <a:buNone/>
              </a:pPr>
              <a:t>42</a:t>
            </a:fld>
            <a:endParaRPr lang="en-GB"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ítulo 1">
            <a:extLst>
              <a:ext uri="{FF2B5EF4-FFF2-40B4-BE49-F238E27FC236}">
                <a16:creationId xmlns:a16="http://schemas.microsoft.com/office/drawing/2014/main" id="{AC626320-0313-4716-A0EB-71F5FFA32494}"/>
              </a:ext>
            </a:extLst>
          </p:cNvPr>
          <p:cNvSpPr>
            <a:spLocks noGrp="1" noChangeArrowheads="1"/>
          </p:cNvSpPr>
          <p:nvPr>
            <p:ph type="title"/>
          </p:nvPr>
        </p:nvSpPr>
        <p:spPr/>
        <p:txBody>
          <a:bodyPr/>
          <a:lstStyle/>
          <a:p>
            <a:pPr algn="l"/>
            <a:r>
              <a:rPr lang="en-US" altLang="en-US" sz="2400" b="1"/>
              <a:t>Design Implications</a:t>
            </a:r>
            <a:endParaRPr lang="en-US" altLang="en-US"/>
          </a:p>
        </p:txBody>
      </p:sp>
      <p:sp>
        <p:nvSpPr>
          <p:cNvPr id="3" name="Marcador de Posição de Conteúdo 2">
            <a:extLst>
              <a:ext uri="{FF2B5EF4-FFF2-40B4-BE49-F238E27FC236}">
                <a16:creationId xmlns:a16="http://schemas.microsoft.com/office/drawing/2014/main" id="{0E444244-E529-4048-A092-41CD73AF2DFA}"/>
              </a:ext>
            </a:extLst>
          </p:cNvPr>
          <p:cNvSpPr>
            <a:spLocks noGrp="1"/>
          </p:cNvSpPr>
          <p:nvPr>
            <p:ph idx="1"/>
          </p:nvPr>
        </p:nvSpPr>
        <p:spPr/>
        <p:txBody>
          <a:bodyPr/>
          <a:lstStyle/>
          <a:p>
            <a:pPr marL="0" indent="0">
              <a:buFontTx/>
              <a:buNone/>
              <a:defRPr/>
            </a:pPr>
            <a:r>
              <a:rPr lang="en-US" sz="2400" b="1" dirty="0">
                <a:solidFill>
                  <a:schemeClr val="tx2"/>
                </a:solidFill>
                <a:latin typeface="+mj-lt"/>
                <a:ea typeface="+mj-ea"/>
                <a:cs typeface="+mj-cs"/>
              </a:rPr>
              <a:t>Learning</a:t>
            </a:r>
          </a:p>
          <a:p>
            <a:pPr marL="0" indent="0">
              <a:buFontTx/>
              <a:buNone/>
              <a:defRPr/>
            </a:pPr>
            <a:endParaRPr lang="en-US" sz="2400" b="1" dirty="0">
              <a:solidFill>
                <a:schemeClr val="tx2"/>
              </a:solidFill>
              <a:latin typeface="+mj-lt"/>
              <a:ea typeface="+mj-ea"/>
              <a:cs typeface="+mj-cs"/>
            </a:endParaRPr>
          </a:p>
          <a:p>
            <a:pPr marL="0" indent="0">
              <a:buFontTx/>
              <a:buNone/>
              <a:defRPr/>
            </a:pPr>
            <a:r>
              <a:rPr lang="en-US" sz="2000" dirty="0"/>
              <a:t>Design user interfaces that encourage exploration</a:t>
            </a:r>
          </a:p>
          <a:p>
            <a:pPr marL="0" indent="0">
              <a:buFontTx/>
              <a:buNone/>
              <a:defRPr/>
            </a:pPr>
            <a:endParaRPr lang="en-US" sz="2000" dirty="0"/>
          </a:p>
          <a:p>
            <a:pPr marL="0" indent="0">
              <a:buFontTx/>
              <a:buNone/>
              <a:defRPr/>
            </a:pPr>
            <a:r>
              <a:rPr lang="en-US" sz="2000" dirty="0"/>
              <a:t>Design user interfaces that constrain and guide users to select appropriate actions when initially learning. </a:t>
            </a:r>
          </a:p>
          <a:p>
            <a:pPr>
              <a:defRPr/>
            </a:pPr>
            <a:endParaRPr lang="en-US" dirty="0"/>
          </a:p>
        </p:txBody>
      </p:sp>
      <p:sp>
        <p:nvSpPr>
          <p:cNvPr id="59396" name="Marcador de Posição do Número do Diapositivo 3">
            <a:extLst>
              <a:ext uri="{FF2B5EF4-FFF2-40B4-BE49-F238E27FC236}">
                <a16:creationId xmlns:a16="http://schemas.microsoft.com/office/drawing/2014/main" id="{076FD663-031E-4F76-AF1D-8AE03668E79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465582C-1814-4E21-BF71-1851FFAFF509}" type="slidenum">
              <a:rPr lang="en-GB" altLang="en-US" sz="1400" smtClean="0"/>
              <a:pPr>
                <a:spcBef>
                  <a:spcPct val="0"/>
                </a:spcBef>
                <a:buFontTx/>
                <a:buNone/>
              </a:pPr>
              <a:t>43</a:t>
            </a:fld>
            <a:endParaRPr lang="en-GB" altLang="en-US"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ítulo 1">
            <a:extLst>
              <a:ext uri="{FF2B5EF4-FFF2-40B4-BE49-F238E27FC236}">
                <a16:creationId xmlns:a16="http://schemas.microsoft.com/office/drawing/2014/main" id="{28C0B784-A648-4C0A-9CE2-47FAA8BC452F}"/>
              </a:ext>
            </a:extLst>
          </p:cNvPr>
          <p:cNvSpPr>
            <a:spLocks noGrp="1" noChangeArrowheads="1"/>
          </p:cNvSpPr>
          <p:nvPr>
            <p:ph type="title"/>
          </p:nvPr>
        </p:nvSpPr>
        <p:spPr/>
        <p:txBody>
          <a:bodyPr/>
          <a:lstStyle/>
          <a:p>
            <a:pPr algn="l"/>
            <a:r>
              <a:rPr lang="en-US" altLang="en-US" sz="2400" b="1"/>
              <a:t>Design Implications</a:t>
            </a:r>
            <a:endParaRPr lang="en-US" altLang="en-US"/>
          </a:p>
        </p:txBody>
      </p:sp>
      <p:sp>
        <p:nvSpPr>
          <p:cNvPr id="3" name="Marcador de Posição de Conteúdo 2">
            <a:extLst>
              <a:ext uri="{FF2B5EF4-FFF2-40B4-BE49-F238E27FC236}">
                <a16:creationId xmlns:a16="http://schemas.microsoft.com/office/drawing/2014/main" id="{2FBEDD8F-F0B8-4EEF-9DD6-761AB0FD4947}"/>
              </a:ext>
            </a:extLst>
          </p:cNvPr>
          <p:cNvSpPr>
            <a:spLocks noGrp="1"/>
          </p:cNvSpPr>
          <p:nvPr>
            <p:ph idx="1"/>
          </p:nvPr>
        </p:nvSpPr>
        <p:spPr/>
        <p:txBody>
          <a:bodyPr/>
          <a:lstStyle/>
          <a:p>
            <a:pPr marL="0" indent="0">
              <a:buFontTx/>
              <a:buNone/>
              <a:defRPr/>
            </a:pPr>
            <a:r>
              <a:rPr lang="en-US" sz="2400" b="1" dirty="0">
                <a:solidFill>
                  <a:schemeClr val="tx2"/>
                </a:solidFill>
                <a:latin typeface="+mj-lt"/>
                <a:ea typeface="+mj-ea"/>
                <a:cs typeface="+mj-cs"/>
              </a:rPr>
              <a:t>Problem solving</a:t>
            </a:r>
          </a:p>
          <a:p>
            <a:pPr marL="0" indent="0">
              <a:buFontTx/>
              <a:buNone/>
              <a:defRPr/>
            </a:pPr>
            <a:endParaRPr lang="en-US" sz="2400" b="1" dirty="0">
              <a:solidFill>
                <a:schemeClr val="tx2"/>
              </a:solidFill>
              <a:latin typeface="+mj-lt"/>
              <a:ea typeface="+mj-ea"/>
              <a:cs typeface="+mj-cs"/>
            </a:endParaRPr>
          </a:p>
          <a:p>
            <a:pPr>
              <a:defRPr/>
            </a:pPr>
            <a:r>
              <a:rPr lang="en-US" sz="2000" dirty="0"/>
              <a:t>Provide information and help that are easy to access for people who want to understand more about how to carry out an activity more effectively (e.g., web searching).</a:t>
            </a:r>
          </a:p>
          <a:p>
            <a:pPr marL="0" indent="0">
              <a:buFontTx/>
              <a:buNone/>
              <a:defRPr/>
            </a:pPr>
            <a:endParaRPr lang="en-US" sz="2000" dirty="0"/>
          </a:p>
          <a:p>
            <a:pPr>
              <a:defRPr/>
            </a:pPr>
            <a:r>
              <a:rPr lang="en-US" sz="2000" dirty="0"/>
              <a:t>Use simple and memorable functions to support rapid decision-making and planning. </a:t>
            </a:r>
          </a:p>
          <a:p>
            <a:pPr>
              <a:defRPr/>
            </a:pPr>
            <a:endParaRPr lang="en-US" sz="2000" dirty="0"/>
          </a:p>
          <a:p>
            <a:pPr>
              <a:defRPr/>
            </a:pPr>
            <a:r>
              <a:rPr lang="en-US" sz="2000" dirty="0"/>
              <a:t>Enable users to set or save their own criteria or preferences</a:t>
            </a:r>
          </a:p>
        </p:txBody>
      </p:sp>
      <p:sp>
        <p:nvSpPr>
          <p:cNvPr id="60420" name="Marcador de Posição do Número do Diapositivo 3">
            <a:extLst>
              <a:ext uri="{FF2B5EF4-FFF2-40B4-BE49-F238E27FC236}">
                <a16:creationId xmlns:a16="http://schemas.microsoft.com/office/drawing/2014/main" id="{0A8FEFDA-B35E-44B8-B6EC-57238DCDFD0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D34E96A-A855-499F-92A4-5EC98A5372A4}" type="slidenum">
              <a:rPr lang="en-GB" altLang="en-US" sz="1400" smtClean="0"/>
              <a:pPr>
                <a:spcBef>
                  <a:spcPct val="0"/>
                </a:spcBef>
                <a:buFontTx/>
                <a:buNone/>
              </a:pPr>
              <a:t>44</a:t>
            </a:fld>
            <a:endParaRPr lang="en-GB" altLang="en-US"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9C1BACE8-A99F-44B2-94C8-FCA2E29A0A4B}"/>
              </a:ext>
            </a:extLst>
          </p:cNvPr>
          <p:cNvSpPr>
            <a:spLocks noGrp="1" noChangeArrowheads="1"/>
          </p:cNvSpPr>
          <p:nvPr>
            <p:ph type="title"/>
          </p:nvPr>
        </p:nvSpPr>
        <p:spPr/>
        <p:txBody>
          <a:bodyPr/>
          <a:lstStyle/>
          <a:p>
            <a:pPr algn="l"/>
            <a:r>
              <a:rPr lang="en-US" altLang="en-US" sz="2400" b="1"/>
              <a:t>Emotion</a:t>
            </a:r>
          </a:p>
        </p:txBody>
      </p:sp>
      <p:sp>
        <p:nvSpPr>
          <p:cNvPr id="64515" name="Content Placeholder 2">
            <a:extLst>
              <a:ext uri="{FF2B5EF4-FFF2-40B4-BE49-F238E27FC236}">
                <a16:creationId xmlns:a16="http://schemas.microsoft.com/office/drawing/2014/main" id="{73CDDFC8-7E43-428B-8AED-C5076DA683FE}"/>
              </a:ext>
            </a:extLst>
          </p:cNvPr>
          <p:cNvSpPr>
            <a:spLocks noGrp="1" noChangeArrowheads="1"/>
          </p:cNvSpPr>
          <p:nvPr>
            <p:ph idx="1"/>
          </p:nvPr>
        </p:nvSpPr>
        <p:spPr/>
        <p:txBody>
          <a:bodyPr/>
          <a:lstStyle/>
          <a:p>
            <a:r>
              <a:rPr lang="en-US" altLang="en-US" sz="2000" dirty="0"/>
              <a:t>Various theories on how it works</a:t>
            </a:r>
          </a:p>
          <a:p>
            <a:endParaRPr lang="en-US" altLang="en-US" sz="2000" dirty="0"/>
          </a:p>
          <a:p>
            <a:r>
              <a:rPr lang="en-US" altLang="en-US" sz="2000" dirty="0"/>
              <a:t>Involves cognitive and physical response to stimuli</a:t>
            </a:r>
          </a:p>
          <a:p>
            <a:endParaRPr lang="en-US" altLang="en-US" sz="2000" dirty="0"/>
          </a:p>
          <a:p>
            <a:r>
              <a:rPr lang="en-US" altLang="en-US" sz="2000" dirty="0"/>
              <a:t>Biological response to a physical stimuli is called affect</a:t>
            </a:r>
          </a:p>
          <a:p>
            <a:endParaRPr lang="en-US" altLang="en-US" sz="2000" dirty="0"/>
          </a:p>
          <a:p>
            <a:r>
              <a:rPr lang="en-US" altLang="en-US" sz="2000" dirty="0"/>
              <a:t>Affect Influences how we react to situations</a:t>
            </a:r>
          </a:p>
          <a:p>
            <a:endParaRPr lang="en-US" altLang="en-US" sz="2000" dirty="0"/>
          </a:p>
          <a:p>
            <a:pPr marL="914400" lvl="2" indent="0">
              <a:buFontTx/>
              <a:buNone/>
            </a:pPr>
            <a:r>
              <a:rPr lang="pt-PT" altLang="en-US" sz="2000" dirty="0"/>
              <a:t>“</a:t>
            </a:r>
            <a:r>
              <a:rPr lang="en-GB" altLang="en-US" sz="2000" b="1" dirty="0"/>
              <a:t>Negative affect can make it harder to do even easy tasks; positive affect can make it easier to do difficult tasks</a:t>
            </a:r>
            <a:r>
              <a:rPr lang="pt-PT" altLang="en-US" sz="2000" dirty="0"/>
              <a:t>”</a:t>
            </a:r>
          </a:p>
          <a:p>
            <a:pPr marL="1371600" lvl="3" indent="0">
              <a:buFontTx/>
              <a:buNone/>
            </a:pPr>
            <a:r>
              <a:rPr lang="pt-PT" altLang="en-US" dirty="0"/>
              <a:t>					(</a:t>
            </a:r>
            <a:r>
              <a:rPr lang="pt-PT" altLang="en-US" dirty="0" err="1"/>
              <a:t>Donald</a:t>
            </a:r>
            <a:r>
              <a:rPr lang="pt-PT" altLang="en-US" dirty="0"/>
              <a:t> Norman)</a:t>
            </a:r>
          </a:p>
          <a:p>
            <a:pPr marL="1371600" lvl="3" indent="0">
              <a:buFontTx/>
              <a:buNone/>
            </a:pPr>
            <a:endParaRPr lang="pt-PT" altLang="en-US" dirty="0"/>
          </a:p>
        </p:txBody>
      </p:sp>
      <p:sp>
        <p:nvSpPr>
          <p:cNvPr id="64516" name="Slide Number Placeholder 3">
            <a:extLst>
              <a:ext uri="{FF2B5EF4-FFF2-40B4-BE49-F238E27FC236}">
                <a16:creationId xmlns:a16="http://schemas.microsoft.com/office/drawing/2014/main" id="{63972AA5-3DE1-41E8-8740-D55C7BF3D647}"/>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A0C97C-6B18-45BE-89CC-20373684D0C5}" type="slidenum">
              <a:rPr lang="en-US" altLang="en-US" sz="1400" smtClean="0">
                <a:solidFill>
                  <a:schemeClr val="bg1"/>
                </a:solidFill>
              </a:rPr>
              <a:pPr>
                <a:spcBef>
                  <a:spcPct val="0"/>
                </a:spcBef>
                <a:buFontTx/>
                <a:buNone/>
              </a:pPr>
              <a:t>45</a:t>
            </a:fld>
            <a:endParaRPr lang="en-US" altLang="en-US" sz="1400">
              <a:solidFill>
                <a:schemeClr val="bg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a:extLst>
              <a:ext uri="{FF2B5EF4-FFF2-40B4-BE49-F238E27FC236}">
                <a16:creationId xmlns:a16="http://schemas.microsoft.com/office/drawing/2014/main" id="{7E0B93E6-49EC-4A77-AC48-A4A207F2B433}"/>
              </a:ext>
            </a:extLst>
          </p:cNvPr>
          <p:cNvSpPr>
            <a:spLocks noGrp="1" noChangeArrowheads="1"/>
          </p:cNvSpPr>
          <p:nvPr>
            <p:ph idx="1"/>
          </p:nvPr>
        </p:nvSpPr>
        <p:spPr>
          <a:xfrm>
            <a:off x="3334271" y="2741612"/>
            <a:ext cx="5827489" cy="1916113"/>
          </a:xfrm>
        </p:spPr>
        <p:txBody>
          <a:bodyPr/>
          <a:lstStyle/>
          <a:p>
            <a:r>
              <a:rPr lang="en-US" altLang="pt-PT" sz="2000" b="1" dirty="0"/>
              <a:t>Emotional design is a critical part of design</a:t>
            </a:r>
          </a:p>
        </p:txBody>
      </p:sp>
      <p:sp>
        <p:nvSpPr>
          <p:cNvPr id="66563" name="Slide Number Placeholder 3">
            <a:extLst>
              <a:ext uri="{FF2B5EF4-FFF2-40B4-BE49-F238E27FC236}">
                <a16:creationId xmlns:a16="http://schemas.microsoft.com/office/drawing/2014/main" id="{D1F14F2C-93E6-4F91-85C9-73BEEB6E2BEA}"/>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DD991EA-1E50-4DFD-92C4-59487894A7DD}" type="slidenum">
              <a:rPr lang="en-GB" altLang="pt-PT" sz="1400" smtClean="0"/>
              <a:pPr>
                <a:spcBef>
                  <a:spcPct val="0"/>
                </a:spcBef>
                <a:buFontTx/>
                <a:buNone/>
              </a:pPr>
              <a:t>46</a:t>
            </a:fld>
            <a:endParaRPr lang="en-GB" altLang="pt-PT" sz="1400"/>
          </a:p>
        </p:txBody>
      </p:sp>
      <p:pic>
        <p:nvPicPr>
          <p:cNvPr id="66564" name="Picture 2">
            <a:extLst>
              <a:ext uri="{FF2B5EF4-FFF2-40B4-BE49-F238E27FC236}">
                <a16:creationId xmlns:a16="http://schemas.microsoft.com/office/drawing/2014/main" id="{41455A3C-6E4A-4F46-9CEB-FE4D4F80D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00" y="2173288"/>
            <a:ext cx="2724150" cy="430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565" name="Rectangle 5">
            <a:extLst>
              <a:ext uri="{FF2B5EF4-FFF2-40B4-BE49-F238E27FC236}">
                <a16:creationId xmlns:a16="http://schemas.microsoft.com/office/drawing/2014/main" id="{982452E1-2E8C-4B94-A290-A2311BCB97D5}"/>
              </a:ext>
            </a:extLst>
          </p:cNvPr>
          <p:cNvSpPr>
            <a:spLocks noChangeArrowheads="1"/>
          </p:cNvSpPr>
          <p:nvPr/>
        </p:nvSpPr>
        <p:spPr bwMode="auto">
          <a:xfrm>
            <a:off x="3851275" y="4365625"/>
            <a:ext cx="47879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1600" b="0" dirty="0">
                <a:hlinkClick r:id="rId4"/>
              </a:rPr>
              <a:t>Don Norman: The Design of Everyday Things</a:t>
            </a:r>
            <a:endParaRPr lang="en-US" altLang="pt-PT" sz="1600" b="0" dirty="0"/>
          </a:p>
        </p:txBody>
      </p:sp>
      <p:sp>
        <p:nvSpPr>
          <p:cNvPr id="66566" name="Rectangle 6">
            <a:extLst>
              <a:ext uri="{FF2B5EF4-FFF2-40B4-BE49-F238E27FC236}">
                <a16:creationId xmlns:a16="http://schemas.microsoft.com/office/drawing/2014/main" id="{21673DF3-0AB4-41FE-8668-7717C8359697}"/>
              </a:ext>
            </a:extLst>
          </p:cNvPr>
          <p:cNvSpPr>
            <a:spLocks noChangeArrowheads="1"/>
          </p:cNvSpPr>
          <p:nvPr/>
        </p:nvSpPr>
        <p:spPr bwMode="auto">
          <a:xfrm>
            <a:off x="3334271" y="3624262"/>
            <a:ext cx="32111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pt-PT" sz="2000" b="0" dirty="0"/>
              <a:t>Donald Norman videos</a:t>
            </a:r>
            <a:r>
              <a:rPr lang="pt-PT" altLang="pt-PT" sz="2000" b="0" dirty="0"/>
              <a:t>:</a:t>
            </a:r>
          </a:p>
        </p:txBody>
      </p:sp>
      <p:sp>
        <p:nvSpPr>
          <p:cNvPr id="66567" name="Rectangle 7">
            <a:extLst>
              <a:ext uri="{FF2B5EF4-FFF2-40B4-BE49-F238E27FC236}">
                <a16:creationId xmlns:a16="http://schemas.microsoft.com/office/drawing/2014/main" id="{7867D627-E0C0-4971-AAC6-18949F97A063}"/>
              </a:ext>
            </a:extLst>
          </p:cNvPr>
          <p:cNvSpPr>
            <a:spLocks noChangeArrowheads="1"/>
          </p:cNvSpPr>
          <p:nvPr/>
        </p:nvSpPr>
        <p:spPr bwMode="auto">
          <a:xfrm>
            <a:off x="3851275" y="4035425"/>
            <a:ext cx="457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1600" b="0" dirty="0">
                <a:hlinkClick r:id="rId5"/>
              </a:rPr>
              <a:t>User Centered Design Don Norman</a:t>
            </a:r>
            <a:endParaRPr lang="en-US" altLang="pt-PT" sz="1800" b="0" dirty="0"/>
          </a:p>
        </p:txBody>
      </p:sp>
      <p:sp>
        <p:nvSpPr>
          <p:cNvPr id="3" name="Rectângulo 2">
            <a:extLst>
              <a:ext uri="{FF2B5EF4-FFF2-40B4-BE49-F238E27FC236}">
                <a16:creationId xmlns:a16="http://schemas.microsoft.com/office/drawing/2014/main" id="{99287E69-B2B8-4D61-9573-0C5F69606F0B}"/>
              </a:ext>
            </a:extLst>
          </p:cNvPr>
          <p:cNvSpPr/>
          <p:nvPr/>
        </p:nvSpPr>
        <p:spPr>
          <a:xfrm>
            <a:off x="511175" y="839788"/>
            <a:ext cx="8431213" cy="1016000"/>
          </a:xfrm>
          <a:prstGeom prst="rect">
            <a:avLst/>
          </a:prstGeom>
        </p:spPr>
        <p:txBody>
          <a:bodyPr>
            <a:spAutoFit/>
          </a:bodyPr>
          <a:lstStyle/>
          <a:p>
            <a:pPr eaLnBrk="1" hangingPunct="1">
              <a:defRPr/>
            </a:pPr>
            <a:r>
              <a:rPr lang="en-US" sz="2000" b="0" dirty="0"/>
              <a:t>Not only the cognitive system is important</a:t>
            </a:r>
          </a:p>
          <a:p>
            <a:pPr lvl="2" eaLnBrk="1" hangingPunct="1">
              <a:defRPr/>
            </a:pPr>
            <a:endParaRPr lang="pt-PT" sz="2000" b="0" dirty="0"/>
          </a:p>
          <a:p>
            <a:pPr marL="0" lvl="2" eaLnBrk="1" hangingPunct="1">
              <a:defRPr/>
            </a:pPr>
            <a:r>
              <a:rPr lang="pt-PT" sz="2000" b="0" dirty="0"/>
              <a:t>				</a:t>
            </a:r>
            <a:r>
              <a:rPr lang="en-US" sz="2000" b="0" dirty="0"/>
              <a:t>But also the </a:t>
            </a:r>
            <a:r>
              <a:rPr lang="en-US" sz="2000" dirty="0"/>
              <a:t>emotional system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43E3C-57E2-489F-8DC6-271E63A118F0}"/>
              </a:ext>
            </a:extLst>
          </p:cNvPr>
          <p:cNvSpPr>
            <a:spLocks noGrp="1"/>
          </p:cNvSpPr>
          <p:nvPr>
            <p:ph idx="1"/>
          </p:nvPr>
        </p:nvSpPr>
        <p:spPr>
          <a:xfrm>
            <a:off x="214313" y="1017588"/>
            <a:ext cx="8929687" cy="4535487"/>
          </a:xfrm>
        </p:spPr>
        <p:txBody>
          <a:bodyPr/>
          <a:lstStyle/>
          <a:p>
            <a:pPr>
              <a:defRPr/>
            </a:pPr>
            <a:r>
              <a:rPr lang="en-US" sz="2000" dirty="0"/>
              <a:t>As … moved from designing and evaluating work-oriented applications towards dealing with </a:t>
            </a:r>
            <a:r>
              <a:rPr lang="en-US" sz="2000" b="1" dirty="0"/>
              <a:t>leisure-oriented applications</a:t>
            </a:r>
            <a:r>
              <a:rPr lang="en-US" sz="2000" dirty="0"/>
              <a:t>, … we have had to consider e.g. what constitutes an </a:t>
            </a:r>
            <a:r>
              <a:rPr lang="en-US" sz="2000" i="1" dirty="0"/>
              <a:t>experience</a:t>
            </a:r>
            <a:r>
              <a:rPr lang="en-US" sz="2000" dirty="0"/>
              <a:t>, how to deal with users’ </a:t>
            </a:r>
            <a:r>
              <a:rPr lang="en-US" sz="2000" b="1" i="1" dirty="0"/>
              <a:t>emotions</a:t>
            </a:r>
            <a:r>
              <a:rPr lang="en-US" sz="2000" dirty="0"/>
              <a:t>, and understanding </a:t>
            </a:r>
            <a:r>
              <a:rPr lang="en-US" sz="2000" i="1" dirty="0"/>
              <a:t>aesthetic</a:t>
            </a:r>
            <a:r>
              <a:rPr lang="en-US" sz="2000" dirty="0"/>
              <a:t> practices and experiences”</a:t>
            </a:r>
            <a:endParaRPr lang="pt-PT" sz="2000" dirty="0"/>
          </a:p>
          <a:p>
            <a:pPr marL="0" lvl="2" indent="0">
              <a:buFontTx/>
              <a:buNone/>
              <a:defRPr/>
            </a:pPr>
            <a:r>
              <a:rPr lang="pt-PT" sz="2000" dirty="0">
                <a:ea typeface="+mn-ea"/>
                <a:cs typeface="+mn-cs"/>
              </a:rPr>
              <a:t>				</a:t>
            </a:r>
          </a:p>
        </p:txBody>
      </p:sp>
      <p:sp>
        <p:nvSpPr>
          <p:cNvPr id="68611" name="Slide Number Placeholder 3">
            <a:extLst>
              <a:ext uri="{FF2B5EF4-FFF2-40B4-BE49-F238E27FC236}">
                <a16:creationId xmlns:a16="http://schemas.microsoft.com/office/drawing/2014/main" id="{79D0D892-92A6-4B85-B8E0-F05AA1D33CB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F750D54-923E-40EB-B2E9-9C49B9F09DCE}" type="slidenum">
              <a:rPr lang="en-GB" altLang="pt-PT" sz="1400" smtClean="0"/>
              <a:pPr>
                <a:spcBef>
                  <a:spcPct val="0"/>
                </a:spcBef>
                <a:buFontTx/>
                <a:buNone/>
              </a:pPr>
              <a:t>47</a:t>
            </a:fld>
            <a:endParaRPr lang="en-GB" altLang="pt-PT" sz="1400"/>
          </a:p>
        </p:txBody>
      </p:sp>
      <p:sp>
        <p:nvSpPr>
          <p:cNvPr id="68612" name="Rectângulo 1">
            <a:extLst>
              <a:ext uri="{FF2B5EF4-FFF2-40B4-BE49-F238E27FC236}">
                <a16:creationId xmlns:a16="http://schemas.microsoft.com/office/drawing/2014/main" id="{31653D0B-0FBC-4C81-90C0-2F9EDD2A69B8}"/>
              </a:ext>
            </a:extLst>
          </p:cNvPr>
          <p:cNvSpPr>
            <a:spLocks noChangeArrowheads="1"/>
          </p:cNvSpPr>
          <p:nvPr/>
        </p:nvSpPr>
        <p:spPr bwMode="auto">
          <a:xfrm>
            <a:off x="2085891" y="5561042"/>
            <a:ext cx="54384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1600" b="0" dirty="0">
                <a:hlinkClick r:id="rId2"/>
              </a:rPr>
              <a:t>Affective Computing | The Encyclopedia of Human-Computer Interaction, 2nd Ed.</a:t>
            </a:r>
            <a:endParaRPr lang="en-US" altLang="en-US" sz="1800" b="0" dirty="0"/>
          </a:p>
        </p:txBody>
      </p:sp>
      <p:pic>
        <p:nvPicPr>
          <p:cNvPr id="68613" name="Picture 9">
            <a:extLst>
              <a:ext uri="{FF2B5EF4-FFF2-40B4-BE49-F238E27FC236}">
                <a16:creationId xmlns:a16="http://schemas.microsoft.com/office/drawing/2014/main" id="{5A923FB4-EDDF-43DF-99BF-A2FF8415C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700" y="2717800"/>
            <a:ext cx="2667000"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8">
            <a:extLst>
              <a:ext uri="{FF2B5EF4-FFF2-40B4-BE49-F238E27FC236}">
                <a16:creationId xmlns:a16="http://schemas.microsoft.com/office/drawing/2014/main" id="{33D12C37-FE97-4246-9DA5-A1DB9F9878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563" y="2708275"/>
            <a:ext cx="4924425"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43E3C-57E2-489F-8DC6-271E63A118F0}"/>
              </a:ext>
            </a:extLst>
          </p:cNvPr>
          <p:cNvSpPr>
            <a:spLocks noGrp="1"/>
          </p:cNvSpPr>
          <p:nvPr>
            <p:ph idx="1"/>
          </p:nvPr>
        </p:nvSpPr>
        <p:spPr>
          <a:xfrm>
            <a:off x="611559" y="643543"/>
            <a:ext cx="8352928" cy="4535487"/>
          </a:xfrm>
        </p:spPr>
        <p:txBody>
          <a:bodyPr/>
          <a:lstStyle/>
          <a:p>
            <a:pPr marL="0" indent="0">
              <a:buNone/>
              <a:defRPr/>
            </a:pPr>
            <a:r>
              <a:rPr lang="en-US" sz="2000" b="1" dirty="0"/>
              <a:t>Affective computing </a:t>
            </a:r>
            <a:r>
              <a:rPr lang="en-US" sz="2000" dirty="0"/>
              <a:t>is the study of how machines can recognize, interpret, and respond to human emotions. It's an interdisciplinary field that combines computer science, psychology, and cognitive science. </a:t>
            </a:r>
            <a:endParaRPr lang="en-US" altLang="en-US" sz="1200" dirty="0"/>
          </a:p>
          <a:p>
            <a:pPr>
              <a:defRPr/>
            </a:pPr>
            <a:endParaRPr lang="pt-PT" sz="2000" dirty="0">
              <a:ea typeface="+mn-ea"/>
              <a:cs typeface="+mn-cs"/>
            </a:endParaRPr>
          </a:p>
        </p:txBody>
      </p:sp>
      <p:sp>
        <p:nvSpPr>
          <p:cNvPr id="68611" name="Slide Number Placeholder 3">
            <a:extLst>
              <a:ext uri="{FF2B5EF4-FFF2-40B4-BE49-F238E27FC236}">
                <a16:creationId xmlns:a16="http://schemas.microsoft.com/office/drawing/2014/main" id="{79D0D892-92A6-4B85-B8E0-F05AA1D33CB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F750D54-923E-40EB-B2E9-9C49B9F09DCE}" type="slidenum">
              <a:rPr lang="en-GB" altLang="pt-PT" sz="1400" smtClean="0"/>
              <a:pPr>
                <a:spcBef>
                  <a:spcPct val="0"/>
                </a:spcBef>
                <a:buFontTx/>
                <a:buNone/>
              </a:pPr>
              <a:t>48</a:t>
            </a:fld>
            <a:endParaRPr lang="en-GB" altLang="pt-PT" sz="1400"/>
          </a:p>
        </p:txBody>
      </p:sp>
      <p:pic>
        <p:nvPicPr>
          <p:cNvPr id="2" name="Picture 1">
            <a:extLst>
              <a:ext uri="{FF2B5EF4-FFF2-40B4-BE49-F238E27FC236}">
                <a16:creationId xmlns:a16="http://schemas.microsoft.com/office/drawing/2014/main" id="{BF77B288-69BA-4091-BFBC-FE7653A0760A}"/>
              </a:ext>
            </a:extLst>
          </p:cNvPr>
          <p:cNvPicPr>
            <a:picLocks noChangeAspect="1"/>
          </p:cNvPicPr>
          <p:nvPr/>
        </p:nvPicPr>
        <p:blipFill>
          <a:blip r:embed="rId2"/>
          <a:stretch>
            <a:fillRect/>
          </a:stretch>
        </p:blipFill>
        <p:spPr>
          <a:xfrm>
            <a:off x="1411807" y="2132856"/>
            <a:ext cx="6752431" cy="3940123"/>
          </a:xfrm>
          <a:prstGeom prst="rect">
            <a:avLst/>
          </a:prstGeom>
        </p:spPr>
      </p:pic>
      <p:sp>
        <p:nvSpPr>
          <p:cNvPr id="5" name="Rectangle 4">
            <a:extLst>
              <a:ext uri="{FF2B5EF4-FFF2-40B4-BE49-F238E27FC236}">
                <a16:creationId xmlns:a16="http://schemas.microsoft.com/office/drawing/2014/main" id="{A44382A6-2CA1-411E-8678-795A62A5E112}"/>
              </a:ext>
            </a:extLst>
          </p:cNvPr>
          <p:cNvSpPr/>
          <p:nvPr/>
        </p:nvSpPr>
        <p:spPr>
          <a:xfrm>
            <a:off x="1187624" y="6245225"/>
            <a:ext cx="7128792" cy="584775"/>
          </a:xfrm>
          <a:prstGeom prst="rect">
            <a:avLst/>
          </a:prstGeom>
        </p:spPr>
        <p:txBody>
          <a:bodyPr wrap="square">
            <a:spAutoFit/>
          </a:bodyPr>
          <a:lstStyle/>
          <a:p>
            <a:r>
              <a:rPr lang="en-US" sz="1600" b="0" dirty="0">
                <a:hlinkClick r:id="rId3"/>
              </a:rPr>
              <a:t>Affective Computing: Recent Advances, Challenges, and Future Trends | Intelligent Computing</a:t>
            </a:r>
            <a:endParaRPr lang="en-US" sz="1600" b="0" dirty="0"/>
          </a:p>
        </p:txBody>
      </p:sp>
    </p:spTree>
    <p:extLst>
      <p:ext uri="{BB962C8B-B14F-4D97-AF65-F5344CB8AC3E}">
        <p14:creationId xmlns:p14="http://schemas.microsoft.com/office/powerpoint/2010/main" val="4197975542"/>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Group Of People Stock Photos, Images and Backgrounds for Free Download">
            <a:extLst>
              <a:ext uri="{FF2B5EF4-FFF2-40B4-BE49-F238E27FC236}">
                <a16:creationId xmlns:a16="http://schemas.microsoft.com/office/drawing/2014/main" id="{8236C045-304F-D7A9-99D4-B8EA90DED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46" b="15385"/>
          <a:stretch/>
        </p:blipFill>
        <p:spPr bwMode="auto">
          <a:xfrm>
            <a:off x="15" y="857257"/>
            <a:ext cx="9143985" cy="5143493"/>
          </a:xfrm>
          <a:prstGeom prst="rect">
            <a:avLst/>
          </a:prstGeom>
          <a:solidFill>
            <a:srgbClr val="FFFFFF"/>
          </a:solidFill>
        </p:spPr>
      </p:pic>
      <p:sp>
        <p:nvSpPr>
          <p:cNvPr id="4" name="Title 1">
            <a:extLst>
              <a:ext uri="{FF2B5EF4-FFF2-40B4-BE49-F238E27FC236}">
                <a16:creationId xmlns:a16="http://schemas.microsoft.com/office/drawing/2014/main" id="{EFBC542F-7D9F-AB77-F757-FD700D8158F0}"/>
              </a:ext>
            </a:extLst>
          </p:cNvPr>
          <p:cNvSpPr>
            <a:spLocks noGrp="1"/>
          </p:cNvSpPr>
          <p:nvPr>
            <p:ph type="title"/>
          </p:nvPr>
        </p:nvSpPr>
        <p:spPr>
          <a:xfrm>
            <a:off x="0" y="5010150"/>
            <a:ext cx="4572000" cy="781050"/>
          </a:xfrm>
          <a:solidFill>
            <a:schemeClr val="bg2">
              <a:lumMod val="10000"/>
              <a:alpha val="65000"/>
            </a:schemeClr>
          </a:solidFill>
        </p:spPr>
        <p:txBody>
          <a:bodyPr>
            <a:noAutofit/>
          </a:bodyPr>
          <a:lstStyle/>
          <a:p>
            <a:r>
              <a:rPr lang="en-GB" sz="2400" dirty="0">
                <a:solidFill>
                  <a:schemeClr val="bg1"/>
                </a:solidFill>
              </a:rPr>
              <a:t>Users have different abilities, contexts and motivations</a:t>
            </a:r>
          </a:p>
        </p:txBody>
      </p:sp>
    </p:spTree>
    <p:extLst>
      <p:ext uri="{BB962C8B-B14F-4D97-AF65-F5344CB8AC3E}">
        <p14:creationId xmlns:p14="http://schemas.microsoft.com/office/powerpoint/2010/main" val="32464406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685AC9-70CF-90C3-AF53-71D6DDC146C5}"/>
              </a:ext>
            </a:extLst>
          </p:cNvPr>
          <p:cNvSpPr>
            <a:spLocks noGrp="1"/>
          </p:cNvSpPr>
          <p:nvPr>
            <p:ph idx="1"/>
          </p:nvPr>
        </p:nvSpPr>
        <p:spPr/>
        <p:txBody>
          <a:bodyPr/>
          <a:lstStyle/>
          <a:p>
            <a:endParaRPr lang="en-GB" dirty="0"/>
          </a:p>
          <a:p>
            <a:endParaRPr lang="en-GB" dirty="0"/>
          </a:p>
          <a:p>
            <a:endParaRPr lang="en-GB" dirty="0"/>
          </a:p>
          <a:p>
            <a:pPr marL="0" indent="0">
              <a:buNone/>
            </a:pPr>
            <a:r>
              <a:rPr lang="en-GB" sz="2400" dirty="0"/>
              <a:t>We need to know who are the </a:t>
            </a:r>
            <a:r>
              <a:rPr lang="en-GB" sz="2400" b="1" dirty="0"/>
              <a:t>users</a:t>
            </a:r>
            <a:r>
              <a:rPr lang="en-GB" sz="2400" dirty="0"/>
              <a:t>, their characteristics, context, and what motivates them</a:t>
            </a:r>
          </a:p>
        </p:txBody>
      </p:sp>
    </p:spTree>
    <p:extLst>
      <p:ext uri="{BB962C8B-B14F-4D97-AF65-F5344CB8AC3E}">
        <p14:creationId xmlns:p14="http://schemas.microsoft.com/office/powerpoint/2010/main" val="1665687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7C1C-5F36-156D-30E6-5643B2B1BD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687657-1CF4-121C-467E-26156C95BBA9}"/>
              </a:ext>
            </a:extLst>
          </p:cNvPr>
          <p:cNvSpPr>
            <a:spLocks noGrp="1"/>
          </p:cNvSpPr>
          <p:nvPr>
            <p:ph idx="1"/>
          </p:nvPr>
        </p:nvSpPr>
        <p:spPr>
          <a:xfrm>
            <a:off x="467544" y="1556792"/>
            <a:ext cx="4221476" cy="3263504"/>
          </a:xfrm>
        </p:spPr>
        <p:txBody>
          <a:bodyPr/>
          <a:lstStyle/>
          <a:p>
            <a:pPr marL="0" indent="0">
              <a:buNone/>
            </a:pPr>
            <a:endParaRPr lang="en-GB" dirty="0"/>
          </a:p>
          <a:p>
            <a:pPr marL="0" indent="0">
              <a:buNone/>
            </a:pPr>
            <a:r>
              <a:rPr lang="en-GB" sz="2400" dirty="0"/>
              <a:t>Is it the same to design a system to be used every day or once a year?</a:t>
            </a:r>
          </a:p>
        </p:txBody>
      </p:sp>
      <p:pic>
        <p:nvPicPr>
          <p:cNvPr id="2" name="Picture 1">
            <a:extLst>
              <a:ext uri="{FF2B5EF4-FFF2-40B4-BE49-F238E27FC236}">
                <a16:creationId xmlns:a16="http://schemas.microsoft.com/office/drawing/2014/main" id="{322C029B-E99C-411D-9438-EAE725700E4A}"/>
              </a:ext>
            </a:extLst>
          </p:cNvPr>
          <p:cNvPicPr>
            <a:picLocks noChangeAspect="1"/>
          </p:cNvPicPr>
          <p:nvPr/>
        </p:nvPicPr>
        <p:blipFill>
          <a:blip r:embed="rId2"/>
          <a:stretch>
            <a:fillRect/>
          </a:stretch>
        </p:blipFill>
        <p:spPr>
          <a:xfrm>
            <a:off x="5127302" y="3573016"/>
            <a:ext cx="4016698" cy="2814748"/>
          </a:xfrm>
          <a:prstGeom prst="rect">
            <a:avLst/>
          </a:prstGeom>
        </p:spPr>
      </p:pic>
      <p:pic>
        <p:nvPicPr>
          <p:cNvPr id="8" name="Picture 7">
            <a:extLst>
              <a:ext uri="{FF2B5EF4-FFF2-40B4-BE49-F238E27FC236}">
                <a16:creationId xmlns:a16="http://schemas.microsoft.com/office/drawing/2014/main" id="{1BB769FD-98F1-4320-BB42-833B7CCDD601}"/>
              </a:ext>
            </a:extLst>
          </p:cNvPr>
          <p:cNvPicPr>
            <a:picLocks noChangeAspect="1"/>
          </p:cNvPicPr>
          <p:nvPr/>
        </p:nvPicPr>
        <p:blipFill>
          <a:blip r:embed="rId3"/>
          <a:stretch>
            <a:fillRect/>
          </a:stretch>
        </p:blipFill>
        <p:spPr>
          <a:xfrm>
            <a:off x="5127302" y="204151"/>
            <a:ext cx="1540805" cy="3157034"/>
          </a:xfrm>
          <a:prstGeom prst="rect">
            <a:avLst/>
          </a:prstGeom>
        </p:spPr>
      </p:pic>
      <p:pic>
        <p:nvPicPr>
          <p:cNvPr id="9" name="Picture 8">
            <a:extLst>
              <a:ext uri="{FF2B5EF4-FFF2-40B4-BE49-F238E27FC236}">
                <a16:creationId xmlns:a16="http://schemas.microsoft.com/office/drawing/2014/main" id="{D065EF82-6152-44E1-AF8D-11F83EBB9A67}"/>
              </a:ext>
            </a:extLst>
          </p:cNvPr>
          <p:cNvPicPr>
            <a:picLocks noChangeAspect="1"/>
          </p:cNvPicPr>
          <p:nvPr/>
        </p:nvPicPr>
        <p:blipFill>
          <a:blip r:embed="rId4"/>
          <a:stretch>
            <a:fillRect/>
          </a:stretch>
        </p:blipFill>
        <p:spPr>
          <a:xfrm>
            <a:off x="7135651" y="210399"/>
            <a:ext cx="1540805" cy="3103160"/>
          </a:xfrm>
          <a:prstGeom prst="rect">
            <a:avLst/>
          </a:prstGeom>
        </p:spPr>
      </p:pic>
    </p:spTree>
    <p:extLst>
      <p:ext uri="{BB962C8B-B14F-4D97-AF65-F5344CB8AC3E}">
        <p14:creationId xmlns:p14="http://schemas.microsoft.com/office/powerpoint/2010/main" val="7009663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7C1C-5F36-156D-30E6-5643B2B1BD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687657-1CF4-121C-467E-26156C95BBA9}"/>
              </a:ext>
            </a:extLst>
          </p:cNvPr>
          <p:cNvSpPr>
            <a:spLocks noGrp="1"/>
          </p:cNvSpPr>
          <p:nvPr>
            <p:ph idx="1"/>
          </p:nvPr>
        </p:nvSpPr>
        <p:spPr>
          <a:xfrm>
            <a:off x="411182" y="1628800"/>
            <a:ext cx="4599103" cy="3263504"/>
          </a:xfrm>
        </p:spPr>
        <p:txBody>
          <a:bodyPr/>
          <a:lstStyle/>
          <a:p>
            <a:pPr marL="0" indent="0">
              <a:buNone/>
            </a:pPr>
            <a:endParaRPr lang="en-GB" dirty="0"/>
          </a:p>
          <a:p>
            <a:pPr marL="0" indent="0">
              <a:buNone/>
            </a:pPr>
            <a:r>
              <a:rPr lang="en-GB" sz="2200" dirty="0"/>
              <a:t>Is it the same to design a system for a doctor to use at their office </a:t>
            </a:r>
          </a:p>
          <a:p>
            <a:pPr marL="0" indent="0">
              <a:buNone/>
            </a:pPr>
            <a:r>
              <a:rPr lang="en-GB" sz="2200" dirty="0"/>
              <a:t>or at an Emergency Room?</a:t>
            </a:r>
          </a:p>
        </p:txBody>
      </p:sp>
      <p:pic>
        <p:nvPicPr>
          <p:cNvPr id="2" name="Picture 1">
            <a:extLst>
              <a:ext uri="{FF2B5EF4-FFF2-40B4-BE49-F238E27FC236}">
                <a16:creationId xmlns:a16="http://schemas.microsoft.com/office/drawing/2014/main" id="{5B02F8D7-5D4E-4002-88BB-5E749E8CAE7D}"/>
              </a:ext>
            </a:extLst>
          </p:cNvPr>
          <p:cNvPicPr>
            <a:picLocks noChangeAspect="1"/>
          </p:cNvPicPr>
          <p:nvPr/>
        </p:nvPicPr>
        <p:blipFill>
          <a:blip r:embed="rId2"/>
          <a:stretch>
            <a:fillRect/>
          </a:stretch>
        </p:blipFill>
        <p:spPr>
          <a:xfrm>
            <a:off x="4815490" y="3840480"/>
            <a:ext cx="4306414" cy="2954528"/>
          </a:xfrm>
          <a:prstGeom prst="rect">
            <a:avLst/>
          </a:prstGeom>
        </p:spPr>
      </p:pic>
      <p:pic>
        <p:nvPicPr>
          <p:cNvPr id="8" name="Picture 7">
            <a:extLst>
              <a:ext uri="{FF2B5EF4-FFF2-40B4-BE49-F238E27FC236}">
                <a16:creationId xmlns:a16="http://schemas.microsoft.com/office/drawing/2014/main" id="{A392196C-A2B6-4422-AA9D-856AF2E0954D}"/>
              </a:ext>
            </a:extLst>
          </p:cNvPr>
          <p:cNvPicPr>
            <a:picLocks noChangeAspect="1"/>
          </p:cNvPicPr>
          <p:nvPr/>
        </p:nvPicPr>
        <p:blipFill>
          <a:blip r:embed="rId3"/>
          <a:stretch>
            <a:fillRect/>
          </a:stretch>
        </p:blipFill>
        <p:spPr>
          <a:xfrm>
            <a:off x="5940152" y="188640"/>
            <a:ext cx="2981937" cy="3522019"/>
          </a:xfrm>
          <a:prstGeom prst="rect">
            <a:avLst/>
          </a:prstGeom>
        </p:spPr>
      </p:pic>
    </p:spTree>
    <p:extLst>
      <p:ext uri="{BB962C8B-B14F-4D97-AF65-F5344CB8AC3E}">
        <p14:creationId xmlns:p14="http://schemas.microsoft.com/office/powerpoint/2010/main" val="11376836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7C1C-5F36-156D-30E6-5643B2B1BD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687657-1CF4-121C-467E-26156C95BBA9}"/>
              </a:ext>
            </a:extLst>
          </p:cNvPr>
          <p:cNvSpPr>
            <a:spLocks noGrp="1"/>
          </p:cNvSpPr>
          <p:nvPr>
            <p:ph idx="1"/>
          </p:nvPr>
        </p:nvSpPr>
        <p:spPr>
          <a:xfrm>
            <a:off x="340301" y="1700808"/>
            <a:ext cx="4952906" cy="3263504"/>
          </a:xfrm>
        </p:spPr>
        <p:txBody>
          <a:bodyPr/>
          <a:lstStyle/>
          <a:p>
            <a:pPr marL="0" indent="0">
              <a:buNone/>
            </a:pPr>
            <a:endParaRPr lang="en-GB" dirty="0"/>
          </a:p>
          <a:p>
            <a:pPr marL="0" indent="0">
              <a:buNone/>
            </a:pPr>
            <a:r>
              <a:rPr lang="en-GB" sz="2200" dirty="0"/>
              <a:t>Is it the same to design a system for teenagers, adults or elderly users?</a:t>
            </a:r>
          </a:p>
        </p:txBody>
      </p:sp>
      <p:sp>
        <p:nvSpPr>
          <p:cNvPr id="2" name="Rectangle 1">
            <a:extLst>
              <a:ext uri="{FF2B5EF4-FFF2-40B4-BE49-F238E27FC236}">
                <a16:creationId xmlns:a16="http://schemas.microsoft.com/office/drawing/2014/main" id="{8163E324-BEAA-4762-B35B-7388EB4E4F91}"/>
              </a:ext>
            </a:extLst>
          </p:cNvPr>
          <p:cNvSpPr/>
          <p:nvPr/>
        </p:nvSpPr>
        <p:spPr>
          <a:xfrm>
            <a:off x="375717" y="4012029"/>
            <a:ext cx="2308376" cy="2585323"/>
          </a:xfrm>
          <a:prstGeom prst="rect">
            <a:avLst/>
          </a:prstGeom>
        </p:spPr>
        <p:txBody>
          <a:bodyPr wrap="square">
            <a:spAutoFit/>
          </a:bodyPr>
          <a:lstStyle/>
          <a:p>
            <a:r>
              <a:rPr lang="en-US" b="0" dirty="0">
                <a:hlinkClick r:id="rId2"/>
              </a:rPr>
              <a:t>https://news.sky.com/story/alarming-study-reveals-everyday-tech-problems-facing-older-people-as-millions-dont-use-internet-at-all-12964823</a:t>
            </a:r>
            <a:r>
              <a:rPr lang="en-US" b="0" dirty="0"/>
              <a:t> </a:t>
            </a:r>
          </a:p>
        </p:txBody>
      </p:sp>
      <p:pic>
        <p:nvPicPr>
          <p:cNvPr id="9" name="Picture 8">
            <a:extLst>
              <a:ext uri="{FF2B5EF4-FFF2-40B4-BE49-F238E27FC236}">
                <a16:creationId xmlns:a16="http://schemas.microsoft.com/office/drawing/2014/main" id="{80FB698E-13DB-4E79-9806-424F73D17CC6}"/>
              </a:ext>
            </a:extLst>
          </p:cNvPr>
          <p:cNvPicPr>
            <a:picLocks noChangeAspect="1"/>
          </p:cNvPicPr>
          <p:nvPr/>
        </p:nvPicPr>
        <p:blipFill>
          <a:blip r:embed="rId3"/>
          <a:stretch>
            <a:fillRect/>
          </a:stretch>
        </p:blipFill>
        <p:spPr>
          <a:xfrm>
            <a:off x="2697517" y="4017177"/>
            <a:ext cx="6446483" cy="2840823"/>
          </a:xfrm>
          <a:prstGeom prst="rect">
            <a:avLst/>
          </a:prstGeom>
        </p:spPr>
      </p:pic>
      <p:pic>
        <p:nvPicPr>
          <p:cNvPr id="5" name="Picture 4">
            <a:extLst>
              <a:ext uri="{FF2B5EF4-FFF2-40B4-BE49-F238E27FC236}">
                <a16:creationId xmlns:a16="http://schemas.microsoft.com/office/drawing/2014/main" id="{EF00A24B-D50F-4B79-9F9A-2863DE75EEDB}"/>
              </a:ext>
            </a:extLst>
          </p:cNvPr>
          <p:cNvPicPr>
            <a:picLocks noChangeAspect="1"/>
          </p:cNvPicPr>
          <p:nvPr/>
        </p:nvPicPr>
        <p:blipFill>
          <a:blip r:embed="rId4"/>
          <a:stretch>
            <a:fillRect/>
          </a:stretch>
        </p:blipFill>
        <p:spPr>
          <a:xfrm>
            <a:off x="6084168" y="908720"/>
            <a:ext cx="2976563" cy="3014663"/>
          </a:xfrm>
          <a:prstGeom prst="rect">
            <a:avLst/>
          </a:prstGeom>
        </p:spPr>
      </p:pic>
      <p:pic>
        <p:nvPicPr>
          <p:cNvPr id="4" name="Picture 3">
            <a:extLst>
              <a:ext uri="{FF2B5EF4-FFF2-40B4-BE49-F238E27FC236}">
                <a16:creationId xmlns:a16="http://schemas.microsoft.com/office/drawing/2014/main" id="{0965DB14-63B0-4A38-A476-6FEB90A4697C}"/>
              </a:ext>
            </a:extLst>
          </p:cNvPr>
          <p:cNvPicPr>
            <a:picLocks noChangeAspect="1"/>
          </p:cNvPicPr>
          <p:nvPr/>
        </p:nvPicPr>
        <p:blipFill>
          <a:blip r:embed="rId5"/>
          <a:stretch>
            <a:fillRect/>
          </a:stretch>
        </p:blipFill>
        <p:spPr>
          <a:xfrm flipH="1">
            <a:off x="6084165" y="723319"/>
            <a:ext cx="2976565" cy="3209737"/>
          </a:xfrm>
          <a:prstGeom prst="rect">
            <a:avLst/>
          </a:prstGeom>
        </p:spPr>
      </p:pic>
    </p:spTree>
    <p:extLst>
      <p:ext uri="{BB962C8B-B14F-4D97-AF65-F5344CB8AC3E}">
        <p14:creationId xmlns:p14="http://schemas.microsoft.com/office/powerpoint/2010/main" val="38451856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E99A60FF-41C2-4942-903B-87293DB6C69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7051E78-6DCF-41F3-A981-40AB16911B56}" type="slidenum">
              <a:rPr lang="en-GB" altLang="en-US" sz="1400" smtClean="0"/>
              <a:pPr>
                <a:spcBef>
                  <a:spcPct val="0"/>
                </a:spcBef>
                <a:buFontTx/>
                <a:buNone/>
              </a:pPr>
              <a:t>54</a:t>
            </a:fld>
            <a:endParaRPr lang="en-GB" altLang="en-US" sz="1400"/>
          </a:p>
        </p:txBody>
      </p:sp>
      <p:sp>
        <p:nvSpPr>
          <p:cNvPr id="69635" name="Rectangle 2">
            <a:extLst>
              <a:ext uri="{FF2B5EF4-FFF2-40B4-BE49-F238E27FC236}">
                <a16:creationId xmlns:a16="http://schemas.microsoft.com/office/drawing/2014/main" id="{1B653574-F793-48BA-8DA0-607E5F053E90}"/>
              </a:ext>
            </a:extLst>
          </p:cNvPr>
          <p:cNvSpPr>
            <a:spLocks noGrp="1" noChangeArrowheads="1"/>
          </p:cNvSpPr>
          <p:nvPr>
            <p:ph type="title"/>
          </p:nvPr>
        </p:nvSpPr>
        <p:spPr>
          <a:xfrm>
            <a:off x="468313" y="0"/>
            <a:ext cx="8229600" cy="1143000"/>
          </a:xfrm>
        </p:spPr>
        <p:txBody>
          <a:bodyPr/>
          <a:lstStyle/>
          <a:p>
            <a:pPr algn="l" eaLnBrk="1" hangingPunct="1"/>
            <a:r>
              <a:rPr lang="en-US" altLang="en-US" sz="2400" b="1"/>
              <a:t>User Profile- other characteristics (besides HIPS)</a:t>
            </a:r>
          </a:p>
        </p:txBody>
      </p:sp>
      <p:sp>
        <p:nvSpPr>
          <p:cNvPr id="18436" name="Rectangle 3">
            <a:extLst>
              <a:ext uri="{FF2B5EF4-FFF2-40B4-BE49-F238E27FC236}">
                <a16:creationId xmlns:a16="http://schemas.microsoft.com/office/drawing/2014/main" id="{DEFF10C9-8BE4-49C6-A332-16BBDEF722E3}"/>
              </a:ext>
            </a:extLst>
          </p:cNvPr>
          <p:cNvSpPr>
            <a:spLocks noGrp="1" noChangeArrowheads="1"/>
          </p:cNvSpPr>
          <p:nvPr>
            <p:ph type="body" idx="1"/>
          </p:nvPr>
        </p:nvSpPr>
        <p:spPr>
          <a:xfrm>
            <a:off x="468313" y="1196975"/>
            <a:ext cx="8280400" cy="4565650"/>
          </a:xfrm>
        </p:spPr>
        <p:txBody>
          <a:bodyPr/>
          <a:lstStyle/>
          <a:p>
            <a:pPr eaLnBrk="1" hangingPunct="1">
              <a:buFontTx/>
              <a:buChar char="-"/>
              <a:defRPr/>
            </a:pPr>
            <a:r>
              <a:rPr lang="en-US" sz="2000" dirty="0"/>
              <a:t>Experience and knowledge </a:t>
            </a:r>
            <a:r>
              <a:rPr lang="en-US" sz="1800" dirty="0"/>
              <a:t>-  education and reading level</a:t>
            </a:r>
          </a:p>
          <a:p>
            <a:pPr eaLnBrk="1" hangingPunct="1">
              <a:buFontTx/>
              <a:buNone/>
              <a:defRPr/>
            </a:pPr>
            <a:r>
              <a:rPr lang="en-US" sz="1800" dirty="0"/>
              <a:t>                                                          experience with the system and task</a:t>
            </a:r>
          </a:p>
          <a:p>
            <a:pPr eaLnBrk="1" hangingPunct="1">
              <a:buFontTx/>
              <a:buNone/>
              <a:defRPr/>
            </a:pPr>
            <a:r>
              <a:rPr lang="en-US" sz="1800" dirty="0"/>
              <a:t>				               mother language</a:t>
            </a:r>
          </a:p>
          <a:p>
            <a:pPr eaLnBrk="1" hangingPunct="1">
              <a:buFontTx/>
              <a:buNone/>
              <a:defRPr/>
            </a:pPr>
            <a:r>
              <a:rPr lang="en-US" sz="1800" dirty="0"/>
              <a:t>				               computer literacy …</a:t>
            </a:r>
          </a:p>
          <a:p>
            <a:pPr eaLnBrk="1" hangingPunct="1">
              <a:buFontTx/>
              <a:buNone/>
              <a:defRPr/>
            </a:pPr>
            <a:r>
              <a:rPr lang="en-US" sz="1800" dirty="0"/>
              <a:t>       </a:t>
            </a:r>
          </a:p>
          <a:p>
            <a:pPr eaLnBrk="1" hangingPunct="1">
              <a:buFontTx/>
              <a:buChar char="-"/>
              <a:defRPr/>
            </a:pPr>
            <a:r>
              <a:rPr lang="en-US" sz="2000" dirty="0"/>
              <a:t>Work and task</a:t>
            </a:r>
            <a:r>
              <a:rPr lang="en-US" sz="1800" dirty="0"/>
              <a:t>   - usage frequency</a:t>
            </a:r>
          </a:p>
          <a:p>
            <a:pPr eaLnBrk="1" hangingPunct="1">
              <a:buFontTx/>
              <a:buNone/>
              <a:defRPr/>
            </a:pPr>
            <a:r>
              <a:rPr lang="en-US" sz="1800" dirty="0"/>
              <a:t>                                    training</a:t>
            </a:r>
          </a:p>
          <a:p>
            <a:pPr eaLnBrk="1" hangingPunct="1">
              <a:buFontTx/>
              <a:buNone/>
              <a:defRPr/>
            </a:pPr>
            <a:r>
              <a:rPr lang="en-US" sz="1800" dirty="0"/>
              <a:t>                                    usage type (mandatory, optional)</a:t>
            </a:r>
          </a:p>
          <a:p>
            <a:pPr eaLnBrk="1" hangingPunct="1">
              <a:buFontTx/>
              <a:buNone/>
              <a:defRPr/>
            </a:pPr>
            <a:r>
              <a:rPr lang="en-US" sz="1800" dirty="0"/>
              <a:t>                                    usage of other systems …</a:t>
            </a:r>
          </a:p>
          <a:p>
            <a:pPr eaLnBrk="1" hangingPunct="1">
              <a:buFontTx/>
              <a:buNone/>
              <a:defRPr/>
            </a:pPr>
            <a:endParaRPr lang="en-US" sz="1800" dirty="0"/>
          </a:p>
          <a:p>
            <a:pPr eaLnBrk="1" hangingPunct="1">
              <a:buFontTx/>
              <a:buChar char="-"/>
              <a:defRPr/>
            </a:pPr>
            <a:r>
              <a:rPr lang="en-US" sz="2000" dirty="0"/>
              <a:t>Physical Characteristics </a:t>
            </a:r>
            <a:r>
              <a:rPr lang="en-US" sz="1800" dirty="0"/>
              <a:t>– color vision deficiencies</a:t>
            </a:r>
          </a:p>
          <a:p>
            <a:pPr marL="0" indent="0" eaLnBrk="1" hangingPunct="1">
              <a:buFontTx/>
              <a:buNone/>
              <a:defRPr/>
            </a:pPr>
            <a:r>
              <a:rPr lang="en-US" sz="1800" dirty="0"/>
              <a:t>                                                    physical deficiencies</a:t>
            </a:r>
          </a:p>
          <a:p>
            <a:pPr marL="0" indent="0" eaLnBrk="1" hangingPunct="1">
              <a:buFontTx/>
              <a:buNone/>
              <a:defRPr/>
            </a:pPr>
            <a:r>
              <a:rPr lang="en-US" sz="1800" dirty="0"/>
              <a:t>                                                    handedness</a:t>
            </a:r>
          </a:p>
          <a:p>
            <a:pPr marL="0" indent="0" eaLnBrk="1" hangingPunct="1">
              <a:buFontTx/>
              <a:buNone/>
              <a:defRPr/>
            </a:pPr>
            <a:r>
              <a:rPr lang="en-US" sz="1800" dirty="0"/>
              <a:t>                                                    age …</a:t>
            </a:r>
          </a:p>
          <a:p>
            <a:pPr lvl="4" eaLnBrk="1" hangingPunct="1">
              <a:buFontTx/>
              <a:buChar char="-"/>
              <a:defRPr/>
            </a:pPr>
            <a:endParaRPr lang="pt-PT" sz="600" dirty="0"/>
          </a:p>
          <a:p>
            <a:pPr eaLnBrk="1" hangingPunct="1">
              <a:buFontTx/>
              <a:buNone/>
              <a:defRPr/>
            </a:pPr>
            <a:r>
              <a:rPr lang="pt-PT" sz="2000" dirty="0"/>
              <a:t>    			 </a:t>
            </a:r>
            <a:r>
              <a:rPr lang="en-US" sz="2000" dirty="0"/>
              <a:t>Don’t forget  </a:t>
            </a:r>
            <a:r>
              <a:rPr lang="pt-PT" sz="2000" dirty="0"/>
              <a:t>cultural </a:t>
            </a:r>
            <a:r>
              <a:rPr lang="en-US" sz="2000" dirty="0"/>
              <a:t>aspects</a:t>
            </a:r>
            <a:r>
              <a:rPr lang="pt-PT" sz="2000" dirty="0"/>
              <a:t>!!</a:t>
            </a:r>
            <a:r>
              <a:rPr lang="pt-PT" sz="1800"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Slide Number Placeholder 5">
            <a:extLst>
              <a:ext uri="{FF2B5EF4-FFF2-40B4-BE49-F238E27FC236}">
                <a16:creationId xmlns:a16="http://schemas.microsoft.com/office/drawing/2014/main" id="{E76DF4EE-2B4E-406F-A7A4-F0CDAFACFF9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102A15A-8A3E-4749-B04A-93A49F00A6EF}" type="slidenum">
              <a:rPr lang="en-GB" altLang="en-US" sz="1400" smtClean="0"/>
              <a:pPr>
                <a:spcBef>
                  <a:spcPct val="0"/>
                </a:spcBef>
                <a:buFontTx/>
                <a:buNone/>
              </a:pPr>
              <a:t>55</a:t>
            </a:fld>
            <a:endParaRPr lang="en-GB" altLang="en-US" sz="1400"/>
          </a:p>
        </p:txBody>
      </p:sp>
      <p:sp>
        <p:nvSpPr>
          <p:cNvPr id="72707" name="Rectangle 2">
            <a:extLst>
              <a:ext uri="{FF2B5EF4-FFF2-40B4-BE49-F238E27FC236}">
                <a16:creationId xmlns:a16="http://schemas.microsoft.com/office/drawing/2014/main" id="{E7D3D86D-32A7-444D-86FB-31B34DB32C32}"/>
              </a:ext>
            </a:extLst>
          </p:cNvPr>
          <p:cNvSpPr>
            <a:spLocks noGrp="1" noChangeArrowheads="1"/>
          </p:cNvSpPr>
          <p:nvPr>
            <p:ph type="title"/>
          </p:nvPr>
        </p:nvSpPr>
        <p:spPr>
          <a:xfrm>
            <a:off x="468313" y="0"/>
            <a:ext cx="8229600" cy="1143000"/>
          </a:xfrm>
        </p:spPr>
        <p:txBody>
          <a:bodyPr/>
          <a:lstStyle/>
          <a:p>
            <a:pPr algn="l" eaLnBrk="1" hangingPunct="1"/>
            <a:r>
              <a:rPr lang="en-US" altLang="en-US" sz="2400" b="1"/>
              <a:t>User Profile - overview</a:t>
            </a:r>
          </a:p>
        </p:txBody>
      </p:sp>
      <p:sp>
        <p:nvSpPr>
          <p:cNvPr id="18436" name="Rectangle 3">
            <a:extLst>
              <a:ext uri="{FF2B5EF4-FFF2-40B4-BE49-F238E27FC236}">
                <a16:creationId xmlns:a16="http://schemas.microsoft.com/office/drawing/2014/main" id="{B5E4A114-DBAC-434D-B067-D4571507BE2E}"/>
              </a:ext>
            </a:extLst>
          </p:cNvPr>
          <p:cNvSpPr>
            <a:spLocks noGrp="1" noChangeArrowheads="1"/>
          </p:cNvSpPr>
          <p:nvPr>
            <p:ph type="body" idx="1"/>
          </p:nvPr>
        </p:nvSpPr>
        <p:spPr>
          <a:xfrm>
            <a:off x="395288" y="981075"/>
            <a:ext cx="8280400" cy="4565650"/>
          </a:xfrm>
        </p:spPr>
        <p:txBody>
          <a:bodyPr/>
          <a:lstStyle/>
          <a:p>
            <a:pPr eaLnBrk="1" hangingPunct="1">
              <a:buFontTx/>
              <a:buChar char="-"/>
              <a:defRPr/>
            </a:pPr>
            <a:r>
              <a:rPr lang="en-US" sz="2000" dirty="0"/>
              <a:t>Human Information Processing System</a:t>
            </a:r>
          </a:p>
          <a:p>
            <a:pPr eaLnBrk="1" hangingPunct="1">
              <a:buFontTx/>
              <a:buChar char="-"/>
              <a:defRPr/>
            </a:pPr>
            <a:endParaRPr lang="en-US" sz="2000" dirty="0"/>
          </a:p>
          <a:p>
            <a:pPr eaLnBrk="1" hangingPunct="1">
              <a:buFontTx/>
              <a:buChar char="-"/>
              <a:defRPr/>
            </a:pPr>
            <a:r>
              <a:rPr lang="en-US" sz="2000" dirty="0"/>
              <a:t>Experience and knowledge </a:t>
            </a:r>
            <a:r>
              <a:rPr lang="en-US" sz="1800" dirty="0"/>
              <a:t>-  education and reading level</a:t>
            </a:r>
          </a:p>
          <a:p>
            <a:pPr eaLnBrk="1" hangingPunct="1">
              <a:buFontTx/>
              <a:buNone/>
              <a:defRPr/>
            </a:pPr>
            <a:r>
              <a:rPr lang="en-US" sz="1800" dirty="0"/>
              <a:t>                                                          experience with the system and task</a:t>
            </a:r>
          </a:p>
          <a:p>
            <a:pPr eaLnBrk="1" hangingPunct="1">
              <a:buFontTx/>
              <a:buNone/>
              <a:defRPr/>
            </a:pPr>
            <a:r>
              <a:rPr lang="en-US" sz="1800" dirty="0"/>
              <a:t>				               mother language</a:t>
            </a:r>
          </a:p>
          <a:p>
            <a:pPr eaLnBrk="1" hangingPunct="1">
              <a:buFontTx/>
              <a:buNone/>
              <a:defRPr/>
            </a:pPr>
            <a:r>
              <a:rPr lang="en-US" sz="1800" dirty="0"/>
              <a:t>				               computer literacy …</a:t>
            </a:r>
          </a:p>
          <a:p>
            <a:pPr eaLnBrk="1" hangingPunct="1">
              <a:buFontTx/>
              <a:buNone/>
              <a:defRPr/>
            </a:pPr>
            <a:r>
              <a:rPr lang="en-US" sz="1800" dirty="0"/>
              <a:t>       </a:t>
            </a:r>
          </a:p>
          <a:p>
            <a:pPr eaLnBrk="1" hangingPunct="1">
              <a:buFontTx/>
              <a:buChar char="-"/>
              <a:defRPr/>
            </a:pPr>
            <a:r>
              <a:rPr lang="en-US" sz="2000" dirty="0"/>
              <a:t>Work and task</a:t>
            </a:r>
            <a:r>
              <a:rPr lang="en-US" sz="1800" dirty="0"/>
              <a:t>   - usage frequency</a:t>
            </a:r>
          </a:p>
          <a:p>
            <a:pPr eaLnBrk="1" hangingPunct="1">
              <a:buFontTx/>
              <a:buNone/>
              <a:defRPr/>
            </a:pPr>
            <a:r>
              <a:rPr lang="en-US" sz="1800" dirty="0"/>
              <a:t>                                    training</a:t>
            </a:r>
          </a:p>
          <a:p>
            <a:pPr eaLnBrk="1" hangingPunct="1">
              <a:buFontTx/>
              <a:buNone/>
              <a:defRPr/>
            </a:pPr>
            <a:r>
              <a:rPr lang="en-US" sz="1800" dirty="0"/>
              <a:t>                                    usage type (mandatory, optional)</a:t>
            </a:r>
          </a:p>
          <a:p>
            <a:pPr eaLnBrk="1" hangingPunct="1">
              <a:buFontTx/>
              <a:buNone/>
              <a:defRPr/>
            </a:pPr>
            <a:r>
              <a:rPr lang="en-US" sz="1800" dirty="0"/>
              <a:t>                                    usage of other systems …</a:t>
            </a:r>
          </a:p>
          <a:p>
            <a:pPr eaLnBrk="1" hangingPunct="1">
              <a:buFontTx/>
              <a:buNone/>
              <a:defRPr/>
            </a:pPr>
            <a:endParaRPr lang="en-US" sz="1800" dirty="0"/>
          </a:p>
          <a:p>
            <a:pPr eaLnBrk="1" hangingPunct="1">
              <a:buFontTx/>
              <a:buChar char="-"/>
              <a:defRPr/>
            </a:pPr>
            <a:r>
              <a:rPr lang="en-US" sz="2000" dirty="0"/>
              <a:t>Physical Characteristics </a:t>
            </a:r>
            <a:r>
              <a:rPr lang="en-US" sz="1800" dirty="0"/>
              <a:t>– color vision and physical disabilities</a:t>
            </a:r>
          </a:p>
          <a:p>
            <a:pPr marL="0" indent="0" eaLnBrk="1" hangingPunct="1">
              <a:buFontTx/>
              <a:buNone/>
              <a:defRPr/>
            </a:pPr>
            <a:r>
              <a:rPr lang="en-US" sz="1800" dirty="0"/>
              <a:t>                                                    handedness</a:t>
            </a:r>
          </a:p>
          <a:p>
            <a:pPr marL="0" indent="0" eaLnBrk="1" hangingPunct="1">
              <a:buFontTx/>
              <a:buNone/>
              <a:defRPr/>
            </a:pPr>
            <a:r>
              <a:rPr lang="en-US" sz="1800" dirty="0"/>
              <a:t>                                                    age …</a:t>
            </a:r>
          </a:p>
          <a:p>
            <a:pPr lvl="4" eaLnBrk="1" hangingPunct="1">
              <a:buFontTx/>
              <a:buChar char="-"/>
              <a:defRPr/>
            </a:pPr>
            <a:endParaRPr lang="pt-PT" sz="600" dirty="0"/>
          </a:p>
          <a:p>
            <a:pPr eaLnBrk="1" hangingPunct="1">
              <a:buFontTx/>
              <a:buNone/>
              <a:defRPr/>
            </a:pPr>
            <a:r>
              <a:rPr lang="en-US" sz="2000" dirty="0"/>
              <a:t>	Don’t forget </a:t>
            </a:r>
            <a:r>
              <a:rPr lang="pt-PT" sz="2000" dirty="0"/>
              <a:t>Cultural </a:t>
            </a:r>
            <a:r>
              <a:rPr lang="en-US" sz="2000" dirty="0"/>
              <a:t>aspects</a:t>
            </a:r>
            <a:r>
              <a:rPr lang="pt-PT" sz="2000" dirty="0"/>
              <a:t>!!</a:t>
            </a:r>
            <a:r>
              <a:rPr lang="pt-PT" sz="1800" dirty="0"/>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a:extLst>
              <a:ext uri="{FF2B5EF4-FFF2-40B4-BE49-F238E27FC236}">
                <a16:creationId xmlns:a16="http://schemas.microsoft.com/office/drawing/2014/main" id="{94875EFB-73C6-4790-BF79-161DC86386E4}"/>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4E3686-66C2-43D5-9233-6318FA48A17B}" type="slidenum">
              <a:rPr lang="en-GB" altLang="en-US" sz="1400" smtClean="0"/>
              <a:pPr>
                <a:spcBef>
                  <a:spcPct val="0"/>
                </a:spcBef>
                <a:buFontTx/>
                <a:buNone/>
              </a:pPr>
              <a:t>56</a:t>
            </a:fld>
            <a:endParaRPr lang="en-GB" altLang="en-US" sz="1400"/>
          </a:p>
        </p:txBody>
      </p:sp>
      <p:sp>
        <p:nvSpPr>
          <p:cNvPr id="73731" name="Rectangle 2">
            <a:extLst>
              <a:ext uri="{FF2B5EF4-FFF2-40B4-BE49-F238E27FC236}">
                <a16:creationId xmlns:a16="http://schemas.microsoft.com/office/drawing/2014/main" id="{F3B8F135-1E81-4122-B810-B89A609C1FE6}"/>
              </a:ext>
            </a:extLst>
          </p:cNvPr>
          <p:cNvSpPr>
            <a:spLocks noGrp="1" noChangeArrowheads="1"/>
          </p:cNvSpPr>
          <p:nvPr>
            <p:ph type="title"/>
          </p:nvPr>
        </p:nvSpPr>
        <p:spPr>
          <a:xfrm>
            <a:off x="395288" y="0"/>
            <a:ext cx="8229600" cy="1143000"/>
          </a:xfrm>
        </p:spPr>
        <p:txBody>
          <a:bodyPr/>
          <a:lstStyle/>
          <a:p>
            <a:pPr algn="l" eaLnBrk="1" hangingPunct="1"/>
            <a:r>
              <a:rPr lang="pt-PT" altLang="en-US" sz="2000" b="1"/>
              <a:t>How do these characteristics influence UI design?</a:t>
            </a:r>
            <a:endParaRPr lang="en-US" altLang="en-US" sz="2000" b="1"/>
          </a:p>
        </p:txBody>
      </p:sp>
      <p:sp>
        <p:nvSpPr>
          <p:cNvPr id="73732" name="Rectangle 3">
            <a:extLst>
              <a:ext uri="{FF2B5EF4-FFF2-40B4-BE49-F238E27FC236}">
                <a16:creationId xmlns:a16="http://schemas.microsoft.com/office/drawing/2014/main" id="{BC413032-7233-4FBD-ABAB-6D340A6748D6}"/>
              </a:ext>
            </a:extLst>
          </p:cNvPr>
          <p:cNvSpPr>
            <a:spLocks noGrp="1" noChangeArrowheads="1"/>
          </p:cNvSpPr>
          <p:nvPr>
            <p:ph type="body" idx="1"/>
          </p:nvPr>
        </p:nvSpPr>
        <p:spPr>
          <a:xfrm>
            <a:off x="468313" y="1412875"/>
            <a:ext cx="8280400" cy="4968875"/>
          </a:xfrm>
        </p:spPr>
        <p:txBody>
          <a:bodyPr/>
          <a:lstStyle/>
          <a:p>
            <a:pPr eaLnBrk="1" hangingPunct="1">
              <a:lnSpc>
                <a:spcPct val="90000"/>
              </a:lnSpc>
            </a:pPr>
            <a:r>
              <a:rPr lang="en-US" altLang="en-US" sz="1800"/>
              <a:t>Much system experience, but low task experience  -&gt; more semantic help</a:t>
            </a:r>
          </a:p>
          <a:p>
            <a:pPr eaLnBrk="1" hangingPunct="1">
              <a:lnSpc>
                <a:spcPct val="90000"/>
              </a:lnSpc>
            </a:pPr>
            <a:endParaRPr lang="en-US" altLang="en-US" sz="1800"/>
          </a:p>
          <a:p>
            <a:pPr eaLnBrk="1" hangingPunct="1">
              <a:lnSpc>
                <a:spcPct val="90000"/>
              </a:lnSpc>
            </a:pPr>
            <a:r>
              <a:rPr lang="en-US" altLang="en-US" sz="1800"/>
              <a:t>Much task experience but low system experience -&gt; more syntactic help</a:t>
            </a:r>
          </a:p>
          <a:p>
            <a:pPr eaLnBrk="1" hangingPunct="1">
              <a:lnSpc>
                <a:spcPct val="90000"/>
              </a:lnSpc>
              <a:buFontTx/>
              <a:buNone/>
            </a:pPr>
            <a:endParaRPr lang="en-US" altLang="en-US" sz="1800"/>
          </a:p>
          <a:p>
            <a:pPr eaLnBrk="1" hangingPunct="1">
              <a:lnSpc>
                <a:spcPct val="90000"/>
              </a:lnSpc>
            </a:pPr>
            <a:r>
              <a:rPr lang="en-US" altLang="en-US" sz="1800"/>
              <a:t>High usage frequency -&gt; easy to use</a:t>
            </a:r>
          </a:p>
          <a:p>
            <a:pPr eaLnBrk="1" hangingPunct="1">
              <a:lnSpc>
                <a:spcPct val="90000"/>
              </a:lnSpc>
            </a:pPr>
            <a:endParaRPr lang="en-US" altLang="en-US" sz="1800"/>
          </a:p>
          <a:p>
            <a:pPr eaLnBrk="1" hangingPunct="1">
              <a:lnSpc>
                <a:spcPct val="90000"/>
              </a:lnSpc>
            </a:pPr>
            <a:r>
              <a:rPr lang="en-US" altLang="en-US" sz="1800"/>
              <a:t>Low usage frequency -&gt; easy to learn and remember</a:t>
            </a:r>
          </a:p>
          <a:p>
            <a:pPr eaLnBrk="1" hangingPunct="1">
              <a:lnSpc>
                <a:spcPct val="90000"/>
              </a:lnSpc>
            </a:pPr>
            <a:endParaRPr lang="en-US" altLang="en-US" sz="1800"/>
          </a:p>
          <a:p>
            <a:pPr eaLnBrk="1" hangingPunct="1">
              <a:lnSpc>
                <a:spcPct val="90000"/>
              </a:lnSpc>
            </a:pPr>
            <a:r>
              <a:rPr lang="en-US" altLang="en-US" sz="1800"/>
              <a:t>Mandatory -&gt; easy to use</a:t>
            </a:r>
          </a:p>
          <a:p>
            <a:pPr eaLnBrk="1" hangingPunct="1">
              <a:lnSpc>
                <a:spcPct val="90000"/>
              </a:lnSpc>
            </a:pPr>
            <a:endParaRPr lang="en-US" altLang="en-US" sz="1800"/>
          </a:p>
          <a:p>
            <a:pPr eaLnBrk="1" hangingPunct="1">
              <a:lnSpc>
                <a:spcPct val="90000"/>
              </a:lnSpc>
            </a:pPr>
            <a:r>
              <a:rPr lang="en-US" altLang="en-US" sz="1800"/>
              <a:t>Optional -&gt; easy to learn and remember</a:t>
            </a:r>
          </a:p>
          <a:p>
            <a:pPr eaLnBrk="1" hangingPunct="1">
              <a:lnSpc>
                <a:spcPct val="90000"/>
              </a:lnSpc>
            </a:pPr>
            <a:endParaRPr lang="en-US" altLang="en-US" sz="1800"/>
          </a:p>
          <a:p>
            <a:pPr eaLnBrk="1" hangingPunct="1">
              <a:lnSpc>
                <a:spcPct val="90000"/>
              </a:lnSpc>
            </a:pPr>
            <a:r>
              <a:rPr lang="en-US" altLang="en-US" sz="1800"/>
              <a:t>Color (particularly red and green) should not be used as only cue to convey information</a:t>
            </a:r>
          </a:p>
          <a:p>
            <a:pPr eaLnBrk="1" hangingPunct="1">
              <a:lnSpc>
                <a:spcPct val="90000"/>
              </a:lnSpc>
            </a:pPr>
            <a:endParaRPr lang="en-US" altLang="en-US" sz="1800"/>
          </a:p>
          <a:p>
            <a:pPr lvl="1" eaLnBrk="1" hangingPunct="1">
              <a:lnSpc>
                <a:spcPct val="90000"/>
              </a:lnSpc>
            </a:pPr>
            <a:r>
              <a:rPr lang="en-US" altLang="en-US" sz="2000"/>
              <a:t>Etc., …</a:t>
            </a:r>
          </a:p>
          <a:p>
            <a:pPr eaLnBrk="1" hangingPunct="1">
              <a:lnSpc>
                <a:spcPct val="90000"/>
              </a:lnSpc>
            </a:pPr>
            <a:endParaRPr lang="pt-PT" altLang="en-US" sz="1800"/>
          </a:p>
          <a:p>
            <a:pPr eaLnBrk="1" hangingPunct="1">
              <a:lnSpc>
                <a:spcPct val="90000"/>
              </a:lnSpc>
            </a:pPr>
            <a:endParaRPr lang="pt-PT" altLang="en-US" sz="1800" u="sng"/>
          </a:p>
          <a:p>
            <a:pPr eaLnBrk="1" hangingPunct="1">
              <a:lnSpc>
                <a:spcPct val="90000"/>
              </a:lnSpc>
            </a:pPr>
            <a:endParaRPr lang="pt-PT" altLang="en-US" sz="1800"/>
          </a:p>
          <a:p>
            <a:pPr eaLnBrk="1" hangingPunct="1">
              <a:lnSpc>
                <a:spcPct val="90000"/>
              </a:lnSpc>
            </a:pPr>
            <a:endParaRPr lang="en-US" altLang="en-US" sz="1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6" name="Picture 10">
            <a:extLst>
              <a:ext uri="{FF2B5EF4-FFF2-40B4-BE49-F238E27FC236}">
                <a16:creationId xmlns:a16="http://schemas.microsoft.com/office/drawing/2014/main" id="{BC05F908-804A-44F2-BB47-44CBBB31D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3015183"/>
            <a:ext cx="1216025" cy="190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4" name="Slide Number Placeholder 5">
            <a:extLst>
              <a:ext uri="{FF2B5EF4-FFF2-40B4-BE49-F238E27FC236}">
                <a16:creationId xmlns:a16="http://schemas.microsoft.com/office/drawing/2014/main" id="{A8560E27-6D08-4CB0-AD3F-F964ED80E576}"/>
              </a:ext>
            </a:extLst>
          </p:cNvPr>
          <p:cNvSpPr>
            <a:spLocks noGrp="1"/>
          </p:cNvSpPr>
          <p:nvPr>
            <p:ph type="sldNum" sz="quarter" idx="12"/>
          </p:nvPr>
        </p:nvSpPr>
        <p:spPr>
          <a:xfrm>
            <a:off x="6588125" y="6237288"/>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6B3438B-4116-404B-923A-DBFADBCEFBB3}" type="slidenum">
              <a:rPr lang="en-GB" altLang="en-US" sz="1400" smtClean="0"/>
              <a:pPr>
                <a:spcBef>
                  <a:spcPct val="0"/>
                </a:spcBef>
                <a:buFontTx/>
                <a:buNone/>
              </a:pPr>
              <a:t>57</a:t>
            </a:fld>
            <a:endParaRPr lang="en-GB" altLang="en-US" sz="1400"/>
          </a:p>
        </p:txBody>
      </p:sp>
      <p:sp>
        <p:nvSpPr>
          <p:cNvPr id="20483" name="Rectangle 5">
            <a:extLst>
              <a:ext uri="{FF2B5EF4-FFF2-40B4-BE49-F238E27FC236}">
                <a16:creationId xmlns:a16="http://schemas.microsoft.com/office/drawing/2014/main" id="{728426B3-8020-4299-8D4F-AFDA4A466D4C}"/>
              </a:ext>
            </a:extLst>
          </p:cNvPr>
          <p:cNvSpPr>
            <a:spLocks noGrp="1" noChangeArrowheads="1"/>
          </p:cNvSpPr>
          <p:nvPr>
            <p:ph type="body" idx="1"/>
          </p:nvPr>
        </p:nvSpPr>
        <p:spPr>
          <a:xfrm>
            <a:off x="315913" y="774700"/>
            <a:ext cx="8229600" cy="5256213"/>
          </a:xfrm>
        </p:spPr>
        <p:txBody>
          <a:bodyPr/>
          <a:lstStyle/>
          <a:p>
            <a:pPr eaLnBrk="1" hangingPunct="1">
              <a:lnSpc>
                <a:spcPct val="90000"/>
              </a:lnSpc>
              <a:buFontTx/>
              <a:buNone/>
              <a:defRPr/>
            </a:pPr>
            <a:endParaRPr lang="pt-PT" sz="1800" dirty="0"/>
          </a:p>
          <a:p>
            <a:pPr eaLnBrk="1" hangingPunct="1">
              <a:lnSpc>
                <a:spcPct val="90000"/>
              </a:lnSpc>
              <a:buFontTx/>
              <a:buNone/>
              <a:defRPr/>
            </a:pPr>
            <a:r>
              <a:rPr lang="pt-PT" sz="1800" dirty="0"/>
              <a:t>- </a:t>
            </a:r>
            <a:r>
              <a:rPr lang="en-US" sz="2000" dirty="0"/>
              <a:t>Users are much different from designers/developers</a:t>
            </a:r>
          </a:p>
          <a:p>
            <a:pPr eaLnBrk="1" hangingPunct="1">
              <a:lnSpc>
                <a:spcPct val="90000"/>
              </a:lnSpc>
              <a:buFontTx/>
              <a:buNone/>
              <a:defRPr/>
            </a:pPr>
            <a:endParaRPr lang="pt-PT" sz="2000" dirty="0"/>
          </a:p>
          <a:p>
            <a:pPr eaLnBrk="1" hangingPunct="1">
              <a:lnSpc>
                <a:spcPct val="90000"/>
              </a:lnSpc>
              <a:buFontTx/>
              <a:buNone/>
              <a:defRPr/>
            </a:pPr>
            <a:endParaRPr lang="pt-PT" sz="2000" dirty="0"/>
          </a:p>
          <a:p>
            <a:pPr marL="0" indent="0" eaLnBrk="1" hangingPunct="1">
              <a:lnSpc>
                <a:spcPct val="90000"/>
              </a:lnSpc>
              <a:buFontTx/>
              <a:buNone/>
              <a:defRPr/>
            </a:pPr>
            <a:r>
              <a:rPr lang="pt-PT" sz="2000" dirty="0"/>
              <a:t>- Users vary a lot among thenselves</a:t>
            </a:r>
          </a:p>
          <a:p>
            <a:pPr eaLnBrk="1" hangingPunct="1">
              <a:lnSpc>
                <a:spcPct val="90000"/>
              </a:lnSpc>
              <a:buFontTx/>
              <a:buNone/>
              <a:defRPr/>
            </a:pPr>
            <a:endParaRPr lang="pt-PT" sz="2000" dirty="0"/>
          </a:p>
          <a:p>
            <a:pPr eaLnBrk="1" hangingPunct="1">
              <a:lnSpc>
                <a:spcPct val="90000"/>
              </a:lnSpc>
              <a:buFontTx/>
              <a:buNone/>
              <a:defRPr/>
            </a:pPr>
            <a:endParaRPr lang="pt-PT" sz="2000" dirty="0"/>
          </a:p>
          <a:p>
            <a:pPr eaLnBrk="1" hangingPunct="1">
              <a:lnSpc>
                <a:spcPct val="90000"/>
              </a:lnSpc>
              <a:buFontTx/>
              <a:buNone/>
              <a:defRPr/>
            </a:pPr>
            <a:r>
              <a:rPr lang="pt-PT" sz="2000" dirty="0"/>
              <a:t>- Users change along time (evolve, forget...)</a:t>
            </a:r>
          </a:p>
          <a:p>
            <a:pPr eaLnBrk="1" hangingPunct="1">
              <a:lnSpc>
                <a:spcPct val="90000"/>
              </a:lnSpc>
              <a:buFontTx/>
              <a:buNone/>
              <a:defRPr/>
            </a:pPr>
            <a:endParaRPr lang="pt-PT" sz="1800" dirty="0"/>
          </a:p>
          <a:p>
            <a:pPr eaLnBrk="1" hangingPunct="1">
              <a:lnSpc>
                <a:spcPct val="90000"/>
              </a:lnSpc>
              <a:buFontTx/>
              <a:buNone/>
              <a:defRPr/>
            </a:pPr>
            <a:endParaRPr lang="pt-PT" sz="1800" dirty="0"/>
          </a:p>
          <a:p>
            <a:pPr eaLnBrk="1" hangingPunct="1">
              <a:lnSpc>
                <a:spcPct val="90000"/>
              </a:lnSpc>
              <a:buFontTx/>
              <a:buNone/>
              <a:defRPr/>
            </a:pPr>
            <a:r>
              <a:rPr lang="pt-PT" sz="2000" b="1" dirty="0"/>
              <a:t>Final </a:t>
            </a:r>
            <a:r>
              <a:rPr lang="en-US" sz="2000" b="1" dirty="0"/>
              <a:t>recommendations</a:t>
            </a:r>
            <a:r>
              <a:rPr lang="pt-PT" sz="2000" b="1" dirty="0"/>
              <a:t>:</a:t>
            </a:r>
          </a:p>
          <a:p>
            <a:pPr eaLnBrk="1" hangingPunct="1">
              <a:lnSpc>
                <a:spcPct val="90000"/>
              </a:lnSpc>
              <a:buFontTx/>
              <a:buNone/>
              <a:defRPr/>
            </a:pPr>
            <a:endParaRPr lang="pt-PT" sz="2000" b="1" dirty="0"/>
          </a:p>
          <a:p>
            <a:pPr eaLnBrk="1" hangingPunct="1">
              <a:lnSpc>
                <a:spcPct val="90000"/>
              </a:lnSpc>
              <a:buFontTx/>
              <a:buNone/>
              <a:defRPr/>
            </a:pPr>
            <a:r>
              <a:rPr lang="en-US" sz="2000" b="1" dirty="0"/>
              <a:t>We should consider the users as an unknown</a:t>
            </a:r>
          </a:p>
          <a:p>
            <a:pPr eaLnBrk="1" hangingPunct="1">
              <a:lnSpc>
                <a:spcPct val="90000"/>
              </a:lnSpc>
              <a:buFontTx/>
              <a:buNone/>
              <a:defRPr/>
            </a:pPr>
            <a:r>
              <a:rPr lang="en-US" sz="2000" b="1" dirty="0"/>
              <a:t> species and study them scientifically</a:t>
            </a:r>
          </a:p>
          <a:p>
            <a:pPr eaLnBrk="1" hangingPunct="1">
              <a:lnSpc>
                <a:spcPct val="90000"/>
              </a:lnSpc>
              <a:buFontTx/>
              <a:buNone/>
              <a:defRPr/>
            </a:pPr>
            <a:endParaRPr lang="en-US" sz="2000" b="1" dirty="0"/>
          </a:p>
          <a:p>
            <a:pPr eaLnBrk="1" hangingPunct="1">
              <a:lnSpc>
                <a:spcPct val="90000"/>
              </a:lnSpc>
              <a:buFontTx/>
              <a:buNone/>
              <a:defRPr/>
            </a:pPr>
            <a:r>
              <a:rPr lang="en-US" sz="2000" b="1" dirty="0"/>
              <a:t>Remember: </a:t>
            </a:r>
            <a:r>
              <a:rPr lang="en-US" sz="2400" b="1" dirty="0"/>
              <a:t>You are not the user!</a:t>
            </a:r>
          </a:p>
          <a:p>
            <a:pPr eaLnBrk="1" hangingPunct="1">
              <a:lnSpc>
                <a:spcPct val="90000"/>
              </a:lnSpc>
              <a:buFontTx/>
              <a:buNone/>
              <a:defRPr/>
            </a:pPr>
            <a:endParaRPr lang="pt-PT" sz="1800" b="1" dirty="0"/>
          </a:p>
        </p:txBody>
      </p:sp>
      <p:pic>
        <p:nvPicPr>
          <p:cNvPr id="74757" name="Picture 11">
            <a:extLst>
              <a:ext uri="{FF2B5EF4-FFF2-40B4-BE49-F238E27FC236}">
                <a16:creationId xmlns:a16="http://schemas.microsoft.com/office/drawing/2014/main" id="{3536E21F-5239-4EB3-93DE-8CEA0FB03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3538" y="4783138"/>
            <a:ext cx="3349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Picture 15">
            <a:extLst>
              <a:ext uri="{FF2B5EF4-FFF2-40B4-BE49-F238E27FC236}">
                <a16:creationId xmlns:a16="http://schemas.microsoft.com/office/drawing/2014/main" id="{BD67357F-6C8B-462E-8C2C-B53AA9C019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5338" y="5070475"/>
            <a:ext cx="26035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Picture 16">
            <a:extLst>
              <a:ext uri="{FF2B5EF4-FFF2-40B4-BE49-F238E27FC236}">
                <a16:creationId xmlns:a16="http://schemas.microsoft.com/office/drawing/2014/main" id="{A496F290-4151-4EF9-9FBE-6E26C3C72F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9438" y="5430838"/>
            <a:ext cx="2095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Rectangle 2">
            <a:extLst>
              <a:ext uri="{FF2B5EF4-FFF2-40B4-BE49-F238E27FC236}">
                <a16:creationId xmlns:a16="http://schemas.microsoft.com/office/drawing/2014/main" id="{6DE7BD9D-F0ED-4664-972A-DEDF34578C5C}"/>
              </a:ext>
            </a:extLst>
          </p:cNvPr>
          <p:cNvSpPr>
            <a:spLocks noGrp="1" noChangeArrowheads="1"/>
          </p:cNvSpPr>
          <p:nvPr>
            <p:ph type="title"/>
          </p:nvPr>
        </p:nvSpPr>
        <p:spPr>
          <a:xfrm>
            <a:off x="395288" y="0"/>
            <a:ext cx="8229600" cy="1143000"/>
          </a:xfrm>
        </p:spPr>
        <p:txBody>
          <a:bodyPr/>
          <a:lstStyle/>
          <a:p>
            <a:pPr algn="l" eaLnBrk="1" hangingPunct="1"/>
            <a:r>
              <a:rPr lang="en-US" altLang="en-US" sz="2000" b="1"/>
              <a:t>The take away:</a:t>
            </a:r>
          </a:p>
        </p:txBody>
      </p:sp>
      <p:pic>
        <p:nvPicPr>
          <p:cNvPr id="74761" name="Picture 8">
            <a:extLst>
              <a:ext uri="{FF2B5EF4-FFF2-40B4-BE49-F238E27FC236}">
                <a16:creationId xmlns:a16="http://schemas.microsoft.com/office/drawing/2014/main" id="{A6AEACC6-9444-46B0-955D-CCBB5F034D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2812" y="4365105"/>
            <a:ext cx="2290388" cy="2526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0713F413-9D7B-409D-9A3E-743B7D56B596}"/>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93B9176-62C3-4935-8EC0-478E429F84CB}" type="slidenum">
              <a:rPr lang="en-GB" altLang="en-US" sz="1400" smtClean="0"/>
              <a:pPr>
                <a:spcBef>
                  <a:spcPct val="0"/>
                </a:spcBef>
                <a:buFontTx/>
                <a:buNone/>
              </a:pPr>
              <a:t>58</a:t>
            </a:fld>
            <a:endParaRPr lang="en-GB" altLang="en-US" sz="1400"/>
          </a:p>
        </p:txBody>
      </p:sp>
      <p:sp>
        <p:nvSpPr>
          <p:cNvPr id="76803" name="Rectangle 2">
            <a:extLst>
              <a:ext uri="{FF2B5EF4-FFF2-40B4-BE49-F238E27FC236}">
                <a16:creationId xmlns:a16="http://schemas.microsoft.com/office/drawing/2014/main" id="{01D7BF65-52AE-4203-8D69-2CA1FE122667}"/>
              </a:ext>
            </a:extLst>
          </p:cNvPr>
          <p:cNvSpPr>
            <a:spLocks noGrp="1" noChangeArrowheads="1"/>
          </p:cNvSpPr>
          <p:nvPr>
            <p:ph type="title"/>
          </p:nvPr>
        </p:nvSpPr>
        <p:spPr/>
        <p:txBody>
          <a:bodyPr/>
          <a:lstStyle/>
          <a:p>
            <a:pPr algn="l" eaLnBrk="1" hangingPunct="1"/>
            <a:r>
              <a:rPr lang="pt-PT" altLang="en-US" sz="2400" b="1"/>
              <a:t>Main bibliography</a:t>
            </a:r>
            <a:endParaRPr lang="en-US" altLang="en-US" sz="2400" b="1"/>
          </a:p>
        </p:txBody>
      </p:sp>
      <p:sp>
        <p:nvSpPr>
          <p:cNvPr id="41988" name="Rectangle 3">
            <a:extLst>
              <a:ext uri="{FF2B5EF4-FFF2-40B4-BE49-F238E27FC236}">
                <a16:creationId xmlns:a16="http://schemas.microsoft.com/office/drawing/2014/main" id="{08B9219F-D4B2-4E97-B2C0-D4397E2D9B86}"/>
              </a:ext>
            </a:extLst>
          </p:cNvPr>
          <p:cNvSpPr>
            <a:spLocks noGrp="1" noChangeArrowheads="1"/>
          </p:cNvSpPr>
          <p:nvPr>
            <p:ph type="body" idx="1"/>
          </p:nvPr>
        </p:nvSpPr>
        <p:spPr>
          <a:xfrm>
            <a:off x="395288" y="1412875"/>
            <a:ext cx="8208962" cy="1655763"/>
          </a:xfrm>
        </p:spPr>
        <p:txBody>
          <a:bodyPr/>
          <a:lstStyle/>
          <a:p>
            <a:pPr eaLnBrk="1" hangingPunct="1">
              <a:lnSpc>
                <a:spcPct val="80000"/>
              </a:lnSpc>
              <a:defRPr/>
            </a:pPr>
            <a:endParaRPr lang="en-GB" altLang="en-US" sz="1800" dirty="0"/>
          </a:p>
          <a:p>
            <a:pPr eaLnBrk="1" hangingPunct="1">
              <a:lnSpc>
                <a:spcPct val="80000"/>
              </a:lnSpc>
              <a:defRPr/>
            </a:pPr>
            <a:r>
              <a:rPr lang="en-US" sz="1800" dirty="0">
                <a:hlinkClick r:id="rId2"/>
              </a:rPr>
              <a:t>Helen Sharp, Jenny Preece, Yvonne Rogers, </a:t>
            </a:r>
            <a:r>
              <a:rPr lang="en-GB" altLang="en-US" sz="1800" i="1" dirty="0">
                <a:hlinkClick r:id="rId2"/>
              </a:rPr>
              <a:t>Interaction Design – Beyond Human-Computer Interaction</a:t>
            </a:r>
            <a:r>
              <a:rPr lang="en-GB" altLang="en-US" sz="1800" dirty="0">
                <a:hlinkClick r:id="rId2"/>
              </a:rPr>
              <a:t>, </a:t>
            </a:r>
            <a:r>
              <a:rPr lang="en-US" altLang="en-US" sz="1800" dirty="0">
                <a:hlinkClick r:id="rId2"/>
              </a:rPr>
              <a:t>6</a:t>
            </a:r>
            <a:r>
              <a:rPr lang="en-US" sz="1800" dirty="0">
                <a:hlinkClick r:id="rId2"/>
              </a:rPr>
              <a:t>th edition, John Wiley, 2023</a:t>
            </a:r>
            <a:endParaRPr lang="pt-PT" sz="1800" dirty="0"/>
          </a:p>
          <a:p>
            <a:pPr marL="0" indent="0" eaLnBrk="1" hangingPunct="1">
              <a:lnSpc>
                <a:spcPct val="80000"/>
              </a:lnSpc>
              <a:buFontTx/>
              <a:buNone/>
              <a:defRPr/>
            </a:pPr>
            <a:r>
              <a:rPr lang="pt-PT" altLang="en-US" sz="1800" dirty="0"/>
              <a:t>      </a:t>
            </a:r>
            <a:r>
              <a:rPr lang="pt-PT" altLang="en-US" sz="1800" dirty="0">
                <a:hlinkClick r:id="rId3"/>
              </a:rPr>
              <a:t>http://www.id-book.com/chapter3_teaching.php</a:t>
            </a:r>
            <a:endParaRPr lang="pt-PT" altLang="en-US" sz="1800" dirty="0"/>
          </a:p>
          <a:p>
            <a:pPr marL="0" indent="0" eaLnBrk="1" hangingPunct="1">
              <a:lnSpc>
                <a:spcPct val="80000"/>
              </a:lnSpc>
              <a:buFontTx/>
              <a:buNone/>
              <a:defRPr/>
            </a:pPr>
            <a:endParaRPr lang="pt-PT" altLang="en-US" sz="1800" dirty="0"/>
          </a:p>
          <a:p>
            <a:pPr>
              <a:defRPr/>
            </a:pPr>
            <a:r>
              <a:rPr lang="en-US" sz="1800" dirty="0"/>
              <a:t>John Carroll, Human Computer Interaction - brief intro, </a:t>
            </a:r>
            <a:r>
              <a:rPr lang="en-US" sz="1800" i="1" dirty="0"/>
              <a:t>The Encyclopedia of Human-Computer Interaction, </a:t>
            </a:r>
            <a:r>
              <a:rPr lang="en-US" sz="1800" dirty="0"/>
              <a:t>2nd edition </a:t>
            </a:r>
            <a:r>
              <a:rPr lang="pt-PT" altLang="pt-PT" sz="1800" dirty="0">
                <a:hlinkClick r:id="rId4"/>
              </a:rPr>
              <a:t>https://www.interaction-design.org/literature/book/the-encyclopedia-of-human-computer-interaction-2nd-ed/affective-computing</a:t>
            </a:r>
            <a:endParaRPr lang="pt-PT" altLang="pt-PT" sz="1800" dirty="0"/>
          </a:p>
          <a:p>
            <a:pPr>
              <a:defRPr/>
            </a:pPr>
            <a:endParaRPr lang="pt-PT" altLang="pt-PT" sz="1800" dirty="0"/>
          </a:p>
          <a:p>
            <a:pPr>
              <a:defRPr/>
            </a:pPr>
            <a:r>
              <a:rPr lang="en-GB" altLang="en-US" sz="1800" dirty="0"/>
              <a:t>Alan Dix, Janet Finlay, Gregory Abowd, Russell Beale, </a:t>
            </a:r>
            <a:r>
              <a:rPr lang="en-GB" altLang="en-US" sz="1800" i="1" dirty="0"/>
              <a:t>Human-Computer Interaction</a:t>
            </a:r>
            <a:r>
              <a:rPr lang="en-GB" altLang="en-US" sz="1800" dirty="0"/>
              <a:t>,  3rd edition, Prentice Hall, 2004</a:t>
            </a:r>
          </a:p>
          <a:p>
            <a:pPr>
              <a:defRPr/>
            </a:pPr>
            <a:endParaRPr lang="en-GB" altLang="en-US" sz="1800" dirty="0"/>
          </a:p>
          <a:p>
            <a:pPr marL="0" indent="0">
              <a:buNone/>
              <a:defRPr/>
            </a:pPr>
            <a:endParaRPr lang="en-GB" altLang="en-US" sz="1800" dirty="0"/>
          </a:p>
          <a:p>
            <a:pPr marL="0" indent="0">
              <a:buNone/>
              <a:defRPr/>
            </a:pPr>
            <a:r>
              <a:rPr lang="en-GB" altLang="en-US" sz="1800" dirty="0"/>
              <a:t>Thanks to leonardo.ai</a:t>
            </a:r>
          </a:p>
          <a:p>
            <a:pPr>
              <a:defRPr/>
            </a:pPr>
            <a:endParaRPr lang="pt-PT" altLang="pt-PT" sz="1800" dirty="0"/>
          </a:p>
          <a:p>
            <a:pPr>
              <a:defRPr/>
            </a:pPr>
            <a:endParaRPr lang="pt-PT" sz="1800" dirty="0"/>
          </a:p>
          <a:p>
            <a:pPr>
              <a:defRPr/>
            </a:pPr>
            <a:endParaRPr lang="en-US" sz="1800" dirty="0"/>
          </a:p>
          <a:p>
            <a:pPr marL="0" indent="0" eaLnBrk="1" hangingPunct="1">
              <a:lnSpc>
                <a:spcPct val="80000"/>
              </a:lnSpc>
              <a:buFontTx/>
              <a:buNone/>
              <a:defRPr/>
            </a:pPr>
            <a:endParaRPr lang="pt-PT" altLang="en-US" sz="1800" dirty="0"/>
          </a:p>
          <a:p>
            <a:pPr marL="0" indent="0" eaLnBrk="1" hangingPunct="1">
              <a:lnSpc>
                <a:spcPct val="80000"/>
              </a:lnSpc>
              <a:buFontTx/>
              <a:buNone/>
              <a:defRPr/>
            </a:pPr>
            <a:endParaRPr lang="pt-PT" altLang="en-US" sz="1800" dirty="0"/>
          </a:p>
          <a:p>
            <a:pPr marL="0" indent="0" eaLnBrk="1" hangingPunct="1">
              <a:lnSpc>
                <a:spcPct val="80000"/>
              </a:lnSpc>
              <a:buFontTx/>
              <a:buNone/>
              <a:defRPr/>
            </a:pPr>
            <a:endParaRPr lang="pt-PT" altLang="en-US" sz="1800" dirty="0"/>
          </a:p>
          <a:p>
            <a:pPr marL="0" indent="0" eaLnBrk="1" hangingPunct="1">
              <a:lnSpc>
                <a:spcPct val="80000"/>
              </a:lnSpc>
              <a:buFontTx/>
              <a:buNone/>
              <a:defRPr/>
            </a:pPr>
            <a:endParaRPr lang="pt-PT" altLang="en-US" sz="1800" dirty="0"/>
          </a:p>
          <a:p>
            <a:pPr eaLnBrk="1" hangingPunct="1">
              <a:lnSpc>
                <a:spcPct val="80000"/>
              </a:lnSpc>
              <a:defRPr/>
            </a:pPr>
            <a:endParaRPr lang="pt-PT" alt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448B16-A9B3-4180-AA8E-48C3EB55C636}"/>
              </a:ext>
            </a:extLst>
          </p:cNvPr>
          <p:cNvSpPr>
            <a:spLocks noGrp="1"/>
          </p:cNvSpPr>
          <p:nvPr>
            <p:ph idx="1"/>
          </p:nvPr>
        </p:nvSpPr>
        <p:spPr>
          <a:xfrm>
            <a:off x="611560" y="4869160"/>
            <a:ext cx="8229600" cy="4525963"/>
          </a:xfrm>
        </p:spPr>
        <p:txBody>
          <a:bodyPr/>
          <a:lstStyle/>
          <a:p>
            <a:r>
              <a:rPr lang="en-US" sz="1800" dirty="0"/>
              <a:t>You may register your preferences</a:t>
            </a:r>
          </a:p>
          <a:p>
            <a:pPr marL="0" indent="0">
              <a:buNone/>
            </a:pPr>
            <a:r>
              <a:rPr lang="en-US" sz="1800" b="1" dirty="0">
                <a:latin typeface="Montserrat" panose="00000500000000000000" pitchFamily="2" charset="0"/>
              </a:rPr>
              <a:t>For TP1: </a:t>
            </a:r>
            <a:r>
              <a:rPr lang="en-US" sz="1800" b="1" dirty="0">
                <a:solidFill>
                  <a:srgbClr val="467886"/>
                </a:solidFill>
                <a:latin typeface="Montserrat" panose="00000500000000000000" pitchFamily="2" charset="0"/>
                <a:hlinkClick r:id="rId2"/>
              </a:rPr>
              <a:t>https://hci.shire.camdvr.org/register/TP1</a:t>
            </a:r>
            <a:endParaRPr lang="en-US" sz="1800" b="1" dirty="0">
              <a:solidFill>
                <a:srgbClr val="467886"/>
              </a:solidFill>
              <a:latin typeface="Montserrat" panose="00000500000000000000" pitchFamily="2" charset="0"/>
            </a:endParaRPr>
          </a:p>
          <a:p>
            <a:pPr marL="0" indent="0">
              <a:buNone/>
            </a:pPr>
            <a:r>
              <a:rPr lang="en-US" sz="1800" b="1" dirty="0">
                <a:latin typeface="Montserrat" panose="00000500000000000000" pitchFamily="2" charset="0"/>
              </a:rPr>
              <a:t>For TP2: </a:t>
            </a:r>
            <a:r>
              <a:rPr lang="en-US" sz="1800" b="1" dirty="0">
                <a:solidFill>
                  <a:srgbClr val="467886"/>
                </a:solidFill>
                <a:latin typeface="Montserrat" panose="00000500000000000000" pitchFamily="2" charset="0"/>
                <a:hlinkClick r:id="rId3"/>
              </a:rPr>
              <a:t>https://hci.shire.camdvr.org/register/TP2</a:t>
            </a:r>
            <a:endParaRPr lang="en-US" sz="1800" b="1" dirty="0">
              <a:solidFill>
                <a:srgbClr val="467886"/>
              </a:solidFill>
              <a:latin typeface="Montserrat" panose="00000500000000000000" pitchFamily="2" charset="0"/>
            </a:endParaRPr>
          </a:p>
          <a:p>
            <a:pPr marL="0" indent="0">
              <a:buNone/>
            </a:pPr>
            <a:r>
              <a:rPr lang="en-US" sz="1800" b="1" dirty="0">
                <a:latin typeface="Montserrat" panose="00000500000000000000" pitchFamily="2" charset="0"/>
              </a:rPr>
              <a:t>For TP3: </a:t>
            </a:r>
            <a:r>
              <a:rPr lang="en-US" sz="1800" b="1" dirty="0">
                <a:solidFill>
                  <a:srgbClr val="467886"/>
                </a:solidFill>
                <a:latin typeface="Montserrat" panose="00000500000000000000" pitchFamily="2" charset="0"/>
                <a:hlinkClick r:id="rId4"/>
              </a:rPr>
              <a:t>https://hci.shire.camdvr.org/register/TP3</a:t>
            </a:r>
            <a:endParaRPr lang="en-US" sz="1800" b="1" dirty="0">
              <a:solidFill>
                <a:srgbClr val="467886"/>
              </a:solidFill>
              <a:latin typeface="Montserrat" panose="00000500000000000000" pitchFamily="2" charset="0"/>
            </a:endParaRPr>
          </a:p>
          <a:p>
            <a:endParaRPr lang="en-US" sz="1800" dirty="0"/>
          </a:p>
        </p:txBody>
      </p:sp>
      <p:sp>
        <p:nvSpPr>
          <p:cNvPr id="4" name="Slide Number Placeholder 3">
            <a:extLst>
              <a:ext uri="{FF2B5EF4-FFF2-40B4-BE49-F238E27FC236}">
                <a16:creationId xmlns:a16="http://schemas.microsoft.com/office/drawing/2014/main" id="{D4AD902B-1FAD-46E3-AAAB-901B6C19C057}"/>
              </a:ext>
            </a:extLst>
          </p:cNvPr>
          <p:cNvSpPr>
            <a:spLocks noGrp="1"/>
          </p:cNvSpPr>
          <p:nvPr>
            <p:ph type="sldNum" sz="quarter" idx="12"/>
          </p:nvPr>
        </p:nvSpPr>
        <p:spPr/>
        <p:txBody>
          <a:bodyPr/>
          <a:lstStyle/>
          <a:p>
            <a:pPr>
              <a:defRPr/>
            </a:pPr>
            <a:fld id="{8A8E65A0-793D-4C86-BCE1-C5C8FEDDF532}" type="slidenum">
              <a:rPr lang="en-GB" altLang="en-US" smtClean="0"/>
              <a:pPr>
                <a:defRPr/>
              </a:pPr>
              <a:t>59</a:t>
            </a:fld>
            <a:endParaRPr lang="en-GB" altLang="en-US"/>
          </a:p>
        </p:txBody>
      </p:sp>
      <p:pic>
        <p:nvPicPr>
          <p:cNvPr id="5" name="Picture 4">
            <a:extLst>
              <a:ext uri="{FF2B5EF4-FFF2-40B4-BE49-F238E27FC236}">
                <a16:creationId xmlns:a16="http://schemas.microsoft.com/office/drawing/2014/main" id="{7C659565-0FBC-44D0-ABF5-C4CCAC70BC84}"/>
              </a:ext>
            </a:extLst>
          </p:cNvPr>
          <p:cNvPicPr>
            <a:picLocks noChangeAspect="1"/>
          </p:cNvPicPr>
          <p:nvPr/>
        </p:nvPicPr>
        <p:blipFill>
          <a:blip r:embed="rId5"/>
          <a:stretch>
            <a:fillRect/>
          </a:stretch>
        </p:blipFill>
        <p:spPr>
          <a:xfrm>
            <a:off x="5357" y="-27384"/>
            <a:ext cx="9144000" cy="4739268"/>
          </a:xfrm>
          <a:prstGeom prst="rect">
            <a:avLst/>
          </a:prstGeom>
        </p:spPr>
      </p:pic>
      <p:pic>
        <p:nvPicPr>
          <p:cNvPr id="6" name="Picture 5">
            <a:extLst>
              <a:ext uri="{FF2B5EF4-FFF2-40B4-BE49-F238E27FC236}">
                <a16:creationId xmlns:a16="http://schemas.microsoft.com/office/drawing/2014/main" id="{305B6712-DD3E-4C27-A572-AB78B9B98FDA}"/>
              </a:ext>
            </a:extLst>
          </p:cNvPr>
          <p:cNvPicPr>
            <a:picLocks noChangeAspect="1"/>
          </p:cNvPicPr>
          <p:nvPr/>
        </p:nvPicPr>
        <p:blipFill>
          <a:blip r:embed="rId6"/>
          <a:stretch>
            <a:fillRect/>
          </a:stretch>
        </p:blipFill>
        <p:spPr>
          <a:xfrm>
            <a:off x="5831632" y="5295317"/>
            <a:ext cx="3312368" cy="1426158"/>
          </a:xfrm>
          <a:prstGeom prst="rect">
            <a:avLst/>
          </a:prstGeom>
        </p:spPr>
      </p:pic>
    </p:spTree>
    <p:extLst>
      <p:ext uri="{BB962C8B-B14F-4D97-AF65-F5344CB8AC3E}">
        <p14:creationId xmlns:p14="http://schemas.microsoft.com/office/powerpoint/2010/main" val="23399596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EBC2-C1FC-B354-7BA2-68F5C4354EF7}"/>
              </a:ext>
            </a:extLst>
          </p:cNvPr>
          <p:cNvSpPr>
            <a:spLocks noGrp="1"/>
          </p:cNvSpPr>
          <p:nvPr>
            <p:ph type="title"/>
          </p:nvPr>
        </p:nvSpPr>
        <p:spPr/>
        <p:txBody>
          <a:bodyPr/>
          <a:lstStyle/>
          <a:p>
            <a:r>
              <a:rPr lang="en-GB" sz="2800" dirty="0"/>
              <a:t>Signing in for Tutorial Sessions</a:t>
            </a:r>
          </a:p>
        </p:txBody>
      </p:sp>
      <p:sp>
        <p:nvSpPr>
          <p:cNvPr id="3" name="Content Placeholder 2">
            <a:extLst>
              <a:ext uri="{FF2B5EF4-FFF2-40B4-BE49-F238E27FC236}">
                <a16:creationId xmlns:a16="http://schemas.microsoft.com/office/drawing/2014/main" id="{7CCD9C68-42B4-F992-33C4-70F3E90E25CD}"/>
              </a:ext>
            </a:extLst>
          </p:cNvPr>
          <p:cNvSpPr>
            <a:spLocks noGrp="1"/>
          </p:cNvSpPr>
          <p:nvPr>
            <p:ph idx="1"/>
          </p:nvPr>
        </p:nvSpPr>
        <p:spPr>
          <a:xfrm>
            <a:off x="683568" y="3193896"/>
            <a:ext cx="5683660" cy="3263504"/>
          </a:xfrm>
        </p:spPr>
        <p:txBody>
          <a:bodyPr>
            <a:noAutofit/>
          </a:bodyPr>
          <a:lstStyle/>
          <a:p>
            <a:pPr marL="0" indent="0">
              <a:buNone/>
            </a:pPr>
            <a:r>
              <a:rPr lang="en-GB" sz="1600" dirty="0"/>
              <a:t>If you wish to attend the week’s tutorial guidance session:</a:t>
            </a:r>
          </a:p>
          <a:p>
            <a:pPr marL="0" indent="0">
              <a:buNone/>
            </a:pPr>
            <a:endParaRPr lang="en-GB" sz="1600" dirty="0"/>
          </a:p>
          <a:p>
            <a:r>
              <a:rPr lang="en-GB" sz="1600" dirty="0"/>
              <a:t>Go into the course’s </a:t>
            </a:r>
            <a:r>
              <a:rPr lang="en-GB" sz="1600" b="1" dirty="0">
                <a:hlinkClick r:id="rId2"/>
              </a:rPr>
              <a:t>Teams group</a:t>
            </a:r>
            <a:endParaRPr lang="en-GB" sz="1600" b="1" dirty="0"/>
          </a:p>
          <a:p>
            <a:endParaRPr lang="en-GB" sz="1600" dirty="0"/>
          </a:p>
          <a:p>
            <a:r>
              <a:rPr lang="en-GB" sz="1600" dirty="0"/>
              <a:t>Enter the </a:t>
            </a:r>
            <a:r>
              <a:rPr lang="en-GB" sz="1600" b="1" dirty="0">
                <a:hlinkClick r:id="rId3"/>
              </a:rPr>
              <a:t>channel OTs</a:t>
            </a:r>
            <a:endParaRPr lang="en-GB" sz="1600" b="1" dirty="0"/>
          </a:p>
          <a:p>
            <a:endParaRPr lang="en-GB" sz="1600" dirty="0"/>
          </a:p>
          <a:p>
            <a:r>
              <a:rPr lang="en-GB" sz="1600" dirty="0"/>
              <a:t>Vote </a:t>
            </a:r>
            <a:r>
              <a:rPr lang="en-GB" sz="1600" b="1" dirty="0"/>
              <a:t>YES</a:t>
            </a:r>
            <a:r>
              <a:rPr lang="en-GB" sz="1600" dirty="0"/>
              <a:t> on the corresponding Poll </a:t>
            </a:r>
          </a:p>
          <a:p>
            <a:endParaRPr lang="en-GB" sz="1600" dirty="0"/>
          </a:p>
          <a:p>
            <a:pPr marL="0" indent="0">
              <a:buNone/>
            </a:pPr>
            <a:r>
              <a:rPr lang="en-GB" sz="1600" b="1" dirty="0"/>
              <a:t>Signing </a:t>
            </a:r>
            <a:r>
              <a:rPr lang="en-GB" sz="1600" dirty="0"/>
              <a:t>in needs to occur </a:t>
            </a:r>
            <a:r>
              <a:rPr lang="en-GB" sz="1600" b="1" dirty="0">
                <a:solidFill>
                  <a:srgbClr val="FF0000"/>
                </a:solidFill>
              </a:rPr>
              <a:t>until 12h </a:t>
            </a:r>
            <a:r>
              <a:rPr lang="en-GB" sz="1600" dirty="0"/>
              <a:t>of the day of the session</a:t>
            </a:r>
            <a:r>
              <a:rPr lang="en-GB" sz="1600" b="1" dirty="0"/>
              <a:t>.</a:t>
            </a:r>
          </a:p>
          <a:p>
            <a:pPr lvl="1"/>
            <a:r>
              <a:rPr lang="en-GB" sz="1600" dirty="0"/>
              <a:t>Example: if the session is at 19h of February, 13</a:t>
            </a:r>
            <a:r>
              <a:rPr lang="en-GB" sz="1600" baseline="30000" dirty="0"/>
              <a:t>th</a:t>
            </a:r>
            <a:r>
              <a:rPr lang="en-GB" sz="1600" dirty="0"/>
              <a:t>, you need to sing in until 12h of that day</a:t>
            </a:r>
          </a:p>
        </p:txBody>
      </p:sp>
      <p:pic>
        <p:nvPicPr>
          <p:cNvPr id="5" name="Picture 4">
            <a:extLst>
              <a:ext uri="{FF2B5EF4-FFF2-40B4-BE49-F238E27FC236}">
                <a16:creationId xmlns:a16="http://schemas.microsoft.com/office/drawing/2014/main" id="{0E86BDAD-3943-AA3B-DA20-D6D703D74D57}"/>
              </a:ext>
            </a:extLst>
          </p:cNvPr>
          <p:cNvPicPr>
            <a:picLocks noChangeAspect="1"/>
          </p:cNvPicPr>
          <p:nvPr/>
        </p:nvPicPr>
        <p:blipFill>
          <a:blip r:embed="rId4"/>
          <a:stretch>
            <a:fillRect/>
          </a:stretch>
        </p:blipFill>
        <p:spPr>
          <a:xfrm>
            <a:off x="6732240" y="3789040"/>
            <a:ext cx="2173859" cy="1819019"/>
          </a:xfrm>
          <a:prstGeom prst="rect">
            <a:avLst/>
          </a:prstGeom>
        </p:spPr>
      </p:pic>
      <p:sp>
        <p:nvSpPr>
          <p:cNvPr id="4" name="Rectangle 3">
            <a:extLst>
              <a:ext uri="{FF2B5EF4-FFF2-40B4-BE49-F238E27FC236}">
                <a16:creationId xmlns:a16="http://schemas.microsoft.com/office/drawing/2014/main" id="{BE9851C2-DB7F-4569-8119-B90BA7901E5D}"/>
              </a:ext>
            </a:extLst>
          </p:cNvPr>
          <p:cNvSpPr/>
          <p:nvPr/>
        </p:nvSpPr>
        <p:spPr>
          <a:xfrm>
            <a:off x="611560" y="1386022"/>
            <a:ext cx="7992888" cy="646331"/>
          </a:xfrm>
          <a:prstGeom prst="rect">
            <a:avLst/>
          </a:prstGeom>
        </p:spPr>
        <p:txBody>
          <a:bodyPr wrap="square">
            <a:spAutoFit/>
          </a:bodyPr>
          <a:lstStyle/>
          <a:p>
            <a:pPr marL="0" indent="0" algn="ctr">
              <a:buNone/>
            </a:pPr>
            <a:r>
              <a:rPr lang="en-GB" dirty="0"/>
              <a:t>It is possible to attend the weekly tutorial guidance sessions. It is on Thursdays, at 19h00, online. </a:t>
            </a:r>
          </a:p>
        </p:txBody>
      </p:sp>
      <p:sp>
        <p:nvSpPr>
          <p:cNvPr id="6" name="Rectangle 5">
            <a:extLst>
              <a:ext uri="{FF2B5EF4-FFF2-40B4-BE49-F238E27FC236}">
                <a16:creationId xmlns:a16="http://schemas.microsoft.com/office/drawing/2014/main" id="{6F0476A8-BBBC-4603-9FA1-307E37EF7AEA}"/>
              </a:ext>
            </a:extLst>
          </p:cNvPr>
          <p:cNvSpPr/>
          <p:nvPr/>
        </p:nvSpPr>
        <p:spPr>
          <a:xfrm>
            <a:off x="347550" y="2568844"/>
            <a:ext cx="8448899" cy="369332"/>
          </a:xfrm>
          <a:prstGeom prst="rect">
            <a:avLst/>
          </a:prstGeom>
        </p:spPr>
        <p:txBody>
          <a:bodyPr wrap="square">
            <a:spAutoFit/>
          </a:bodyPr>
          <a:lstStyle/>
          <a:p>
            <a:pPr marL="0" indent="0" algn="ctr">
              <a:buNone/>
            </a:pPr>
            <a:r>
              <a:rPr lang="en-GB" dirty="0">
                <a:solidFill>
                  <a:schemeClr val="tx2">
                    <a:lumMod val="75000"/>
                    <a:lumOff val="25000"/>
                  </a:schemeClr>
                </a:solidFill>
              </a:rPr>
              <a:t>These sessions will only occur </a:t>
            </a:r>
            <a:r>
              <a:rPr lang="en-GB" dirty="0">
                <a:solidFill>
                  <a:srgbClr val="FF0000"/>
                </a:solidFill>
              </a:rPr>
              <a:t>if</a:t>
            </a:r>
            <a:r>
              <a:rPr lang="en-GB" dirty="0">
                <a:solidFill>
                  <a:schemeClr val="tx2">
                    <a:lumMod val="75000"/>
                    <a:lumOff val="25000"/>
                  </a:schemeClr>
                </a:solidFill>
              </a:rPr>
              <a:t> </a:t>
            </a:r>
            <a:r>
              <a:rPr lang="en-GB" dirty="0">
                <a:solidFill>
                  <a:srgbClr val="FF0000"/>
                </a:solidFill>
              </a:rPr>
              <a:t>someone signs in </a:t>
            </a:r>
            <a:r>
              <a:rPr lang="en-GB" dirty="0">
                <a:solidFill>
                  <a:schemeClr val="tx2">
                    <a:lumMod val="75000"/>
                    <a:lumOff val="25000"/>
                  </a:schemeClr>
                </a:solidFill>
              </a:rPr>
              <a:t>for them in advance</a:t>
            </a:r>
          </a:p>
        </p:txBody>
      </p:sp>
    </p:spTree>
    <p:extLst>
      <p:ext uri="{BB962C8B-B14F-4D97-AF65-F5344CB8AC3E}">
        <p14:creationId xmlns:p14="http://schemas.microsoft.com/office/powerpoint/2010/main" val="32574009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BBADCE0A-3712-4832-99A2-F2B60F37658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14245CA-357E-4DA3-A2A0-045CB1A8A28C}" type="slidenum">
              <a:rPr lang="en-GB" altLang="en-US" sz="1400" smtClean="0"/>
              <a:pPr>
                <a:spcBef>
                  <a:spcPct val="0"/>
                </a:spcBef>
                <a:buFontTx/>
                <a:buNone/>
              </a:pPr>
              <a:t>61</a:t>
            </a:fld>
            <a:endParaRPr lang="en-GB" altLang="en-US" sz="1400"/>
          </a:p>
        </p:txBody>
      </p:sp>
      <p:sp>
        <p:nvSpPr>
          <p:cNvPr id="19459" name="Rectangle 2">
            <a:extLst>
              <a:ext uri="{FF2B5EF4-FFF2-40B4-BE49-F238E27FC236}">
                <a16:creationId xmlns:a16="http://schemas.microsoft.com/office/drawing/2014/main" id="{D1EB6B9B-4CE8-439D-AEBE-76F88C0A5AE4}"/>
              </a:ext>
            </a:extLst>
          </p:cNvPr>
          <p:cNvSpPr>
            <a:spLocks noGrp="1" noChangeArrowheads="1"/>
          </p:cNvSpPr>
          <p:nvPr>
            <p:ph type="body" idx="1"/>
          </p:nvPr>
        </p:nvSpPr>
        <p:spPr>
          <a:xfrm>
            <a:off x="395288" y="1125538"/>
            <a:ext cx="8280400" cy="5400675"/>
          </a:xfrm>
        </p:spPr>
        <p:txBody>
          <a:bodyPr/>
          <a:lstStyle/>
          <a:p>
            <a:pPr eaLnBrk="1" hangingPunct="1">
              <a:lnSpc>
                <a:spcPct val="80000"/>
              </a:lnSpc>
              <a:defRPr/>
            </a:pPr>
            <a:endParaRPr lang="en-US" altLang="en-US" sz="1600" dirty="0"/>
          </a:p>
          <a:p>
            <a:pPr marL="457200" lvl="1" indent="0" eaLnBrk="1" hangingPunct="1">
              <a:lnSpc>
                <a:spcPct val="80000"/>
              </a:lnSpc>
              <a:buNone/>
              <a:defRPr/>
            </a:pPr>
            <a:r>
              <a:rPr lang="en-US" altLang="en-US" sz="1600" dirty="0"/>
              <a:t>Students attending the presentation may vote via a link available in Moodle</a:t>
            </a:r>
          </a:p>
          <a:p>
            <a:pPr eaLnBrk="1" hangingPunct="1">
              <a:lnSpc>
                <a:spcPct val="80000"/>
              </a:lnSpc>
              <a:defRPr/>
            </a:pPr>
            <a:endParaRPr lang="pt-PT" altLang="en-US" sz="1600" dirty="0"/>
          </a:p>
          <a:p>
            <a:pPr eaLnBrk="1" hangingPunct="1">
              <a:lnSpc>
                <a:spcPct val="80000"/>
              </a:lnSpc>
              <a:defRPr/>
            </a:pPr>
            <a:endParaRPr lang="pt-PT" altLang="en-US" sz="1600" dirty="0"/>
          </a:p>
          <a:p>
            <a:pPr eaLnBrk="1" hangingPunct="1">
              <a:lnSpc>
                <a:spcPct val="80000"/>
              </a:lnSpc>
              <a:defRPr/>
            </a:pPr>
            <a:r>
              <a:rPr lang="en-US" altLang="en-US" sz="1800" dirty="0"/>
              <a:t>Using the following scale:</a:t>
            </a:r>
          </a:p>
          <a:p>
            <a:pPr marL="457200" lvl="1" indent="0" eaLnBrk="1" hangingPunct="1">
              <a:lnSpc>
                <a:spcPct val="80000"/>
              </a:lnSpc>
              <a:buFontTx/>
              <a:buNone/>
              <a:defRPr/>
            </a:pPr>
            <a:r>
              <a:rPr lang="pt-PT" altLang="en-US" sz="1600" dirty="0"/>
              <a:t>5- </a:t>
            </a:r>
            <a:r>
              <a:rPr lang="en-US" altLang="en-US" sz="1600" dirty="0"/>
              <a:t>Excellent </a:t>
            </a:r>
          </a:p>
          <a:p>
            <a:pPr marL="457200" lvl="1" indent="0" eaLnBrk="1" hangingPunct="1">
              <a:lnSpc>
                <a:spcPct val="80000"/>
              </a:lnSpc>
              <a:buFontTx/>
              <a:buNone/>
              <a:defRPr/>
            </a:pPr>
            <a:r>
              <a:rPr lang="en-US" altLang="en-US" sz="1600" dirty="0"/>
              <a:t>4- Very good </a:t>
            </a:r>
          </a:p>
          <a:p>
            <a:pPr marL="457200" lvl="1" indent="0" eaLnBrk="1" hangingPunct="1">
              <a:lnSpc>
                <a:spcPct val="80000"/>
              </a:lnSpc>
              <a:buFontTx/>
              <a:buNone/>
              <a:defRPr/>
            </a:pPr>
            <a:r>
              <a:rPr lang="en-US" altLang="en-US" sz="1600" dirty="0"/>
              <a:t>3- Good </a:t>
            </a:r>
          </a:p>
          <a:p>
            <a:pPr marL="457200" lvl="1" indent="0" eaLnBrk="1" hangingPunct="1">
              <a:lnSpc>
                <a:spcPct val="80000"/>
              </a:lnSpc>
              <a:buFontTx/>
              <a:buNone/>
              <a:defRPr/>
            </a:pPr>
            <a:r>
              <a:rPr lang="en-US" altLang="en-US" sz="1600" dirty="0"/>
              <a:t>2- Sufficient </a:t>
            </a:r>
          </a:p>
          <a:p>
            <a:pPr marL="457200" lvl="1" indent="0" eaLnBrk="1" hangingPunct="1">
              <a:lnSpc>
                <a:spcPct val="80000"/>
              </a:lnSpc>
              <a:buFontTx/>
              <a:buNone/>
              <a:defRPr/>
            </a:pPr>
            <a:r>
              <a:rPr lang="en-US" altLang="en-US" sz="1600" dirty="0"/>
              <a:t>1- Poor </a:t>
            </a:r>
          </a:p>
          <a:p>
            <a:pPr eaLnBrk="1" hangingPunct="1">
              <a:lnSpc>
                <a:spcPct val="80000"/>
              </a:lnSpc>
              <a:defRPr/>
            </a:pPr>
            <a:endParaRPr lang="pt-PT" altLang="en-US" sz="1600" dirty="0"/>
          </a:p>
          <a:p>
            <a:pPr eaLnBrk="1" hangingPunct="1">
              <a:lnSpc>
                <a:spcPct val="80000"/>
              </a:lnSpc>
              <a:defRPr/>
            </a:pPr>
            <a:endParaRPr lang="pt-PT" altLang="en-US" sz="1600" dirty="0"/>
          </a:p>
          <a:p>
            <a:pPr eaLnBrk="1" hangingPunct="1">
              <a:lnSpc>
                <a:spcPct val="80000"/>
              </a:lnSpc>
              <a:defRPr/>
            </a:pPr>
            <a:r>
              <a:rPr lang="en-US" altLang="en-US" sz="1800" dirty="0"/>
              <a:t>Taking into consideration:</a:t>
            </a:r>
          </a:p>
          <a:p>
            <a:pPr lvl="1" eaLnBrk="1" hangingPunct="1">
              <a:lnSpc>
                <a:spcPct val="80000"/>
              </a:lnSpc>
              <a:defRPr/>
            </a:pPr>
            <a:r>
              <a:rPr lang="en-US" altLang="en-US" sz="1600" dirty="0"/>
              <a:t>Adequacy </a:t>
            </a:r>
          </a:p>
          <a:p>
            <a:pPr lvl="1" eaLnBrk="1" hangingPunct="1">
              <a:lnSpc>
                <a:spcPct val="80000"/>
              </a:lnSpc>
              <a:defRPr/>
            </a:pPr>
            <a:r>
              <a:rPr lang="en-US" altLang="en-US" sz="1600" dirty="0"/>
              <a:t>Slides</a:t>
            </a:r>
          </a:p>
          <a:p>
            <a:pPr lvl="1" eaLnBrk="1" hangingPunct="1">
              <a:lnSpc>
                <a:spcPct val="80000"/>
              </a:lnSpc>
              <a:defRPr/>
            </a:pPr>
            <a:r>
              <a:rPr lang="en-US" altLang="en-US" sz="1600" dirty="0"/>
              <a:t>Presentation </a:t>
            </a:r>
          </a:p>
          <a:p>
            <a:pPr lvl="1" eaLnBrk="1" hangingPunct="1">
              <a:lnSpc>
                <a:spcPct val="80000"/>
              </a:lnSpc>
              <a:defRPr/>
            </a:pPr>
            <a:r>
              <a:rPr lang="en-US" altLang="en-US" sz="1600" dirty="0"/>
              <a:t>Discussion</a:t>
            </a:r>
          </a:p>
          <a:p>
            <a:pPr lvl="1" eaLnBrk="1" hangingPunct="1">
              <a:lnSpc>
                <a:spcPct val="80000"/>
              </a:lnSpc>
              <a:defRPr/>
            </a:pPr>
            <a:r>
              <a:rPr lang="en-US" altLang="en-US" sz="1600" dirty="0"/>
              <a:t>Exceeded time</a:t>
            </a:r>
            <a:r>
              <a:rPr lang="pt-PT" altLang="en-US" sz="1600" dirty="0"/>
              <a:t>?</a:t>
            </a:r>
          </a:p>
          <a:p>
            <a:pPr lvl="1" eaLnBrk="1" hangingPunct="1">
              <a:lnSpc>
                <a:spcPct val="80000"/>
              </a:lnSpc>
              <a:defRPr/>
            </a:pPr>
            <a:endParaRPr lang="pt-PT" altLang="en-US" sz="1400" dirty="0"/>
          </a:p>
        </p:txBody>
      </p:sp>
      <p:sp>
        <p:nvSpPr>
          <p:cNvPr id="12292" name="Rectangle 3">
            <a:extLst>
              <a:ext uri="{FF2B5EF4-FFF2-40B4-BE49-F238E27FC236}">
                <a16:creationId xmlns:a16="http://schemas.microsoft.com/office/drawing/2014/main" id="{21C9EC5F-48CB-4072-900C-D6056946438A}"/>
              </a:ext>
            </a:extLst>
          </p:cNvPr>
          <p:cNvSpPr>
            <a:spLocks noGrp="1" noChangeArrowheads="1"/>
          </p:cNvSpPr>
          <p:nvPr>
            <p:ph type="title"/>
          </p:nvPr>
        </p:nvSpPr>
        <p:spPr>
          <a:xfrm>
            <a:off x="468313" y="188913"/>
            <a:ext cx="8229600" cy="1143000"/>
          </a:xfrm>
        </p:spPr>
        <p:txBody>
          <a:bodyPr/>
          <a:lstStyle/>
          <a:p>
            <a:pPr algn="l" eaLnBrk="1" hangingPunct="1"/>
            <a:r>
              <a:rPr lang="en-US" altLang="en-US" sz="2400" b="1" dirty="0"/>
              <a:t>Paper Presentation Assessment</a:t>
            </a:r>
          </a:p>
        </p:txBody>
      </p:sp>
      <p:pic>
        <p:nvPicPr>
          <p:cNvPr id="12293" name="Picture 4">
            <a:extLst>
              <a:ext uri="{FF2B5EF4-FFF2-40B4-BE49-F238E27FC236}">
                <a16:creationId xmlns:a16="http://schemas.microsoft.com/office/drawing/2014/main" id="{39526470-C18F-4B7A-98BF-2FAA28AF4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4360863"/>
            <a:ext cx="1871662"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1">
            <a:extLst>
              <a:ext uri="{FF2B5EF4-FFF2-40B4-BE49-F238E27FC236}">
                <a16:creationId xmlns:a16="http://schemas.microsoft.com/office/drawing/2014/main" id="{009B765A-B495-4730-836F-948B9D7E0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2865438"/>
            <a:ext cx="38671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0F37287E-499D-4CD0-8E6F-D48C8BC76E64}"/>
              </a:ext>
            </a:extLst>
          </p:cNvPr>
          <p:cNvSpPr>
            <a:spLocks noGrp="1" noChangeArrowheads="1"/>
          </p:cNvSpPr>
          <p:nvPr>
            <p:ph type="title"/>
          </p:nvPr>
        </p:nvSpPr>
        <p:spPr/>
        <p:txBody>
          <a:bodyPr/>
          <a:lstStyle/>
          <a:p>
            <a:r>
              <a:rPr lang="en-US" altLang="en-US" sz="2800"/>
              <a:t>Paper presentation evaluation and voting</a:t>
            </a:r>
          </a:p>
        </p:txBody>
      </p:sp>
      <p:sp>
        <p:nvSpPr>
          <p:cNvPr id="3" name="Content Placeholder 2">
            <a:extLst>
              <a:ext uri="{FF2B5EF4-FFF2-40B4-BE49-F238E27FC236}">
                <a16:creationId xmlns:a16="http://schemas.microsoft.com/office/drawing/2014/main" id="{B2FF7D42-8448-4D57-81E4-A49EB98D0CEC}"/>
              </a:ext>
            </a:extLst>
          </p:cNvPr>
          <p:cNvSpPr>
            <a:spLocks noGrp="1"/>
          </p:cNvSpPr>
          <p:nvPr>
            <p:ph idx="1"/>
          </p:nvPr>
        </p:nvSpPr>
        <p:spPr>
          <a:xfrm>
            <a:off x="457200" y="1268413"/>
            <a:ext cx="8794750" cy="4525962"/>
          </a:xfrm>
        </p:spPr>
        <p:txBody>
          <a:bodyPr/>
          <a:lstStyle/>
          <a:p>
            <a:pPr>
              <a:defRPr/>
            </a:pPr>
            <a:r>
              <a:rPr lang="en-US" sz="2400" dirty="0"/>
              <a:t>Consider </a:t>
            </a:r>
            <a:r>
              <a:rPr lang="en-US" sz="2400"/>
              <a:t>the following aspects </a:t>
            </a:r>
            <a:r>
              <a:rPr lang="en-US" sz="2400" dirty="0"/>
              <a:t>+ presentation duration</a:t>
            </a:r>
            <a:r>
              <a:rPr lang="en-US" sz="2400"/>
              <a:t>:</a:t>
            </a:r>
            <a:endParaRPr lang="en-US" sz="2400" dirty="0"/>
          </a:p>
          <a:p>
            <a:pPr marL="0" indent="0">
              <a:buFontTx/>
              <a:buNone/>
              <a:defRPr/>
            </a:pPr>
            <a:r>
              <a:rPr lang="en-US" sz="2400" dirty="0"/>
              <a:t>	- Selection of the paper:</a:t>
            </a:r>
          </a:p>
          <a:p>
            <a:pPr marL="0" indent="0">
              <a:buFontTx/>
              <a:buNone/>
              <a:defRPr/>
            </a:pPr>
            <a:r>
              <a:rPr lang="en-US" sz="2400" dirty="0"/>
              <a:t>		</a:t>
            </a:r>
            <a:r>
              <a:rPr lang="en-US" sz="2000" dirty="0"/>
              <a:t>- is the topic understandable by this audience?</a:t>
            </a:r>
          </a:p>
          <a:p>
            <a:pPr marL="0" indent="0">
              <a:buFontTx/>
              <a:buNone/>
              <a:defRPr/>
            </a:pPr>
            <a:r>
              <a:rPr lang="en-US" sz="2400" dirty="0"/>
              <a:t>	- Slides:</a:t>
            </a:r>
          </a:p>
          <a:p>
            <a:pPr marL="0" indent="0">
              <a:buFontTx/>
              <a:buNone/>
              <a:defRPr/>
            </a:pPr>
            <a:r>
              <a:rPr lang="en-US" sz="2400" dirty="0"/>
              <a:t>		</a:t>
            </a:r>
            <a:r>
              <a:rPr lang="en-US" sz="2000" dirty="0"/>
              <a:t>- are well organized? </a:t>
            </a:r>
          </a:p>
          <a:p>
            <a:pPr marL="0" indent="0">
              <a:buFontTx/>
              <a:buNone/>
              <a:defRPr/>
            </a:pPr>
            <a:r>
              <a:rPr lang="en-US" sz="2000" dirty="0"/>
              <a:t>		- include the needed information?</a:t>
            </a:r>
          </a:p>
          <a:p>
            <a:pPr marL="0" indent="0">
              <a:buFontTx/>
              <a:buNone/>
              <a:defRPr/>
            </a:pPr>
            <a:r>
              <a:rPr lang="en-US" sz="2000" dirty="0"/>
              <a:t>		- have the right amount of text and figures?</a:t>
            </a:r>
          </a:p>
          <a:p>
            <a:pPr marL="0" indent="0">
              <a:buFontTx/>
              <a:buNone/>
              <a:defRPr/>
            </a:pPr>
            <a:r>
              <a:rPr lang="en-US" sz="2400" dirty="0"/>
              <a:t>	- Oral presentation:</a:t>
            </a:r>
          </a:p>
          <a:p>
            <a:pPr marL="0" indent="0">
              <a:buFontTx/>
              <a:buNone/>
              <a:defRPr/>
            </a:pPr>
            <a:r>
              <a:rPr lang="en-US" sz="2400" dirty="0"/>
              <a:t>		</a:t>
            </a:r>
            <a:r>
              <a:rPr lang="en-US" sz="2000" dirty="0"/>
              <a:t>- was fluid and enthusiastic/motivating? </a:t>
            </a:r>
          </a:p>
          <a:p>
            <a:pPr marL="0" indent="0">
              <a:buFontTx/>
              <a:buNone/>
              <a:defRPr/>
            </a:pPr>
            <a:r>
              <a:rPr lang="en-US" sz="2000" dirty="0"/>
              <a:t>		- was balanced between the two presenters?</a:t>
            </a:r>
          </a:p>
          <a:p>
            <a:pPr marL="0" indent="0">
              <a:buFontTx/>
              <a:buNone/>
              <a:defRPr/>
            </a:pPr>
            <a:r>
              <a:rPr lang="en-US" sz="2400" dirty="0"/>
              <a:t>	- Personal conclusions and discussion:</a:t>
            </a:r>
          </a:p>
          <a:p>
            <a:pPr marL="0" indent="0">
              <a:buFontTx/>
              <a:buNone/>
              <a:defRPr/>
            </a:pPr>
            <a:r>
              <a:rPr lang="pt-PT" sz="2400" dirty="0"/>
              <a:t>	</a:t>
            </a:r>
            <a:r>
              <a:rPr lang="en-US" sz="2400" dirty="0"/>
              <a:t>	</a:t>
            </a:r>
            <a:r>
              <a:rPr lang="en-US" sz="2000" dirty="0"/>
              <a:t>- the personal conclusions were adequate</a:t>
            </a:r>
          </a:p>
          <a:p>
            <a:pPr marL="0" indent="0">
              <a:buFontTx/>
              <a:buNone/>
              <a:defRPr/>
            </a:pPr>
            <a:r>
              <a:rPr lang="pt-PT" sz="2000" dirty="0"/>
              <a:t>	</a:t>
            </a:r>
            <a:r>
              <a:rPr lang="en-US" sz="2000" dirty="0"/>
              <a:t>	- the presenters provided good answers</a:t>
            </a:r>
          </a:p>
          <a:p>
            <a:pPr marL="0" indent="0">
              <a:buFontTx/>
              <a:buNone/>
              <a:defRPr/>
            </a:pPr>
            <a:endParaRPr lang="pt-PT" sz="2400" dirty="0"/>
          </a:p>
          <a:p>
            <a:pPr marL="0" indent="0">
              <a:buFontTx/>
              <a:buNone/>
              <a:defRPr/>
            </a:pPr>
            <a:r>
              <a:rPr lang="pt-PT" sz="2400" dirty="0"/>
              <a:t>	- </a:t>
            </a:r>
          </a:p>
          <a:p>
            <a:pPr marL="0" indent="0">
              <a:buFontTx/>
              <a:buNone/>
              <a:defRPr/>
            </a:pPr>
            <a:r>
              <a:rPr lang="pt-PT" sz="2400" dirty="0"/>
              <a:t>	- </a:t>
            </a:r>
            <a:endParaRPr lang="en-US" dirty="0"/>
          </a:p>
        </p:txBody>
      </p:sp>
      <p:sp>
        <p:nvSpPr>
          <p:cNvPr id="77828" name="Slide Number Placeholder 3">
            <a:extLst>
              <a:ext uri="{FF2B5EF4-FFF2-40B4-BE49-F238E27FC236}">
                <a16:creationId xmlns:a16="http://schemas.microsoft.com/office/drawing/2014/main" id="{0D289BD0-3304-4848-8735-FF3C88623F7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3E1E95E-7F3B-4766-BA52-3AAF6387B735}" type="slidenum">
              <a:rPr lang="en-GB" altLang="en-US" sz="1400" smtClean="0"/>
              <a:pPr>
                <a:spcBef>
                  <a:spcPct val="0"/>
                </a:spcBef>
                <a:buFontTx/>
                <a:buNone/>
              </a:pPr>
              <a:t>62</a:t>
            </a:fld>
            <a:endParaRPr lang="en-GB" altLang="en-US" sz="1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8C06E-ECA8-495C-A8A6-24A2D1E1CB48}"/>
              </a:ext>
            </a:extLst>
          </p:cNvPr>
          <p:cNvSpPr>
            <a:spLocks noGrp="1"/>
          </p:cNvSpPr>
          <p:nvPr>
            <p:ph idx="1"/>
          </p:nvPr>
        </p:nvSpPr>
        <p:spPr/>
        <p:txBody>
          <a:bodyPr/>
          <a:lstStyle/>
          <a:p>
            <a:pPr>
              <a:defRPr/>
            </a:pPr>
            <a:r>
              <a:rPr lang="en-US" sz="2400" dirty="0"/>
              <a:t>Voting scale on overall performance:</a:t>
            </a:r>
          </a:p>
          <a:p>
            <a:pPr marL="0" indent="0">
              <a:buFontTx/>
              <a:buNone/>
              <a:defRPr/>
            </a:pPr>
            <a:endParaRPr lang="en-US" dirty="0"/>
          </a:p>
          <a:p>
            <a:pPr marL="457200" lvl="1" indent="0">
              <a:buFontTx/>
              <a:buNone/>
              <a:defRPr/>
            </a:pPr>
            <a:r>
              <a:rPr lang="en-US" sz="2400" dirty="0"/>
              <a:t>5- Excellent</a:t>
            </a:r>
          </a:p>
          <a:p>
            <a:pPr marL="457200" lvl="1" indent="0">
              <a:buFontTx/>
              <a:buNone/>
              <a:defRPr/>
            </a:pPr>
            <a:r>
              <a:rPr lang="en-US" sz="2400" dirty="0"/>
              <a:t>4- Very good</a:t>
            </a:r>
          </a:p>
          <a:p>
            <a:pPr marL="457200" lvl="1" indent="0">
              <a:buFontTx/>
              <a:buNone/>
              <a:defRPr/>
            </a:pPr>
            <a:r>
              <a:rPr lang="en-US" sz="2400" dirty="0"/>
              <a:t>3- Good</a:t>
            </a:r>
          </a:p>
          <a:p>
            <a:pPr marL="457200" lvl="1" indent="0">
              <a:buFontTx/>
              <a:buNone/>
              <a:defRPr/>
            </a:pPr>
            <a:r>
              <a:rPr lang="en-US" sz="2400" dirty="0"/>
              <a:t>2- Fair</a:t>
            </a:r>
          </a:p>
          <a:p>
            <a:pPr marL="457200" lvl="1" indent="0">
              <a:buFontTx/>
              <a:buNone/>
              <a:defRPr/>
            </a:pPr>
            <a:r>
              <a:rPr lang="pt-PT" sz="2400" dirty="0"/>
              <a:t>1</a:t>
            </a:r>
            <a:r>
              <a:rPr lang="en-US" sz="2400" dirty="0"/>
              <a:t>- Poor</a:t>
            </a:r>
          </a:p>
        </p:txBody>
      </p:sp>
      <p:sp>
        <p:nvSpPr>
          <p:cNvPr id="78851" name="Slide Number Placeholder 3">
            <a:extLst>
              <a:ext uri="{FF2B5EF4-FFF2-40B4-BE49-F238E27FC236}">
                <a16:creationId xmlns:a16="http://schemas.microsoft.com/office/drawing/2014/main" id="{CA94D246-8408-4855-86EC-6094948B6D5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408C56F-7A58-4F8E-BF35-D9D97F1E593A}" type="slidenum">
              <a:rPr lang="en-GB" altLang="en-US" sz="1400" smtClean="0"/>
              <a:pPr>
                <a:spcBef>
                  <a:spcPct val="0"/>
                </a:spcBef>
                <a:buFontTx/>
                <a:buNone/>
              </a:pPr>
              <a:t>63</a:t>
            </a:fld>
            <a:endParaRPr lang="en-GB" altLang="en-US" sz="1400"/>
          </a:p>
        </p:txBody>
      </p:sp>
      <p:sp>
        <p:nvSpPr>
          <p:cNvPr id="5" name="Title 1">
            <a:extLst>
              <a:ext uri="{FF2B5EF4-FFF2-40B4-BE49-F238E27FC236}">
                <a16:creationId xmlns:a16="http://schemas.microsoft.com/office/drawing/2014/main" id="{F92E73A8-CE15-44E5-A77A-C9F978C0A814}"/>
              </a:ext>
            </a:extLst>
          </p:cNvPr>
          <p:cNvSpPr txBox="1">
            <a:spLocks/>
          </p:cNvSpPr>
          <p:nvPr/>
        </p:nvSpPr>
        <p:spPr bwMode="auto">
          <a:xfrm>
            <a:off x="457200" y="26035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defRPr/>
            </a:pPr>
            <a:r>
              <a:rPr lang="en-US" sz="2800" b="0" kern="0" dirty="0"/>
              <a:t>Paper presentation evaluation and voting</a:t>
            </a:r>
          </a:p>
        </p:txBody>
      </p:sp>
      <p:pic>
        <p:nvPicPr>
          <p:cNvPr id="78853" name="Picture 5">
            <a:extLst>
              <a:ext uri="{FF2B5EF4-FFF2-40B4-BE49-F238E27FC236}">
                <a16:creationId xmlns:a16="http://schemas.microsoft.com/office/drawing/2014/main" id="{63779D7E-0A61-445F-9F5A-5712D563B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88" y="4778375"/>
            <a:ext cx="320357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Picture 6">
            <a:extLst>
              <a:ext uri="{FF2B5EF4-FFF2-40B4-BE49-F238E27FC236}">
                <a16:creationId xmlns:a16="http://schemas.microsoft.com/office/drawing/2014/main" id="{63941A56-5F2E-401E-A369-CD8EEE535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0075" y="2543175"/>
            <a:ext cx="42862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0898" name="Content Placeholder 2">
            <a:extLst>
              <a:ext uri="{FF2B5EF4-FFF2-40B4-BE49-F238E27FC236}">
                <a16:creationId xmlns:a16="http://schemas.microsoft.com/office/drawing/2014/main" id="{29480321-F1D5-41E3-80B3-D1AE5FDD0223}"/>
              </a:ext>
            </a:extLst>
          </p:cNvPr>
          <p:cNvSpPr>
            <a:spLocks noGrp="1" noChangeArrowheads="1"/>
          </p:cNvSpPr>
          <p:nvPr>
            <p:ph idx="1"/>
          </p:nvPr>
        </p:nvSpPr>
        <p:spPr/>
        <p:txBody>
          <a:bodyPr/>
          <a:lstStyle/>
          <a:p>
            <a:r>
              <a:rPr lang="en-US" altLang="en-US" sz="2400"/>
              <a:t>Presenters, please submit the slides via Moodle:</a:t>
            </a:r>
          </a:p>
        </p:txBody>
      </p:sp>
      <p:sp>
        <p:nvSpPr>
          <p:cNvPr id="80899" name="Slide Number Placeholder 3">
            <a:extLst>
              <a:ext uri="{FF2B5EF4-FFF2-40B4-BE49-F238E27FC236}">
                <a16:creationId xmlns:a16="http://schemas.microsoft.com/office/drawing/2014/main" id="{8A14E14A-587F-481A-9588-A2D471F114B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BD4E82A-E2FD-45D8-A883-518127F2B1C9}" type="slidenum">
              <a:rPr lang="en-GB" altLang="en-US" sz="1400" smtClean="0"/>
              <a:pPr>
                <a:spcBef>
                  <a:spcPct val="0"/>
                </a:spcBef>
                <a:buFontTx/>
                <a:buNone/>
              </a:pPr>
              <a:t>64</a:t>
            </a:fld>
            <a:endParaRPr lang="en-GB" altLang="en-US" sz="1400"/>
          </a:p>
        </p:txBody>
      </p:sp>
      <p:pic>
        <p:nvPicPr>
          <p:cNvPr id="80900" name="Picture 4">
            <a:extLst>
              <a:ext uri="{FF2B5EF4-FFF2-40B4-BE49-F238E27FC236}">
                <a16:creationId xmlns:a16="http://schemas.microsoft.com/office/drawing/2014/main" id="{81A22FF6-EC7D-41BB-83A6-5A3BC3C40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428875"/>
            <a:ext cx="840105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Marcador de Posição do Número do Diapositivo 3">
            <a:extLst>
              <a:ext uri="{FF2B5EF4-FFF2-40B4-BE49-F238E27FC236}">
                <a16:creationId xmlns:a16="http://schemas.microsoft.com/office/drawing/2014/main" id="{7A81F211-5D4A-44F3-B47E-15A3107F8330}"/>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22B6B93-F114-4AEE-9A78-933DF7C2EE18}" type="slidenum">
              <a:rPr lang="en-GB" altLang="en-US" sz="1400" smtClean="0"/>
              <a:pPr>
                <a:spcBef>
                  <a:spcPct val="0"/>
                </a:spcBef>
                <a:buFontTx/>
                <a:buNone/>
              </a:pPr>
              <a:t>65</a:t>
            </a:fld>
            <a:endParaRPr lang="en-GB" altLang="en-US" sz="1400"/>
          </a:p>
        </p:txBody>
      </p:sp>
      <p:sp>
        <p:nvSpPr>
          <p:cNvPr id="5123" name="Marcador de Posição de Conteúdo 5">
            <a:extLst>
              <a:ext uri="{FF2B5EF4-FFF2-40B4-BE49-F238E27FC236}">
                <a16:creationId xmlns:a16="http://schemas.microsoft.com/office/drawing/2014/main" id="{6E703793-517A-4FE9-BC4C-C05DC2AE84D1}"/>
              </a:ext>
            </a:extLst>
          </p:cNvPr>
          <p:cNvSpPr>
            <a:spLocks noGrp="1" noChangeArrowheads="1"/>
          </p:cNvSpPr>
          <p:nvPr>
            <p:ph idx="1"/>
          </p:nvPr>
        </p:nvSpPr>
        <p:spPr>
          <a:xfrm>
            <a:off x="539750" y="1052513"/>
            <a:ext cx="8229600" cy="4525962"/>
          </a:xfrm>
        </p:spPr>
        <p:txBody>
          <a:bodyPr/>
          <a:lstStyle/>
          <a:p>
            <a:pPr marL="0" indent="0">
              <a:buFontTx/>
              <a:buNone/>
            </a:pPr>
            <a:r>
              <a:rPr lang="en-US" altLang="pt-PT" sz="2400"/>
              <a:t>Have you selected the paper?</a:t>
            </a:r>
          </a:p>
          <a:p>
            <a:pPr marL="0" indent="0">
              <a:buFontTx/>
              <a:buNone/>
            </a:pPr>
            <a:endParaRPr lang="pt-PT" altLang="pt-PT" sz="2400"/>
          </a:p>
          <a:p>
            <a:pPr marL="0" indent="0">
              <a:buFontTx/>
              <a:buNone/>
            </a:pPr>
            <a:r>
              <a:rPr lang="pt-PT" altLang="pt-PT" sz="2400"/>
              <a:t>A</a:t>
            </a:r>
            <a:r>
              <a:rPr lang="en-US" altLang="pt-PT" sz="2400"/>
              <a:t> suggestion:</a:t>
            </a:r>
          </a:p>
          <a:p>
            <a:pPr marL="0" indent="0">
              <a:buFontTx/>
              <a:buNone/>
            </a:pPr>
            <a:endParaRPr lang="pt-PT" altLang="pt-PT" sz="2400"/>
          </a:p>
        </p:txBody>
      </p:sp>
      <p:pic>
        <p:nvPicPr>
          <p:cNvPr id="5124" name="Picture 1">
            <a:extLst>
              <a:ext uri="{FF2B5EF4-FFF2-40B4-BE49-F238E27FC236}">
                <a16:creationId xmlns:a16="http://schemas.microsoft.com/office/drawing/2014/main" id="{E29C6A42-C0E6-4B13-9240-04CA2680C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599" r="33463" b="9402"/>
          <a:stretch>
            <a:fillRect/>
          </a:stretch>
        </p:blipFill>
        <p:spPr bwMode="auto">
          <a:xfrm>
            <a:off x="2843213" y="2505075"/>
            <a:ext cx="6084887"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2">
            <a:extLst>
              <a:ext uri="{FF2B5EF4-FFF2-40B4-BE49-F238E27FC236}">
                <a16:creationId xmlns:a16="http://schemas.microsoft.com/office/drawing/2014/main" id="{C88CF7E7-D639-49E7-883F-B1F53F284B3E}"/>
              </a:ext>
            </a:extLst>
          </p:cNvPr>
          <p:cNvSpPr>
            <a:spLocks noChangeArrowheads="1"/>
          </p:cNvSpPr>
          <p:nvPr/>
        </p:nvSpPr>
        <p:spPr bwMode="auto">
          <a:xfrm>
            <a:off x="457200" y="6140450"/>
            <a:ext cx="59039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0">
                <a:hlinkClick r:id="rId3"/>
              </a:rPr>
              <a:t>https://ieeexplore.ieee.org/document/9915009</a:t>
            </a:r>
            <a:endParaRPr lang="en-US" altLang="en-US" sz="1800" b="0"/>
          </a:p>
          <a:p>
            <a:pPr>
              <a:spcBef>
                <a:spcPct val="0"/>
              </a:spcBef>
              <a:buFontTx/>
              <a:buNone/>
            </a:pPr>
            <a:endParaRPr lang="en-US" altLang="en-US" sz="1800" b="0"/>
          </a:p>
        </p:txBody>
      </p:sp>
    </p:spTree>
    <p:extLst>
      <p:ext uri="{BB962C8B-B14F-4D97-AF65-F5344CB8AC3E}">
        <p14:creationId xmlns:p14="http://schemas.microsoft.com/office/powerpoint/2010/main" val="1936532051"/>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F5354F3-FBDA-41D4-B4A4-DF1E7DB15886}"/>
              </a:ext>
            </a:extLst>
          </p:cNvPr>
          <p:cNvSpPr>
            <a:spLocks noGrp="1" noChangeArrowheads="1"/>
          </p:cNvSpPr>
          <p:nvPr>
            <p:ph type="body" idx="1"/>
          </p:nvPr>
        </p:nvSpPr>
        <p:spPr>
          <a:xfrm>
            <a:off x="-230188" y="103188"/>
            <a:ext cx="7897813" cy="2905125"/>
          </a:xfrm>
        </p:spPr>
        <p:txBody>
          <a:bodyPr/>
          <a:lstStyle/>
          <a:p>
            <a:pPr eaLnBrk="1" hangingPunct="1">
              <a:lnSpc>
                <a:spcPct val="80000"/>
              </a:lnSpc>
            </a:pPr>
            <a:endParaRPr lang="en-US" altLang="pt-PT" sz="1000"/>
          </a:p>
          <a:p>
            <a:pPr eaLnBrk="1" hangingPunct="1">
              <a:lnSpc>
                <a:spcPct val="80000"/>
              </a:lnSpc>
              <a:buFontTx/>
              <a:buNone/>
            </a:pPr>
            <a:r>
              <a:rPr lang="en-US" altLang="pt-PT" sz="2400"/>
              <a:t>    Selecting a paper:</a:t>
            </a:r>
          </a:p>
          <a:p>
            <a:pPr eaLnBrk="1" hangingPunct="1">
              <a:lnSpc>
                <a:spcPct val="80000"/>
              </a:lnSpc>
              <a:buFontTx/>
              <a:buNone/>
            </a:pPr>
            <a:endParaRPr lang="en-US" altLang="pt-PT" sz="2400"/>
          </a:p>
          <a:p>
            <a:pPr eaLnBrk="1" hangingPunct="1">
              <a:buFontTx/>
              <a:buNone/>
            </a:pPr>
            <a:r>
              <a:rPr lang="en-US" altLang="pt-PT" sz="2400"/>
              <a:t>	</a:t>
            </a:r>
          </a:p>
          <a:p>
            <a:pPr eaLnBrk="1" hangingPunct="1">
              <a:buFontTx/>
              <a:buNone/>
            </a:pPr>
            <a:endParaRPr lang="en-US" altLang="pt-PT" sz="2400">
              <a:hlinkClick r:id="rId3"/>
            </a:endParaRPr>
          </a:p>
          <a:p>
            <a:pPr eaLnBrk="1" hangingPunct="1">
              <a:buFontTx/>
              <a:buNone/>
            </a:pPr>
            <a:endParaRPr lang="en-US" altLang="pt-PT" sz="2400">
              <a:hlinkClick r:id="rId3"/>
            </a:endParaRPr>
          </a:p>
          <a:p>
            <a:pPr eaLnBrk="1" hangingPunct="1">
              <a:buFontTx/>
              <a:buNone/>
            </a:pPr>
            <a:endParaRPr lang="en-US" altLang="pt-PT" sz="2000"/>
          </a:p>
          <a:p>
            <a:pPr eaLnBrk="1" hangingPunct="1">
              <a:buFontTx/>
              <a:buNone/>
            </a:pPr>
            <a:r>
              <a:rPr lang="en-US" altLang="pt-PT" sz="2000"/>
              <a:t>  </a:t>
            </a:r>
            <a:endParaRPr lang="en-US" altLang="pt-PT" sz="1200"/>
          </a:p>
        </p:txBody>
      </p:sp>
      <p:sp>
        <p:nvSpPr>
          <p:cNvPr id="6147" name="Rectangle 2">
            <a:extLst>
              <a:ext uri="{FF2B5EF4-FFF2-40B4-BE49-F238E27FC236}">
                <a16:creationId xmlns:a16="http://schemas.microsoft.com/office/drawing/2014/main" id="{4A8E4B5B-9252-49DD-AFE5-48AFD9914505}"/>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pt-PT" altLang="pt-PT" sz="1800"/>
          </a:p>
        </p:txBody>
      </p:sp>
      <p:sp>
        <p:nvSpPr>
          <p:cNvPr id="6148" name="Marcador de Posição do Número do Diapositivo 2">
            <a:extLst>
              <a:ext uri="{FF2B5EF4-FFF2-40B4-BE49-F238E27FC236}">
                <a16:creationId xmlns:a16="http://schemas.microsoft.com/office/drawing/2014/main" id="{AD904F32-85BF-4503-96D9-BE9975F1A1C0}"/>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F38EDC-BA4F-41B5-AB85-EB8918D7D262}" type="slidenum">
              <a:rPr lang="en-GB" altLang="en-US" sz="1400" smtClean="0"/>
              <a:pPr>
                <a:spcBef>
                  <a:spcPct val="0"/>
                </a:spcBef>
                <a:buFontTx/>
                <a:buNone/>
              </a:pPr>
              <a:t>66</a:t>
            </a:fld>
            <a:endParaRPr lang="en-GB" altLang="en-US" sz="1400"/>
          </a:p>
        </p:txBody>
      </p:sp>
      <p:pic>
        <p:nvPicPr>
          <p:cNvPr id="6149" name="Picture 5">
            <a:extLst>
              <a:ext uri="{FF2B5EF4-FFF2-40B4-BE49-F238E27FC236}">
                <a16:creationId xmlns:a16="http://schemas.microsoft.com/office/drawing/2014/main" id="{530BC8A1-554C-4D5C-8A61-9E9929AB98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69888"/>
            <a:ext cx="60198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Rectangle 6">
            <a:extLst>
              <a:ext uri="{FF2B5EF4-FFF2-40B4-BE49-F238E27FC236}">
                <a16:creationId xmlns:a16="http://schemas.microsoft.com/office/drawing/2014/main" id="{20A11A13-68D6-46C8-B630-9AB19748595A}"/>
              </a:ext>
            </a:extLst>
          </p:cNvPr>
          <p:cNvSpPr>
            <a:spLocks noChangeArrowheads="1"/>
          </p:cNvSpPr>
          <p:nvPr/>
        </p:nvSpPr>
        <p:spPr bwMode="auto">
          <a:xfrm>
            <a:off x="3235325" y="2276475"/>
            <a:ext cx="5341938"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1800">
                <a:hlinkClick r:id="rId3"/>
              </a:rPr>
              <a:t>https://www.mum-conf.org/2022/schedule/#s2</a:t>
            </a:r>
            <a:endParaRPr lang="en-US" altLang="pt-PT" sz="1800"/>
          </a:p>
          <a:p>
            <a:pPr eaLnBrk="1" hangingPunct="1">
              <a:spcBef>
                <a:spcPct val="0"/>
              </a:spcBef>
              <a:buFontTx/>
              <a:buNone/>
            </a:pPr>
            <a:endParaRPr lang="pt-PT" altLang="pt-PT" sz="1800"/>
          </a:p>
          <a:p>
            <a:pPr eaLnBrk="1" hangingPunct="1">
              <a:spcBef>
                <a:spcPct val="0"/>
              </a:spcBef>
              <a:buFontTx/>
              <a:buNone/>
            </a:pPr>
            <a:endParaRPr lang="pt-PT" altLang="pt-PT" sz="1800"/>
          </a:p>
          <a:p>
            <a:pPr eaLnBrk="1" hangingPunct="1">
              <a:spcBef>
                <a:spcPct val="0"/>
              </a:spcBef>
              <a:buFontTx/>
              <a:buNone/>
            </a:pPr>
            <a:r>
              <a:rPr lang="pt-PT" altLang="pt-PT" sz="2000"/>
              <a:t>(</a:t>
            </a:r>
            <a:r>
              <a:rPr lang="en-US" altLang="pt-PT" sz="1800"/>
              <a:t>long</a:t>
            </a:r>
            <a:r>
              <a:rPr lang="pt-PT" altLang="pt-PT" sz="1800"/>
              <a:t> </a:t>
            </a:r>
            <a:r>
              <a:rPr lang="en-US" altLang="pt-PT" sz="1800"/>
              <a:t>papers available in Moodle)</a:t>
            </a:r>
            <a:endParaRPr lang="en-US" altLang="pt-PT" sz="2000"/>
          </a:p>
        </p:txBody>
      </p:sp>
      <p:pic>
        <p:nvPicPr>
          <p:cNvPr id="6151" name="Picture 7">
            <a:extLst>
              <a:ext uri="{FF2B5EF4-FFF2-40B4-BE49-F238E27FC236}">
                <a16:creationId xmlns:a16="http://schemas.microsoft.com/office/drawing/2014/main" id="{AAFE70AA-2356-497A-B32E-52CFDD0104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3686175"/>
            <a:ext cx="4860925"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Picture 8">
            <a:extLst>
              <a:ext uri="{FF2B5EF4-FFF2-40B4-BE49-F238E27FC236}">
                <a16:creationId xmlns:a16="http://schemas.microsoft.com/office/drawing/2014/main" id="{A56A8AD0-772C-4405-A2CE-BF334CE037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6575" y="2908300"/>
            <a:ext cx="1800225"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 name="Rectangle 10">
            <a:extLst>
              <a:ext uri="{FF2B5EF4-FFF2-40B4-BE49-F238E27FC236}">
                <a16:creationId xmlns:a16="http://schemas.microsoft.com/office/drawing/2014/main" id="{D197B189-208D-4A32-AC85-BBA4A51E35AC}"/>
              </a:ext>
            </a:extLst>
          </p:cNvPr>
          <p:cNvSpPr>
            <a:spLocks noChangeArrowheads="1"/>
          </p:cNvSpPr>
          <p:nvPr/>
        </p:nvSpPr>
        <p:spPr bwMode="auto">
          <a:xfrm>
            <a:off x="250825" y="4710113"/>
            <a:ext cx="357028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hlinkClick r:id="rId7"/>
              </a:rPr>
              <a:t>https://sui.acm.org/2022/</a:t>
            </a:r>
            <a:endParaRPr lang="en-US" altLang="en-US" sz="1800"/>
          </a:p>
          <a:p>
            <a:pPr eaLnBrk="1" hangingPunct="1">
              <a:spcBef>
                <a:spcPct val="0"/>
              </a:spcBef>
              <a:buFontTx/>
              <a:buNone/>
            </a:pPr>
            <a:endParaRPr lang="pt-PT" altLang="en-US" sz="1800"/>
          </a:p>
          <a:p>
            <a:pPr eaLnBrk="1" hangingPunct="1">
              <a:spcBef>
                <a:spcPct val="0"/>
              </a:spcBef>
              <a:buFontTx/>
              <a:buNone/>
            </a:pPr>
            <a:r>
              <a:rPr lang="pt-PT" altLang="en-US" sz="1800"/>
              <a:t>P</a:t>
            </a:r>
            <a:r>
              <a:rPr lang="en-US" altLang="en-US" sz="1800"/>
              <a:t>apers available from:</a:t>
            </a:r>
          </a:p>
          <a:p>
            <a:pPr eaLnBrk="1" hangingPunct="1">
              <a:spcBef>
                <a:spcPct val="0"/>
              </a:spcBef>
              <a:buFontTx/>
              <a:buNone/>
            </a:pPr>
            <a:r>
              <a:rPr lang="en-US" altLang="en-US" sz="1800">
                <a:hlinkClick r:id="rId8"/>
              </a:rPr>
              <a:t>https://sui.acm.org/2022/program</a:t>
            </a:r>
            <a:endParaRPr lang="en-US" altLang="en-US" sz="1800"/>
          </a:p>
          <a:p>
            <a:pPr eaLnBrk="1" hangingPunct="1">
              <a:spcBef>
                <a:spcPct val="0"/>
              </a:spcBef>
              <a:buFontTx/>
              <a:buNone/>
            </a:pPr>
            <a:endParaRPr lang="pt-PT" altLang="en-US" sz="1800"/>
          </a:p>
          <a:p>
            <a:pPr eaLnBrk="1" hangingPunct="1">
              <a:spcBef>
                <a:spcPct val="0"/>
              </a:spcBef>
              <a:buFontTx/>
              <a:buNone/>
            </a:pPr>
            <a:endParaRPr lang="en-US" altLang="en-US" sz="1800"/>
          </a:p>
          <a:p>
            <a:pPr eaLnBrk="1" hangingPunct="1">
              <a:spcBef>
                <a:spcPct val="0"/>
              </a:spcBef>
              <a:buFontTx/>
              <a:buNone/>
            </a:pPr>
            <a:endParaRPr lang="en-US" altLang="en-US" sz="1800"/>
          </a:p>
        </p:txBody>
      </p:sp>
      <p:sp>
        <p:nvSpPr>
          <p:cNvPr id="6154" name="Rectangle 11">
            <a:extLst>
              <a:ext uri="{FF2B5EF4-FFF2-40B4-BE49-F238E27FC236}">
                <a16:creationId xmlns:a16="http://schemas.microsoft.com/office/drawing/2014/main" id="{3B6B9E32-C7EC-44BC-93EA-4AED7B7BFD94}"/>
              </a:ext>
            </a:extLst>
          </p:cNvPr>
          <p:cNvSpPr>
            <a:spLocks noChangeArrowheads="1"/>
          </p:cNvSpPr>
          <p:nvPr/>
        </p:nvSpPr>
        <p:spPr bwMode="auto">
          <a:xfrm>
            <a:off x="222250" y="1214438"/>
            <a:ext cx="29813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pt-PT" sz="2000"/>
              <a:t>Or from one of these smaller conferences</a:t>
            </a:r>
            <a:endParaRPr lang="en-US" altLang="en-US" sz="2000"/>
          </a:p>
        </p:txBody>
      </p:sp>
      <p:pic>
        <p:nvPicPr>
          <p:cNvPr id="6155" name="Picture 10">
            <a:extLst>
              <a:ext uri="{FF2B5EF4-FFF2-40B4-BE49-F238E27FC236}">
                <a16:creationId xmlns:a16="http://schemas.microsoft.com/office/drawing/2014/main" id="{000FA799-2BF9-4E8C-84AE-E784D0EE78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52196" r="48148" b="33562"/>
          <a:stretch>
            <a:fillRect/>
          </a:stretch>
        </p:blipFill>
        <p:spPr bwMode="auto">
          <a:xfrm>
            <a:off x="3236913" y="2582863"/>
            <a:ext cx="21336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5363928"/>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22" name="Marcador de Posição do Número do Diapositivo 3">
            <a:extLst>
              <a:ext uri="{FF2B5EF4-FFF2-40B4-BE49-F238E27FC236}">
                <a16:creationId xmlns:a16="http://schemas.microsoft.com/office/drawing/2014/main" id="{50C8B4DF-2302-489B-95A5-98C37E5F52D9}"/>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3760E32-4D4B-4F6E-8FB4-BBDAA957FEFA}" type="slidenum">
              <a:rPr lang="en-GB" altLang="en-US" sz="1400" smtClean="0"/>
              <a:pPr>
                <a:spcBef>
                  <a:spcPct val="0"/>
                </a:spcBef>
                <a:buFontTx/>
                <a:buNone/>
              </a:pPr>
              <a:t>67</a:t>
            </a:fld>
            <a:endParaRPr lang="en-GB" altLang="en-US" sz="1400"/>
          </a:p>
        </p:txBody>
      </p:sp>
      <p:pic>
        <p:nvPicPr>
          <p:cNvPr id="81923" name="Picture 2">
            <a:extLst>
              <a:ext uri="{FF2B5EF4-FFF2-40B4-BE49-F238E27FC236}">
                <a16:creationId xmlns:a16="http://schemas.microsoft.com/office/drawing/2014/main" id="{EAD5CCCC-F4AD-4104-A2DD-AD1F57AA1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8" y="1552575"/>
            <a:ext cx="3971925" cy="375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theme/theme1.xml><?xml version="1.0" encoding="utf-8"?>
<a:theme xmlns:a="http://schemas.openxmlformats.org/drawingml/2006/main" name="Modelo de apresentação predefinido">
  <a:themeElements>
    <a:clrScheme name="Modelo de apresentação predefini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elo de apresentação predefini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1" i="0" u="none" strike="noStrike" cap="none" normalizeH="0" baseline="0" smtClean="0">
            <a:ln>
              <a:noFill/>
            </a:ln>
            <a:solidFill>
              <a:schemeClr val="tx1"/>
            </a:solidFill>
            <a:effectLst/>
            <a:latin typeface="Arial" charset="0"/>
          </a:defRPr>
        </a:defPPr>
      </a:lstStyle>
    </a:lnDef>
  </a:objectDefaults>
  <a:extraClrSchemeLst>
    <a:extraClrScheme>
      <a:clrScheme name="Modelo de apresentação predefini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elo de apresentação predefini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elo de apresentação predefini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elo de apresentação predefini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elo de apresentação predefini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elo de apresentação predefini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elo de apresentação predefini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elo de apresentação predefini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elo de apresentação predefini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elo de apresentação predefini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elo de apresentação predefini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elo de apresentação predefini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d1301d2-a588-4738-8532-d163c2a499a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8277BE806F8644AAC332864490B5556" ma:contentTypeVersion="19" ma:contentTypeDescription="Create a new document." ma:contentTypeScope="" ma:versionID="639c86c16b871be05325956976490440">
  <xsd:schema xmlns:xsd="http://www.w3.org/2001/XMLSchema" xmlns:xs="http://www.w3.org/2001/XMLSchema" xmlns:p="http://schemas.microsoft.com/office/2006/metadata/properties" xmlns:ns3="dd1301d2-a588-4738-8532-d163c2a499a8" xmlns:ns4="faf4ab63-fcbf-4ed6-89b2-7643d1acc9b8" targetNamespace="http://schemas.microsoft.com/office/2006/metadata/properties" ma:root="true" ma:fieldsID="d4a3550747c68610821453d75a004a94" ns3:_="" ns4:_="">
    <xsd:import namespace="dd1301d2-a588-4738-8532-d163c2a499a8"/>
    <xsd:import namespace="faf4ab63-fcbf-4ed6-89b2-7643d1acc9b8"/>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1301d2-a588-4738-8532-d163c2a499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f4ab63-fcbf-4ed6-89b2-7643d1acc9b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65AAC1-1D94-41F2-A3BF-2879B352008B}">
  <ds:schemaRefs>
    <ds:schemaRef ds:uri="http://schemas.microsoft.com/sharepoint/v3/contenttype/forms"/>
  </ds:schemaRefs>
</ds:datastoreItem>
</file>

<file path=customXml/itemProps2.xml><?xml version="1.0" encoding="utf-8"?>
<ds:datastoreItem xmlns:ds="http://schemas.openxmlformats.org/officeDocument/2006/customXml" ds:itemID="{9B654985-FD66-473F-9859-AC20AE7E26CF}">
  <ds:schemaRefs>
    <ds:schemaRef ds:uri="faf4ab63-fcbf-4ed6-89b2-7643d1acc9b8"/>
    <ds:schemaRef ds:uri="http://schemas.microsoft.com/office/2006/documentManagement/types"/>
    <ds:schemaRef ds:uri="http://schemas.microsoft.com/office/2006/metadata/properties"/>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dd1301d2-a588-4738-8532-d163c2a499a8"/>
    <ds:schemaRef ds:uri="http://purl.org/dc/terms/"/>
  </ds:schemaRefs>
</ds:datastoreItem>
</file>

<file path=customXml/itemProps3.xml><?xml version="1.0" encoding="utf-8"?>
<ds:datastoreItem xmlns:ds="http://schemas.openxmlformats.org/officeDocument/2006/customXml" ds:itemID="{0B0F0798-EF40-4E3F-9667-5AF6AADB88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1301d2-a588-4738-8532-d163c2a499a8"/>
    <ds:schemaRef ds:uri="faf4ab63-fcbf-4ed6-89b2-7643d1acc9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12348</TotalTime>
  <Words>5195</Words>
  <Application>Microsoft Office PowerPoint</Application>
  <PresentationFormat>On-screen Show (4:3)</PresentationFormat>
  <Paragraphs>748</Paragraphs>
  <Slides>67</Slides>
  <Notes>23</Notes>
  <HiddenSlides>14</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76" baseType="lpstr">
      <vt:lpstr>Arial</vt:lpstr>
      <vt:lpstr>Calibri</vt:lpstr>
      <vt:lpstr>CharisSIL</vt:lpstr>
      <vt:lpstr>Liberation Sans</vt:lpstr>
      <vt:lpstr>Montserrat</vt:lpstr>
      <vt:lpstr>q_serif</vt:lpstr>
      <vt:lpstr>Times New Roman</vt:lpstr>
      <vt:lpstr>Modelo de apresentação predefinido</vt:lpstr>
      <vt:lpstr>Imagem de mapa de bits</vt:lpstr>
      <vt:lpstr>The User Human Information Processing Systems and  User Profile   </vt:lpstr>
      <vt:lpstr>Interactive systems are meant to be used by people: the users and must be designed considering their characteristics </vt:lpstr>
      <vt:lpstr>Outline</vt:lpstr>
      <vt:lpstr>PowerPoint Presentation</vt:lpstr>
      <vt:lpstr>User profile</vt:lpstr>
      <vt:lpstr>PowerPoint Presentation</vt:lpstr>
      <vt:lpstr>What we see does not depend only of the stimuli!</vt:lpstr>
      <vt:lpstr>What we see does not depend only of the stimuli!</vt:lpstr>
      <vt:lpstr>Human Information Processing System (HIPS)</vt:lpstr>
      <vt:lpstr>Human Information Processing System (HIPS): main aspects relevant to interactive systems design </vt:lpstr>
      <vt:lpstr>Perceptual sub-system – I/O</vt:lpstr>
      <vt:lpstr>Why vision is preferred</vt:lpstr>
      <vt:lpstr>Vision</vt:lpstr>
      <vt:lpstr> </vt:lpstr>
      <vt:lpstr>PowerPoint Presentation</vt:lpstr>
      <vt:lpstr>Colour blindness affects a significant percentage of users</vt:lpstr>
      <vt:lpstr>Color blindness  Ishihara test for red-green blindness  (daltonism or deuteranopia)</vt:lpstr>
      <vt:lpstr>Pattern Recognition </vt:lpstr>
      <vt:lpstr>Visual Illusions illustrate that what we see does not depend only of the stimulus </vt:lpstr>
      <vt:lpstr>Visual Illusions illustrate that what we see does not depend only of the stimulus </vt:lpstr>
      <vt:lpstr>PowerPoint Presentation</vt:lpstr>
      <vt:lpstr>PowerPoint Presentation</vt:lpstr>
      <vt:lpstr>PowerPoint Presentation</vt:lpstr>
      <vt:lpstr>Other senses</vt:lpstr>
      <vt:lpstr>Other senses</vt:lpstr>
      <vt:lpstr>Simulators are complex interactive systems that stimulate several senses…</vt:lpstr>
      <vt:lpstr>Other senses</vt:lpstr>
      <vt:lpstr>PowerPoint Presentation</vt:lpstr>
      <vt:lpstr>Memory </vt:lpstr>
      <vt:lpstr>PowerPoint Presentation</vt:lpstr>
      <vt:lpstr> Memory</vt:lpstr>
      <vt:lpstr>Short Term Memory (STM) / Working memory</vt:lpstr>
      <vt:lpstr>Short Term Memory (STM) / Working memory</vt:lpstr>
      <vt:lpstr>Short Term/ working Memory (STM)</vt:lpstr>
      <vt:lpstr>PowerPoint Presentation</vt:lpstr>
      <vt:lpstr>Long Term Memory </vt:lpstr>
      <vt:lpstr>Long-term Memory - Recognition vs. Recall</vt:lpstr>
      <vt:lpstr>Design Implications</vt:lpstr>
      <vt:lpstr>PowerPoint Presentation</vt:lpstr>
      <vt:lpstr>Selective attention</vt:lpstr>
      <vt:lpstr>PowerPoint Presentation</vt:lpstr>
      <vt:lpstr>Design Implications </vt:lpstr>
      <vt:lpstr>Design Implications</vt:lpstr>
      <vt:lpstr>Design Implications</vt:lpstr>
      <vt:lpstr>Emotion</vt:lpstr>
      <vt:lpstr>PowerPoint Presentation</vt:lpstr>
      <vt:lpstr>PowerPoint Presentation</vt:lpstr>
      <vt:lpstr>PowerPoint Presentation</vt:lpstr>
      <vt:lpstr>Users have different abilities, contexts and motivations</vt:lpstr>
      <vt:lpstr>PowerPoint Presentation</vt:lpstr>
      <vt:lpstr>PowerPoint Presentation</vt:lpstr>
      <vt:lpstr>PowerPoint Presentation</vt:lpstr>
      <vt:lpstr>PowerPoint Presentation</vt:lpstr>
      <vt:lpstr>User Profile- other characteristics (besides HIPS)</vt:lpstr>
      <vt:lpstr>User Profile - overview</vt:lpstr>
      <vt:lpstr>How do these characteristics influence UI design?</vt:lpstr>
      <vt:lpstr>The take away:</vt:lpstr>
      <vt:lpstr>Main bibliography</vt:lpstr>
      <vt:lpstr>PowerPoint Presentation</vt:lpstr>
      <vt:lpstr>Signing in for Tutorial Sessions</vt:lpstr>
      <vt:lpstr>Paper Presentation Assessment</vt:lpstr>
      <vt:lpstr>Paper presentation evaluation and voting</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User</dc:title>
  <dc:creator>BI</dc:creator>
  <cp:lastModifiedBy>Beatriz Sousa Santos</cp:lastModifiedBy>
  <cp:revision>451</cp:revision>
  <cp:lastPrinted>2013-03-04T19:00:33Z</cp:lastPrinted>
  <dcterms:created xsi:type="dcterms:W3CDTF">2004-10-12T15:48:16Z</dcterms:created>
  <dcterms:modified xsi:type="dcterms:W3CDTF">2026-02-25T22:53:59Z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0x010100D8277BE806F8644AAC332864490B5556</vt:lpwstr>
  </property>
</Properties>
</file>